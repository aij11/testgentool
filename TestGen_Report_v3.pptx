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88952" cy="1554480"/>
          </a:xfrm>
          <a:prstGeom prst="rect">
            <a:avLst/>
          </a:prstGeom>
          <a:solidFill>
            <a:srgbClr val="303F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98480" cy="1371600"/>
          </a:xfrm>
          <a:prstGeom prst="rect">
            <a:avLst/>
          </a:prstGeom>
          <a:noFill/>
        </p:spPr>
        <p:txBody>
          <a:bodyPr wrap="square">
            <a:spAutoFit/>
          </a:bodyPr>
          <a:lstStyle/>
          <a:p>
            <a:pPr algn="ctr"/>
            <a:r>
              <a:rPr sz="3600" b="1" i="0">
                <a:solidFill>
                  <a:srgbClr val="FFFFFF"/>
                </a:solidFill>
              </a:rPr>
              <a:t>TestGen: Specification-Based Mutation Testing</a:t>
            </a:r>
          </a:p>
        </p:txBody>
      </p:sp>
      <p:sp>
        <p:nvSpPr>
          <p:cNvPr id="5" name="TextBox 4"/>
          <p:cNvSpPr txBox="1"/>
          <p:nvPr/>
        </p:nvSpPr>
        <p:spPr>
          <a:xfrm>
            <a:off x="731520" y="3383280"/>
            <a:ext cx="10698480" cy="548640"/>
          </a:xfrm>
          <a:prstGeom prst="rect">
            <a:avLst/>
          </a:prstGeom>
          <a:noFill/>
        </p:spPr>
        <p:txBody>
          <a:bodyPr wrap="square">
            <a:spAutoFit/>
          </a:bodyPr>
          <a:lstStyle/>
          <a:p>
            <a:pPr algn="ctr"/>
            <a:r>
              <a:rPr sz="1800" b="0" i="0">
                <a:solidFill>
                  <a:srgbClr val="42A5F5"/>
                </a:solidFill>
              </a:rPr>
              <a:t>Restaurant  ·  E-Commerce  ·  Library Web Applications</a:t>
            </a:r>
          </a:p>
        </p:txBody>
      </p:sp>
      <p:sp>
        <p:nvSpPr>
          <p:cNvPr id="6" name="TextBox 5"/>
          <p:cNvSpPr txBox="1"/>
          <p:nvPr/>
        </p:nvSpPr>
        <p:spPr>
          <a:xfrm>
            <a:off x="914400" y="5349240"/>
            <a:ext cx="10332720" cy="640080"/>
          </a:xfrm>
          <a:prstGeom prst="rect">
            <a:avLst/>
          </a:prstGeom>
          <a:noFill/>
        </p:spPr>
        <p:txBody>
          <a:bodyPr wrap="square">
            <a:spAutoFit/>
          </a:bodyPr>
          <a:lstStyle/>
          <a:p>
            <a:pPr algn="ctr"/>
            <a:r>
              <a:rPr sz="1300" b="0" i="0">
                <a:solidFill>
                  <a:srgbClr val="FFFFFF"/>
                </a:solidFill>
              </a:rPr>
              <a:t>Automated Bug Detection via Formal Specs, Symbolic Execution &amp; Z3 SMT Solving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Agenda</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43000"/>
            <a:ext cx="11247120" cy="530352"/>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70432"/>
            <a:ext cx="10972800" cy="475488"/>
          </a:xfrm>
          <a:prstGeom prst="rect">
            <a:avLst/>
          </a:prstGeom>
          <a:noFill/>
        </p:spPr>
        <p:txBody>
          <a:bodyPr wrap="square">
            <a:spAutoFit/>
          </a:bodyPr>
          <a:lstStyle/>
          <a:p>
            <a:pPr algn="l"/>
            <a:r>
              <a:rPr sz="1400" b="0" i="0">
                <a:solidFill>
                  <a:srgbClr val="1A237E"/>
                </a:solidFill>
              </a:rPr>
              <a:t>1.  TestGen Core Components</a:t>
            </a:r>
          </a:p>
        </p:txBody>
      </p:sp>
      <p:sp>
        <p:nvSpPr>
          <p:cNvPr id="7" name="Rectangle 6"/>
          <p:cNvSpPr/>
          <p:nvPr/>
        </p:nvSpPr>
        <p:spPr>
          <a:xfrm>
            <a:off x="457200" y="1764792"/>
            <a:ext cx="11247120" cy="530352"/>
          </a:xfrm>
          <a:prstGeom prst="rect">
            <a:avLst/>
          </a:prstGeom>
          <a:solidFill>
            <a:srgbClr val="FFFFFF"/>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92224"/>
            <a:ext cx="10972800" cy="475488"/>
          </a:xfrm>
          <a:prstGeom prst="rect">
            <a:avLst/>
          </a:prstGeom>
          <a:noFill/>
        </p:spPr>
        <p:txBody>
          <a:bodyPr wrap="square">
            <a:spAutoFit/>
          </a:bodyPr>
          <a:lstStyle/>
          <a:p>
            <a:pPr algn="l"/>
            <a:r>
              <a:rPr sz="1400" b="0" i="0">
                <a:solidFill>
                  <a:srgbClr val="1A237E"/>
                </a:solidFill>
              </a:rPr>
              <a:t>2.  ATC → CTC Pipeline</a:t>
            </a:r>
          </a:p>
        </p:txBody>
      </p:sp>
      <p:sp>
        <p:nvSpPr>
          <p:cNvPr id="9" name="Rectangle 8"/>
          <p:cNvSpPr/>
          <p:nvPr/>
        </p:nvSpPr>
        <p:spPr>
          <a:xfrm>
            <a:off x="457200" y="2386584"/>
            <a:ext cx="11247120" cy="530352"/>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14016"/>
            <a:ext cx="10972800" cy="475488"/>
          </a:xfrm>
          <a:prstGeom prst="rect">
            <a:avLst/>
          </a:prstGeom>
          <a:noFill/>
        </p:spPr>
        <p:txBody>
          <a:bodyPr wrap="square">
            <a:spAutoFit/>
          </a:bodyPr>
          <a:lstStyle/>
          <a:p>
            <a:pPr algn="l"/>
            <a:r>
              <a:rPr sz="1400" b="0" i="0">
                <a:solidFill>
                  <a:srgbClr val="1A237E"/>
                </a:solidFill>
              </a:rPr>
              <a:t>3.  Restaurant Backend — Results &amp; Bug Descriptions</a:t>
            </a:r>
          </a:p>
        </p:txBody>
      </p:sp>
      <p:sp>
        <p:nvSpPr>
          <p:cNvPr id="11" name="Rectangle 10"/>
          <p:cNvSpPr/>
          <p:nvPr/>
        </p:nvSpPr>
        <p:spPr>
          <a:xfrm>
            <a:off x="457200" y="3008376"/>
            <a:ext cx="11247120" cy="530352"/>
          </a:xfrm>
          <a:prstGeom prst="rect">
            <a:avLst/>
          </a:prstGeom>
          <a:solidFill>
            <a:srgbClr val="FFFFFF"/>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35808"/>
            <a:ext cx="10972800" cy="475488"/>
          </a:xfrm>
          <a:prstGeom prst="rect">
            <a:avLst/>
          </a:prstGeom>
          <a:noFill/>
        </p:spPr>
        <p:txBody>
          <a:bodyPr wrap="square">
            <a:spAutoFit/>
          </a:bodyPr>
          <a:lstStyle/>
          <a:p>
            <a:pPr algn="l"/>
            <a:r>
              <a:rPr sz="1400" b="0" i="0">
                <a:solidFill>
                  <a:srgbClr val="1A237E"/>
                </a:solidFill>
              </a:rPr>
              <a:t>4.  E-Commerce Backend — Results &amp; Bug Descriptions</a:t>
            </a:r>
          </a:p>
        </p:txBody>
      </p:sp>
      <p:sp>
        <p:nvSpPr>
          <p:cNvPr id="13" name="Rectangle 12"/>
          <p:cNvSpPr/>
          <p:nvPr/>
        </p:nvSpPr>
        <p:spPr>
          <a:xfrm>
            <a:off x="457200" y="3630168"/>
            <a:ext cx="11247120" cy="530352"/>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657600"/>
            <a:ext cx="10972800" cy="475488"/>
          </a:xfrm>
          <a:prstGeom prst="rect">
            <a:avLst/>
          </a:prstGeom>
          <a:noFill/>
        </p:spPr>
        <p:txBody>
          <a:bodyPr wrap="square">
            <a:spAutoFit/>
          </a:bodyPr>
          <a:lstStyle/>
          <a:p>
            <a:pPr algn="l"/>
            <a:r>
              <a:rPr sz="1400" b="0" i="0">
                <a:solidFill>
                  <a:srgbClr val="1A237E"/>
                </a:solidFill>
              </a:rPr>
              <a:t>5.  Library Backend — Results &amp; Bug Descriptions</a:t>
            </a:r>
          </a:p>
        </p:txBody>
      </p:sp>
      <p:sp>
        <p:nvSpPr>
          <p:cNvPr id="15" name="Rectangle 14"/>
          <p:cNvSpPr/>
          <p:nvPr/>
        </p:nvSpPr>
        <p:spPr>
          <a:xfrm>
            <a:off x="457200" y="4251960"/>
            <a:ext cx="11247120" cy="530352"/>
          </a:xfrm>
          <a:prstGeom prst="rect">
            <a:avLst/>
          </a:prstGeom>
          <a:solidFill>
            <a:srgbClr val="FFFFFF"/>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279392"/>
            <a:ext cx="10972800" cy="475488"/>
          </a:xfrm>
          <a:prstGeom prst="rect">
            <a:avLst/>
          </a:prstGeom>
          <a:noFill/>
        </p:spPr>
        <p:txBody>
          <a:bodyPr wrap="square">
            <a:spAutoFit/>
          </a:bodyPr>
          <a:lstStyle/>
          <a:p>
            <a:pPr algn="l"/>
            <a:r>
              <a:rPr sz="1400" b="0" i="0">
                <a:solidFill>
                  <a:srgbClr val="1A237E"/>
                </a:solidFill>
              </a:rPr>
              <a:t>6.  Bug Test File Walkthrough (2 examples)</a:t>
            </a:r>
          </a:p>
        </p:txBody>
      </p:sp>
      <p:sp>
        <p:nvSpPr>
          <p:cNvPr id="17" name="Rectangle 16"/>
          <p:cNvSpPr/>
          <p:nvPr/>
        </p:nvSpPr>
        <p:spPr>
          <a:xfrm>
            <a:off x="457200" y="4873752"/>
            <a:ext cx="11247120" cy="530352"/>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901184"/>
            <a:ext cx="10972800" cy="475488"/>
          </a:xfrm>
          <a:prstGeom prst="rect">
            <a:avLst/>
          </a:prstGeom>
          <a:noFill/>
        </p:spPr>
        <p:txBody>
          <a:bodyPr wrap="square">
            <a:spAutoFit/>
          </a:bodyPr>
          <a:lstStyle/>
          <a:p>
            <a:pPr algn="l"/>
            <a:r>
              <a:rPr sz="1400" b="0" i="0">
                <a:solidFill>
                  <a:srgbClr val="1A237E"/>
                </a:solidFill>
              </a:rPr>
              <a:t>7.  Comparative Results</a:t>
            </a:r>
          </a:p>
        </p:txBody>
      </p:sp>
      <p:sp>
        <p:nvSpPr>
          <p:cNvPr id="19" name="Rectangle 18"/>
          <p:cNvSpPr/>
          <p:nvPr/>
        </p:nvSpPr>
        <p:spPr>
          <a:xfrm>
            <a:off x="457200" y="5495544"/>
            <a:ext cx="11247120" cy="530352"/>
          </a:xfrm>
          <a:prstGeom prst="rect">
            <a:avLst/>
          </a:prstGeom>
          <a:solidFill>
            <a:srgbClr val="FFFFFF"/>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22976"/>
            <a:ext cx="10972800" cy="475488"/>
          </a:xfrm>
          <a:prstGeom prst="rect">
            <a:avLst/>
          </a:prstGeom>
          <a:noFill/>
        </p:spPr>
        <p:txBody>
          <a:bodyPr wrap="square">
            <a:spAutoFit/>
          </a:bodyPr>
          <a:lstStyle/>
          <a:p>
            <a:pPr algn="l"/>
            <a:r>
              <a:rPr sz="1400" b="0" i="0">
                <a:solidFill>
                  <a:srgbClr val="1A237E"/>
                </a:solidFill>
              </a:rPr>
              <a:t>8.  Key Takeaways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TestGen — Core Components</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97280"/>
            <a:ext cx="274320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2560320" cy="502920"/>
          </a:xfrm>
          <a:prstGeom prst="rect">
            <a:avLst/>
          </a:prstGeom>
          <a:noFill/>
        </p:spPr>
        <p:txBody>
          <a:bodyPr wrap="square">
            <a:spAutoFit/>
          </a:bodyPr>
          <a:lstStyle/>
          <a:p>
            <a:pPr algn="l"/>
            <a:r>
              <a:rPr sz="1000" b="1" i="0">
                <a:solidFill>
                  <a:srgbClr val="1A237E"/>
                </a:solidFill>
              </a:rPr>
              <a:t>Spec
(Formal Specification)</a:t>
            </a:r>
          </a:p>
        </p:txBody>
      </p:sp>
      <p:sp>
        <p:nvSpPr>
          <p:cNvPr id="7" name="TextBox 6"/>
          <p:cNvSpPr txBox="1"/>
          <p:nvPr/>
        </p:nvSpPr>
        <p:spPr>
          <a:xfrm>
            <a:off x="365760" y="1645919"/>
            <a:ext cx="2560320" cy="1051560"/>
          </a:xfrm>
          <a:prstGeom prst="rect">
            <a:avLst/>
          </a:prstGeom>
          <a:noFill/>
        </p:spPr>
        <p:txBody>
          <a:bodyPr wrap="square">
            <a:spAutoFit/>
          </a:bodyPr>
          <a:lstStyle/>
          <a:p>
            <a:pPr algn="l"/>
            <a:r>
              <a:rPr sz="850" b="0" i="0">
                <a:solidFill>
                  <a:srgbClr val="333333"/>
                </a:solidFill>
              </a:rPr>
              <a:t>Human-written pre/postconditions for each API operation.
assume() = preconditions
assert() = postconditions</a:t>
            </a:r>
          </a:p>
        </p:txBody>
      </p:sp>
      <p:sp>
        <p:nvSpPr>
          <p:cNvPr id="8" name="Rectangle 7"/>
          <p:cNvSpPr/>
          <p:nvPr/>
        </p:nvSpPr>
        <p:spPr>
          <a:xfrm>
            <a:off x="3291840" y="1097280"/>
            <a:ext cx="274320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143000"/>
            <a:ext cx="2560320" cy="502920"/>
          </a:xfrm>
          <a:prstGeom prst="rect">
            <a:avLst/>
          </a:prstGeom>
          <a:noFill/>
        </p:spPr>
        <p:txBody>
          <a:bodyPr wrap="square">
            <a:spAutoFit/>
          </a:bodyPr>
          <a:lstStyle/>
          <a:p>
            <a:pPr algn="l"/>
            <a:r>
              <a:rPr sz="1000" b="1" i="0">
                <a:solidFill>
                  <a:srgbClr val="1A237E"/>
                </a:solidFill>
              </a:rPr>
              <a:t>Test Strings</a:t>
            </a:r>
          </a:p>
        </p:txBody>
      </p:sp>
      <p:sp>
        <p:nvSpPr>
          <p:cNvPr id="10" name="TextBox 9"/>
          <p:cNvSpPr txBox="1"/>
          <p:nvPr/>
        </p:nvSpPr>
        <p:spPr>
          <a:xfrm>
            <a:off x="3383280" y="1645919"/>
            <a:ext cx="2560320" cy="1051560"/>
          </a:xfrm>
          <a:prstGeom prst="rect">
            <a:avLst/>
          </a:prstGeom>
          <a:noFill/>
        </p:spPr>
        <p:txBody>
          <a:bodyPr wrap="square">
            <a:spAutoFit/>
          </a:bodyPr>
          <a:lstStyle/>
          <a:p>
            <a:pPr algn="l"/>
            <a:r>
              <a:rPr sz="850" b="0" i="0">
                <a:solidFill>
                  <a:srgbClr val="333333"/>
                </a:solidFill>
              </a:rPr>
              <a:t>User-defined sequences of operation names to test.
e.g. ['saveBookOk', 'deleteBookOk']
Both spec + test strings feed into genATC.</a:t>
            </a:r>
          </a:p>
        </p:txBody>
      </p:sp>
      <p:sp>
        <p:nvSpPr>
          <p:cNvPr id="11" name="Rectangle 10"/>
          <p:cNvSpPr/>
          <p:nvPr/>
        </p:nvSpPr>
        <p:spPr>
          <a:xfrm>
            <a:off x="6309360" y="1097280"/>
            <a:ext cx="274320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143000"/>
            <a:ext cx="2560320" cy="502920"/>
          </a:xfrm>
          <a:prstGeom prst="rect">
            <a:avLst/>
          </a:prstGeom>
          <a:noFill/>
        </p:spPr>
        <p:txBody>
          <a:bodyPr wrap="square">
            <a:spAutoFit/>
          </a:bodyPr>
          <a:lstStyle/>
          <a:p>
            <a:pPr algn="l"/>
            <a:r>
              <a:rPr sz="1000" b="1" i="0">
                <a:solidFill>
                  <a:srgbClr val="1A237E"/>
                </a:solidFill>
              </a:rPr>
              <a:t>genATC</a:t>
            </a:r>
          </a:p>
        </p:txBody>
      </p:sp>
      <p:sp>
        <p:nvSpPr>
          <p:cNvPr id="13" name="TextBox 12"/>
          <p:cNvSpPr txBox="1"/>
          <p:nvPr/>
        </p:nvSpPr>
        <p:spPr>
          <a:xfrm>
            <a:off x="6400800" y="1645919"/>
            <a:ext cx="2560320" cy="1051560"/>
          </a:xfrm>
          <a:prstGeom prst="rect">
            <a:avLst/>
          </a:prstGeom>
          <a:noFill/>
        </p:spPr>
        <p:txBody>
          <a:bodyPr wrap="square">
            <a:spAutoFit/>
          </a:bodyPr>
          <a:lstStyle/>
          <a:p>
            <a:pPr algn="l"/>
            <a:r>
              <a:rPr sz="850" b="0" i="0">
                <a:solidFill>
                  <a:srgbClr val="333333"/>
                </a:solidFill>
              </a:rPr>
              <a:t>Takes BOTH the spec and test strings as input.
Compiles them into an ATC program with assume()
and assert() statements for the SEE to execute.</a:t>
            </a:r>
          </a:p>
        </p:txBody>
      </p:sp>
      <p:sp>
        <p:nvSpPr>
          <p:cNvPr id="14" name="Rectangle 13"/>
          <p:cNvSpPr/>
          <p:nvPr/>
        </p:nvSpPr>
        <p:spPr>
          <a:xfrm>
            <a:off x="9326880" y="1097280"/>
            <a:ext cx="274320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19" y="1143000"/>
            <a:ext cx="2560320" cy="502920"/>
          </a:xfrm>
          <a:prstGeom prst="rect">
            <a:avLst/>
          </a:prstGeom>
          <a:noFill/>
        </p:spPr>
        <p:txBody>
          <a:bodyPr wrap="square">
            <a:spAutoFit/>
          </a:bodyPr>
          <a:lstStyle/>
          <a:p>
            <a:pPr algn="l"/>
            <a:r>
              <a:rPr sz="1000" b="1" i="0">
                <a:solidFill>
                  <a:srgbClr val="1A237E"/>
                </a:solidFill>
              </a:rPr>
              <a:t>SEE — Symbolic Execution Engine</a:t>
            </a:r>
          </a:p>
        </p:txBody>
      </p:sp>
      <p:sp>
        <p:nvSpPr>
          <p:cNvPr id="16" name="TextBox 15"/>
          <p:cNvSpPr txBox="1"/>
          <p:nvPr/>
        </p:nvSpPr>
        <p:spPr>
          <a:xfrm>
            <a:off x="9418319" y="1645919"/>
            <a:ext cx="2560320" cy="1051560"/>
          </a:xfrm>
          <a:prstGeom prst="rect">
            <a:avLst/>
          </a:prstGeom>
          <a:noFill/>
        </p:spPr>
        <p:txBody>
          <a:bodyPr wrap="square">
            <a:spAutoFit/>
          </a:bodyPr>
          <a:lstStyle/>
          <a:p>
            <a:pPr algn="l"/>
            <a:r>
              <a:rPr sz="850" b="0" i="0">
                <a:solidFill>
                  <a:srgbClr val="333333"/>
                </a:solidFill>
              </a:rPr>
              <a:t>Runs the ATC iteratively. Accumulates path constraints from assume() statements. Constraints solved by Z3 using real HTTP calls to the backend.</a:t>
            </a:r>
          </a:p>
        </p:txBody>
      </p:sp>
      <p:sp>
        <p:nvSpPr>
          <p:cNvPr id="17" name="Rectangle 16"/>
          <p:cNvSpPr/>
          <p:nvPr/>
        </p:nvSpPr>
        <p:spPr>
          <a:xfrm>
            <a:off x="1188720" y="2926080"/>
            <a:ext cx="301752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2971800"/>
            <a:ext cx="2834639" cy="502920"/>
          </a:xfrm>
          <a:prstGeom prst="rect">
            <a:avLst/>
          </a:prstGeom>
          <a:noFill/>
        </p:spPr>
        <p:txBody>
          <a:bodyPr wrap="square">
            <a:spAutoFit/>
          </a:bodyPr>
          <a:lstStyle/>
          <a:p>
            <a:pPr algn="l"/>
            <a:r>
              <a:rPr sz="1000" b="1" i="0">
                <a:solidFill>
                  <a:srgbClr val="1A237E"/>
                </a:solidFill>
              </a:rPr>
              <a:t>Z3 SMT Solver</a:t>
            </a:r>
          </a:p>
        </p:txBody>
      </p:sp>
      <p:sp>
        <p:nvSpPr>
          <p:cNvPr id="19" name="TextBox 18"/>
          <p:cNvSpPr txBox="1"/>
          <p:nvPr/>
        </p:nvSpPr>
        <p:spPr>
          <a:xfrm>
            <a:off x="1280160" y="3474720"/>
            <a:ext cx="2834639" cy="1051560"/>
          </a:xfrm>
          <a:prstGeom prst="rect">
            <a:avLst/>
          </a:prstGeom>
          <a:noFill/>
        </p:spPr>
        <p:txBody>
          <a:bodyPr wrap="square">
            <a:spAutoFit/>
          </a:bodyPr>
          <a:lstStyle/>
          <a:p>
            <a:pPr algn="l"/>
            <a:r>
              <a:rPr sz="850" b="0" i="0">
                <a:solidFill>
                  <a:srgbClr val="333333"/>
                </a:solidFill>
              </a:rPr>
              <a:t>Finds concrete values satisfying all path constraints.
UNSAT = infeasible path, skip.
SAT = concrete inputs ready for HTTP calls.</a:t>
            </a:r>
          </a:p>
        </p:txBody>
      </p:sp>
      <p:sp>
        <p:nvSpPr>
          <p:cNvPr id="20" name="Rectangle 19"/>
          <p:cNvSpPr/>
          <p:nvPr/>
        </p:nvSpPr>
        <p:spPr>
          <a:xfrm>
            <a:off x="4480560" y="2926080"/>
            <a:ext cx="301752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2971800"/>
            <a:ext cx="2834639" cy="502920"/>
          </a:xfrm>
          <a:prstGeom prst="rect">
            <a:avLst/>
          </a:prstGeom>
          <a:noFill/>
        </p:spPr>
        <p:txBody>
          <a:bodyPr wrap="square">
            <a:spAutoFit/>
          </a:bodyPr>
          <a:lstStyle/>
          <a:p>
            <a:pPr algn="l"/>
            <a:r>
              <a:rPr sz="1000" b="1" i="0">
                <a:solidFill>
                  <a:srgbClr val="1A237E"/>
                </a:solidFill>
              </a:rPr>
              <a:t>Rewrite Globals</a:t>
            </a:r>
          </a:p>
        </p:txBody>
      </p:sp>
      <p:sp>
        <p:nvSpPr>
          <p:cNvPr id="22" name="TextBox 21"/>
          <p:cNvSpPr txBox="1"/>
          <p:nvPr/>
        </p:nvSpPr>
        <p:spPr>
          <a:xfrm>
            <a:off x="4572000" y="3474720"/>
            <a:ext cx="2834639" cy="1051560"/>
          </a:xfrm>
          <a:prstGeom prst="rect">
            <a:avLst/>
          </a:prstGeom>
          <a:noFill/>
        </p:spPr>
        <p:txBody>
          <a:bodyPr wrap="square">
            <a:spAutoFit/>
          </a:bodyPr>
          <a:lstStyle/>
          <a:p>
            <a:pPr algn="l"/>
            <a:r>
              <a:rPr sz="850" b="0" i="0">
                <a:solidFill>
                  <a:srgbClr val="333333"/>
                </a:solidFill>
              </a:rPr>
              <a:t>Rewrites global map operations in the ATC
to get_U, set_U, get_B, set_B etc.
Links spec assertions to live DB state.</a:t>
            </a:r>
          </a:p>
        </p:txBody>
      </p:sp>
      <p:sp>
        <p:nvSpPr>
          <p:cNvPr id="23" name="Rectangle 22"/>
          <p:cNvSpPr/>
          <p:nvPr/>
        </p:nvSpPr>
        <p:spPr>
          <a:xfrm>
            <a:off x="7772400" y="2926080"/>
            <a:ext cx="301752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2971800"/>
            <a:ext cx="2834639" cy="502920"/>
          </a:xfrm>
          <a:prstGeom prst="rect">
            <a:avLst/>
          </a:prstGeom>
          <a:noFill/>
        </p:spPr>
        <p:txBody>
          <a:bodyPr wrap="square">
            <a:spAutoFit/>
          </a:bodyPr>
          <a:lstStyle/>
          <a:p>
            <a:pPr algn="l"/>
            <a:r>
              <a:rPr sz="1000" b="1" i="0">
                <a:solidFill>
                  <a:srgbClr val="1A237E"/>
                </a:solidFill>
              </a:rPr>
              <a:t>CTC — Concrete Test Case</a:t>
            </a:r>
          </a:p>
        </p:txBody>
      </p:sp>
      <p:sp>
        <p:nvSpPr>
          <p:cNvPr id="25" name="TextBox 24"/>
          <p:cNvSpPr txBox="1"/>
          <p:nvPr/>
        </p:nvSpPr>
        <p:spPr>
          <a:xfrm>
            <a:off x="7863840" y="3474720"/>
            <a:ext cx="2834639" cy="1051560"/>
          </a:xfrm>
          <a:prstGeom prst="rect">
            <a:avLst/>
          </a:prstGeom>
          <a:noFill/>
        </p:spPr>
        <p:txBody>
          <a:bodyPr wrap="square">
            <a:spAutoFit/>
          </a:bodyPr>
          <a:lstStyle/>
          <a:p>
            <a:pPr algn="l"/>
            <a:r>
              <a:rPr sz="850" b="0" i="0">
                <a:solidFill>
                  <a:srgbClr val="333333"/>
                </a:solidFill>
              </a:rPr>
              <a:t>Final test: Z3 values + real HTTP calls + assert().
ASSERT FAILED = bug detected.
Full output recorded for inspection.</a:t>
            </a:r>
          </a:p>
        </p:txBody>
      </p:sp>
      <p:sp>
        <p:nvSpPr>
          <p:cNvPr id="26" name="TextBox 25"/>
          <p:cNvSpPr txBox="1"/>
          <p:nvPr/>
        </p:nvSpPr>
        <p:spPr>
          <a:xfrm>
            <a:off x="457200" y="4709160"/>
            <a:ext cx="11247120" cy="365760"/>
          </a:xfrm>
          <a:prstGeom prst="rect">
            <a:avLst/>
          </a:prstGeom>
          <a:noFill/>
        </p:spPr>
        <p:txBody>
          <a:bodyPr wrap="square">
            <a:spAutoFit/>
          </a:bodyPr>
          <a:lstStyle/>
          <a:p>
            <a:pPr algn="ctr"/>
            <a:r>
              <a:rPr sz="1100" b="1" i="0">
                <a:solidFill>
                  <a:srgbClr val="303F9F"/>
                </a:solidFill>
              </a:rPr>
              <a:t>Spec + Test Strings → genATC → ATC → SEE (iterative) → Z3 → Concrete HTTP calls → assert() → CTC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ATC → CTC Pipeline</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737360"/>
            <a:ext cx="1645920" cy="1371600"/>
          </a:xfrm>
          <a:prstGeom prst="rect">
            <a:avLst/>
          </a:prstGeom>
          <a:solidFill>
            <a:srgbClr val="1A237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783080"/>
            <a:ext cx="1554480" cy="594360"/>
          </a:xfrm>
          <a:prstGeom prst="rect">
            <a:avLst/>
          </a:prstGeom>
          <a:noFill/>
        </p:spPr>
        <p:txBody>
          <a:bodyPr wrap="square">
            <a:spAutoFit/>
          </a:bodyPr>
          <a:lstStyle/>
          <a:p>
            <a:pPr algn="ctr"/>
            <a:r>
              <a:rPr sz="1000" b="1" i="0">
                <a:solidFill>
                  <a:srgbClr val="FFFFFF"/>
                </a:solidFill>
              </a:rPr>
              <a:t>SPEC +
TEST STRINGS</a:t>
            </a:r>
          </a:p>
        </p:txBody>
      </p:sp>
      <p:sp>
        <p:nvSpPr>
          <p:cNvPr id="7" name="TextBox 6"/>
          <p:cNvSpPr txBox="1"/>
          <p:nvPr/>
        </p:nvSpPr>
        <p:spPr>
          <a:xfrm>
            <a:off x="411480" y="2377440"/>
            <a:ext cx="1554480" cy="685800"/>
          </a:xfrm>
          <a:prstGeom prst="rect">
            <a:avLst/>
          </a:prstGeom>
          <a:noFill/>
        </p:spPr>
        <p:txBody>
          <a:bodyPr wrap="square">
            <a:spAutoFit/>
          </a:bodyPr>
          <a:lstStyle/>
          <a:p>
            <a:pPr algn="ctr"/>
            <a:r>
              <a:rPr sz="800" b="0" i="0">
                <a:solidFill>
                  <a:srgbClr val="FFFFFF"/>
                </a:solidFill>
              </a:rPr>
              <a:t>Both inputs feed
into genATC</a:t>
            </a:r>
          </a:p>
        </p:txBody>
      </p:sp>
      <p:sp>
        <p:nvSpPr>
          <p:cNvPr id="8" name="TextBox 7"/>
          <p:cNvSpPr txBox="1"/>
          <p:nvPr/>
        </p:nvSpPr>
        <p:spPr>
          <a:xfrm>
            <a:off x="2011680" y="2194560"/>
            <a:ext cx="329184" cy="457200"/>
          </a:xfrm>
          <a:prstGeom prst="rect">
            <a:avLst/>
          </a:prstGeom>
          <a:noFill/>
        </p:spPr>
        <p:txBody>
          <a:bodyPr wrap="square">
            <a:spAutoFit/>
          </a:bodyPr>
          <a:lstStyle/>
          <a:p>
            <a:pPr algn="ctr"/>
            <a:r>
              <a:rPr sz="1800" b="1" i="0">
                <a:solidFill>
                  <a:srgbClr val="42A5F5"/>
                </a:solidFill>
              </a:rPr>
              <a:t>→</a:t>
            </a:r>
          </a:p>
        </p:txBody>
      </p:sp>
      <p:sp>
        <p:nvSpPr>
          <p:cNvPr id="9" name="Rectangle 8"/>
          <p:cNvSpPr/>
          <p:nvPr/>
        </p:nvSpPr>
        <p:spPr>
          <a:xfrm>
            <a:off x="2340864" y="1737360"/>
            <a:ext cx="1645920" cy="1371600"/>
          </a:xfrm>
          <a:prstGeom prst="rect">
            <a:avLst/>
          </a:prstGeom>
          <a:solidFill>
            <a:srgbClr val="303F9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6584" y="1783080"/>
            <a:ext cx="1554480" cy="594360"/>
          </a:xfrm>
          <a:prstGeom prst="rect">
            <a:avLst/>
          </a:prstGeom>
          <a:noFill/>
        </p:spPr>
        <p:txBody>
          <a:bodyPr wrap="square">
            <a:spAutoFit/>
          </a:bodyPr>
          <a:lstStyle/>
          <a:p>
            <a:pPr algn="ctr"/>
            <a:r>
              <a:rPr sz="1000" b="1" i="0">
                <a:solidFill>
                  <a:srgbClr val="FFFFFF"/>
                </a:solidFill>
              </a:rPr>
              <a:t>genATC</a:t>
            </a:r>
          </a:p>
        </p:txBody>
      </p:sp>
      <p:sp>
        <p:nvSpPr>
          <p:cNvPr id="11" name="TextBox 10"/>
          <p:cNvSpPr txBox="1"/>
          <p:nvPr/>
        </p:nvSpPr>
        <p:spPr>
          <a:xfrm>
            <a:off x="2386584" y="2377440"/>
            <a:ext cx="1554480" cy="685800"/>
          </a:xfrm>
          <a:prstGeom prst="rect">
            <a:avLst/>
          </a:prstGeom>
          <a:noFill/>
        </p:spPr>
        <p:txBody>
          <a:bodyPr wrap="square">
            <a:spAutoFit/>
          </a:bodyPr>
          <a:lstStyle/>
          <a:p>
            <a:pPr algn="ctr"/>
            <a:r>
              <a:rPr sz="800" b="0" i="0">
                <a:solidFill>
                  <a:srgbClr val="FFFFFF"/>
                </a:solidFill>
              </a:rPr>
              <a:t>Compiles into ATC
with assume()/assert()</a:t>
            </a:r>
          </a:p>
        </p:txBody>
      </p:sp>
      <p:sp>
        <p:nvSpPr>
          <p:cNvPr id="12" name="TextBox 11"/>
          <p:cNvSpPr txBox="1"/>
          <p:nvPr/>
        </p:nvSpPr>
        <p:spPr>
          <a:xfrm>
            <a:off x="3986784" y="2194560"/>
            <a:ext cx="329184" cy="457200"/>
          </a:xfrm>
          <a:prstGeom prst="rect">
            <a:avLst/>
          </a:prstGeom>
          <a:noFill/>
        </p:spPr>
        <p:txBody>
          <a:bodyPr wrap="square">
            <a:spAutoFit/>
          </a:bodyPr>
          <a:lstStyle/>
          <a:p>
            <a:pPr algn="ctr"/>
            <a:r>
              <a:rPr sz="1800" b="1" i="0">
                <a:solidFill>
                  <a:srgbClr val="42A5F5"/>
                </a:solidFill>
              </a:rPr>
              <a:t>→</a:t>
            </a:r>
          </a:p>
        </p:txBody>
      </p:sp>
      <p:sp>
        <p:nvSpPr>
          <p:cNvPr id="13" name="Rectangle 12"/>
          <p:cNvSpPr/>
          <p:nvPr/>
        </p:nvSpPr>
        <p:spPr>
          <a:xfrm>
            <a:off x="4315968" y="1737360"/>
            <a:ext cx="1645920" cy="1371600"/>
          </a:xfrm>
          <a:prstGeom prst="rect">
            <a:avLst/>
          </a:prstGeom>
          <a:solidFill>
            <a:srgbClr val="303F9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783080"/>
            <a:ext cx="1554480" cy="594360"/>
          </a:xfrm>
          <a:prstGeom prst="rect">
            <a:avLst/>
          </a:prstGeom>
          <a:noFill/>
        </p:spPr>
        <p:txBody>
          <a:bodyPr wrap="square">
            <a:spAutoFit/>
          </a:bodyPr>
          <a:lstStyle/>
          <a:p>
            <a:pPr algn="ctr"/>
            <a:r>
              <a:rPr sz="1000" b="1" i="0">
                <a:solidFill>
                  <a:srgbClr val="FFFFFF"/>
                </a:solidFill>
              </a:rPr>
              <a:t>REWRITE
GLOBALS</a:t>
            </a:r>
          </a:p>
        </p:txBody>
      </p:sp>
      <p:sp>
        <p:nvSpPr>
          <p:cNvPr id="15" name="TextBox 14"/>
          <p:cNvSpPr txBox="1"/>
          <p:nvPr/>
        </p:nvSpPr>
        <p:spPr>
          <a:xfrm>
            <a:off x="4361688" y="2377440"/>
            <a:ext cx="1554480" cy="685800"/>
          </a:xfrm>
          <a:prstGeom prst="rect">
            <a:avLst/>
          </a:prstGeom>
          <a:noFill/>
        </p:spPr>
        <p:txBody>
          <a:bodyPr wrap="square">
            <a:spAutoFit/>
          </a:bodyPr>
          <a:lstStyle/>
          <a:p>
            <a:pPr algn="ctr"/>
            <a:r>
              <a:rPr sz="800" b="0" i="0">
                <a:solidFill>
                  <a:srgbClr val="FFFFFF"/>
                </a:solidFill>
              </a:rPr>
              <a:t>Rewrites map ops
to get_U, set_U etc.</a:t>
            </a:r>
          </a:p>
        </p:txBody>
      </p:sp>
      <p:sp>
        <p:nvSpPr>
          <p:cNvPr id="16" name="TextBox 15"/>
          <p:cNvSpPr txBox="1"/>
          <p:nvPr/>
        </p:nvSpPr>
        <p:spPr>
          <a:xfrm>
            <a:off x="5961888" y="2194560"/>
            <a:ext cx="329184" cy="457200"/>
          </a:xfrm>
          <a:prstGeom prst="rect">
            <a:avLst/>
          </a:prstGeom>
          <a:noFill/>
        </p:spPr>
        <p:txBody>
          <a:bodyPr wrap="square">
            <a:spAutoFit/>
          </a:bodyPr>
          <a:lstStyle/>
          <a:p>
            <a:pPr algn="ctr"/>
            <a:r>
              <a:rPr sz="1800" b="1" i="0">
                <a:solidFill>
                  <a:srgbClr val="42A5F5"/>
                </a:solidFill>
              </a:rPr>
              <a:t>→</a:t>
            </a:r>
          </a:p>
        </p:txBody>
      </p:sp>
      <p:sp>
        <p:nvSpPr>
          <p:cNvPr id="17" name="Rectangle 16"/>
          <p:cNvSpPr/>
          <p:nvPr/>
        </p:nvSpPr>
        <p:spPr>
          <a:xfrm>
            <a:off x="6291072" y="1737360"/>
            <a:ext cx="1645920" cy="1371600"/>
          </a:xfrm>
          <a:prstGeom prst="rect">
            <a:avLst/>
          </a:prstGeom>
          <a:solidFill>
            <a:srgbClr val="303F9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1783080"/>
            <a:ext cx="1554480" cy="594360"/>
          </a:xfrm>
          <a:prstGeom prst="rect">
            <a:avLst/>
          </a:prstGeom>
          <a:noFill/>
        </p:spPr>
        <p:txBody>
          <a:bodyPr wrap="square">
            <a:spAutoFit/>
          </a:bodyPr>
          <a:lstStyle/>
          <a:p>
            <a:pPr algn="ctr"/>
            <a:r>
              <a:rPr sz="1000" b="1" i="0">
                <a:solidFill>
                  <a:srgbClr val="FFFFFF"/>
                </a:solidFill>
              </a:rPr>
              <a:t>SEE
(iterative)</a:t>
            </a:r>
          </a:p>
        </p:txBody>
      </p:sp>
      <p:sp>
        <p:nvSpPr>
          <p:cNvPr id="19" name="TextBox 18"/>
          <p:cNvSpPr txBox="1"/>
          <p:nvPr/>
        </p:nvSpPr>
        <p:spPr>
          <a:xfrm>
            <a:off x="6336792" y="2377440"/>
            <a:ext cx="1554480" cy="685800"/>
          </a:xfrm>
          <a:prstGeom prst="rect">
            <a:avLst/>
          </a:prstGeom>
          <a:noFill/>
        </p:spPr>
        <p:txBody>
          <a:bodyPr wrap="square">
            <a:spAutoFit/>
          </a:bodyPr>
          <a:lstStyle/>
          <a:p>
            <a:pPr algn="ctr"/>
            <a:r>
              <a:rPr sz="800" b="0" i="0">
                <a:solidFill>
                  <a:srgbClr val="FFFFFF"/>
                </a:solidFill>
              </a:rPr>
              <a:t>Accumulates path
constraints from assume()</a:t>
            </a:r>
          </a:p>
        </p:txBody>
      </p:sp>
      <p:sp>
        <p:nvSpPr>
          <p:cNvPr id="20" name="TextBox 19"/>
          <p:cNvSpPr txBox="1"/>
          <p:nvPr/>
        </p:nvSpPr>
        <p:spPr>
          <a:xfrm>
            <a:off x="7936992" y="2194560"/>
            <a:ext cx="329184" cy="457200"/>
          </a:xfrm>
          <a:prstGeom prst="rect">
            <a:avLst/>
          </a:prstGeom>
          <a:noFill/>
        </p:spPr>
        <p:txBody>
          <a:bodyPr wrap="square">
            <a:spAutoFit/>
          </a:bodyPr>
          <a:lstStyle/>
          <a:p>
            <a:pPr algn="ctr"/>
            <a:r>
              <a:rPr sz="1800" b="1" i="0">
                <a:solidFill>
                  <a:srgbClr val="42A5F5"/>
                </a:solidFill>
              </a:rPr>
              <a:t>→</a:t>
            </a:r>
          </a:p>
        </p:txBody>
      </p:sp>
      <p:sp>
        <p:nvSpPr>
          <p:cNvPr id="21" name="Rectangle 20"/>
          <p:cNvSpPr/>
          <p:nvPr/>
        </p:nvSpPr>
        <p:spPr>
          <a:xfrm>
            <a:off x="8266176" y="1737360"/>
            <a:ext cx="1645920" cy="1371600"/>
          </a:xfrm>
          <a:prstGeom prst="rect">
            <a:avLst/>
          </a:prstGeom>
          <a:solidFill>
            <a:srgbClr val="303F9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1896" y="1783080"/>
            <a:ext cx="1554480" cy="594360"/>
          </a:xfrm>
          <a:prstGeom prst="rect">
            <a:avLst/>
          </a:prstGeom>
          <a:noFill/>
        </p:spPr>
        <p:txBody>
          <a:bodyPr wrap="square">
            <a:spAutoFit/>
          </a:bodyPr>
          <a:lstStyle/>
          <a:p>
            <a:pPr algn="ctr"/>
            <a:r>
              <a:rPr sz="1000" b="1" i="0">
                <a:solidFill>
                  <a:srgbClr val="FFFFFF"/>
                </a:solidFill>
              </a:rPr>
              <a:t>Z3
SOLVER</a:t>
            </a:r>
          </a:p>
        </p:txBody>
      </p:sp>
      <p:sp>
        <p:nvSpPr>
          <p:cNvPr id="23" name="TextBox 22"/>
          <p:cNvSpPr txBox="1"/>
          <p:nvPr/>
        </p:nvSpPr>
        <p:spPr>
          <a:xfrm>
            <a:off x="8311896" y="2377440"/>
            <a:ext cx="1554480" cy="685800"/>
          </a:xfrm>
          <a:prstGeom prst="rect">
            <a:avLst/>
          </a:prstGeom>
          <a:noFill/>
        </p:spPr>
        <p:txBody>
          <a:bodyPr wrap="square">
            <a:spAutoFit/>
          </a:bodyPr>
          <a:lstStyle/>
          <a:p>
            <a:pPr algn="ctr"/>
            <a:r>
              <a:rPr sz="800" b="0" i="0">
                <a:solidFill>
                  <a:srgbClr val="FFFFFF"/>
                </a:solidFill>
              </a:rPr>
              <a:t>Solves constraints
via real HTTP calls</a:t>
            </a:r>
          </a:p>
        </p:txBody>
      </p:sp>
      <p:sp>
        <p:nvSpPr>
          <p:cNvPr id="24" name="TextBox 23"/>
          <p:cNvSpPr txBox="1"/>
          <p:nvPr/>
        </p:nvSpPr>
        <p:spPr>
          <a:xfrm>
            <a:off x="9912096" y="2194560"/>
            <a:ext cx="329184" cy="457200"/>
          </a:xfrm>
          <a:prstGeom prst="rect">
            <a:avLst/>
          </a:prstGeom>
          <a:noFill/>
        </p:spPr>
        <p:txBody>
          <a:bodyPr wrap="square">
            <a:spAutoFit/>
          </a:bodyPr>
          <a:lstStyle/>
          <a:p>
            <a:pPr algn="ctr"/>
            <a:r>
              <a:rPr sz="1800" b="1" i="0">
                <a:solidFill>
                  <a:srgbClr val="42A5F5"/>
                </a:solidFill>
              </a:rPr>
              <a:t>→</a:t>
            </a:r>
          </a:p>
        </p:txBody>
      </p:sp>
      <p:sp>
        <p:nvSpPr>
          <p:cNvPr id="25" name="Rectangle 24"/>
          <p:cNvSpPr/>
          <p:nvPr/>
        </p:nvSpPr>
        <p:spPr>
          <a:xfrm>
            <a:off x="10241280" y="1737360"/>
            <a:ext cx="1645920" cy="1371600"/>
          </a:xfrm>
          <a:prstGeom prst="rect">
            <a:avLst/>
          </a:prstGeom>
          <a:solidFill>
            <a:srgbClr val="2E7D3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87000" y="1783080"/>
            <a:ext cx="1554480" cy="594360"/>
          </a:xfrm>
          <a:prstGeom prst="rect">
            <a:avLst/>
          </a:prstGeom>
          <a:noFill/>
        </p:spPr>
        <p:txBody>
          <a:bodyPr wrap="square">
            <a:spAutoFit/>
          </a:bodyPr>
          <a:lstStyle/>
          <a:p>
            <a:pPr algn="ctr"/>
            <a:r>
              <a:rPr sz="1000" b="1" i="0">
                <a:solidFill>
                  <a:srgbClr val="FFFFFF"/>
                </a:solidFill>
              </a:rPr>
              <a:t>CTC
OUTPUT</a:t>
            </a:r>
          </a:p>
        </p:txBody>
      </p:sp>
      <p:sp>
        <p:nvSpPr>
          <p:cNvPr id="27" name="TextBox 26"/>
          <p:cNvSpPr txBox="1"/>
          <p:nvPr/>
        </p:nvSpPr>
        <p:spPr>
          <a:xfrm>
            <a:off x="10287000" y="2377440"/>
            <a:ext cx="1554480" cy="685800"/>
          </a:xfrm>
          <a:prstGeom prst="rect">
            <a:avLst/>
          </a:prstGeom>
          <a:noFill/>
        </p:spPr>
        <p:txBody>
          <a:bodyPr wrap="square">
            <a:spAutoFit/>
          </a:bodyPr>
          <a:lstStyle/>
          <a:p>
            <a:pPr algn="ctr"/>
            <a:r>
              <a:rPr sz="800" b="0" i="0">
                <a:solidFill>
                  <a:srgbClr val="FFFFFF"/>
                </a:solidFill>
              </a:rPr>
              <a:t>assert() evaluated
FAIL = bug detected</a:t>
            </a:r>
          </a:p>
        </p:txBody>
      </p:sp>
      <p:sp>
        <p:nvSpPr>
          <p:cNvPr id="28" name="Rectangle 27"/>
          <p:cNvSpPr/>
          <p:nvPr/>
        </p:nvSpPr>
        <p:spPr>
          <a:xfrm>
            <a:off x="365760" y="3337560"/>
            <a:ext cx="11430000" cy="1051560"/>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383280"/>
            <a:ext cx="2743200" cy="320040"/>
          </a:xfrm>
          <a:prstGeom prst="rect">
            <a:avLst/>
          </a:prstGeom>
          <a:noFill/>
        </p:spPr>
        <p:txBody>
          <a:bodyPr wrap="square">
            <a:spAutoFit/>
          </a:bodyPr>
          <a:lstStyle/>
          <a:p>
            <a:pPr algn="l"/>
            <a:r>
              <a:rPr sz="1100" b="1" i="0">
                <a:solidFill>
                  <a:srgbClr val="1A237E"/>
                </a:solidFill>
              </a:rPr>
              <a:t>How SEE works:</a:t>
            </a:r>
          </a:p>
        </p:txBody>
      </p:sp>
      <p:sp>
        <p:nvSpPr>
          <p:cNvPr id="30" name="TextBox 29"/>
          <p:cNvSpPr txBox="1"/>
          <p:nvPr/>
        </p:nvSpPr>
        <p:spPr>
          <a:xfrm>
            <a:off x="548640" y="3703320"/>
            <a:ext cx="11064240" cy="640080"/>
          </a:xfrm>
          <a:prstGeom prst="rect">
            <a:avLst/>
          </a:prstGeom>
          <a:noFill/>
        </p:spPr>
        <p:txBody>
          <a:bodyPr wrap="square">
            <a:spAutoFit/>
          </a:bodyPr>
          <a:lstStyle/>
          <a:p>
            <a:pPr algn="l"/>
            <a:r>
              <a:rPr sz="1000" b="0" i="0">
                <a:solidFill>
                  <a:srgbClr val="333333"/>
                </a:solidFill>
              </a:rPr>
              <a:t>The SEE runs over the ATC program iteratively. On each iteration it accumulates path constraints from the assume() statements it encounters. These constraints are then handed to Z3, which solves them using real HTTP calls to the backend to get actual response values.</a:t>
            </a:r>
          </a:p>
        </p:txBody>
      </p:sp>
      <p:sp>
        <p:nvSpPr>
          <p:cNvPr id="31" name="Rectangle 30"/>
          <p:cNvSpPr/>
          <p:nvPr/>
        </p:nvSpPr>
        <p:spPr>
          <a:xfrm>
            <a:off x="365760" y="4480560"/>
            <a:ext cx="11430000" cy="594360"/>
          </a:xfrm>
          <a:prstGeom prst="rect">
            <a:avLst/>
          </a:prstGeom>
          <a:solidFill>
            <a:srgbClr val="E8F5E9"/>
          </a:solidFill>
          <a:ln w="63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526280"/>
            <a:ext cx="11064240" cy="502920"/>
          </a:xfrm>
          <a:prstGeom prst="rect">
            <a:avLst/>
          </a:prstGeom>
          <a:noFill/>
        </p:spPr>
        <p:txBody>
          <a:bodyPr wrap="square">
            <a:spAutoFit/>
          </a:bodyPr>
          <a:lstStyle/>
          <a:p>
            <a:pPr algn="ctr"/>
            <a:r>
              <a:rPr sz="1000" b="1" i="0">
                <a:solidFill>
                  <a:srgbClr val="2E7D32"/>
                </a:solidFill>
              </a:rPr>
              <a:t>Example: deleteBook spec → assume(in(bookCode, dom(B))) → deleteBook(bookCode) → assert(not_in(bookCode, dom(B')))  →  get_B() fetches live DB  →  book still there → ASSERT FAILED → BUG DETECTED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Restaurant Backend — Results &amp; Bug Descriptions</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097280"/>
          <a:ext cx="11612877" cy="4160520"/>
        </p:xfrm>
        <a:graphic>
          <a:graphicData uri="http://schemas.openxmlformats.org/drawingml/2006/table">
            <a:tbl>
              <a:tblPr firstRow="1" bandRow="1">
                <a:tableStyleId>{5C22544A-7EE6-4342-B048-85BDC9FD1C3A}</a:tableStyleId>
              </a:tblPr>
              <a:tblGrid>
                <a:gridCol w="800888"/>
                <a:gridCol w="2803108"/>
                <a:gridCol w="3603997"/>
                <a:gridCol w="2402664"/>
                <a:gridCol w="1201332"/>
                <a:gridCol w="800888"/>
              </a:tblGrid>
              <a:tr h="462280">
                <a:tc>
                  <a:txBody>
                    <a:bodyPr/>
                    <a:lstStyle/>
                    <a:p>
                      <a:pPr algn="ctr"/>
                      <a:r>
                        <a:rPr b="1" sz="1000">
                          <a:solidFill>
                            <a:srgbClr val="FFFFFF"/>
                          </a:solidFill>
                        </a:rPr>
                        <a:t>Bug</a:t>
                      </a:r>
                    </a:p>
                  </a:txBody>
                  <a:tcPr>
                    <a:solidFill>
                      <a:srgbClr val="1A237E"/>
                    </a:solidFill>
                  </a:tcPr>
                </a:tc>
                <a:tc>
                  <a:txBody>
                    <a:bodyPr/>
                    <a:lstStyle/>
                    <a:p>
                      <a:pPr algn="ctr"/>
                      <a:r>
                        <a:rPr b="1" sz="1000">
                          <a:solidFill>
                            <a:srgbClr val="FFFFFF"/>
                          </a:solidFill>
                        </a:rPr>
                        <a:t>Location</a:t>
                      </a:r>
                    </a:p>
                  </a:txBody>
                  <a:tcPr>
                    <a:solidFill>
                      <a:srgbClr val="1A237E"/>
                    </a:solidFill>
                  </a:tcPr>
                </a:tc>
                <a:tc>
                  <a:txBody>
                    <a:bodyPr/>
                    <a:lstStyle/>
                    <a:p>
                      <a:pPr algn="ctr"/>
                      <a:r>
                        <a:rPr b="1" sz="1000">
                          <a:solidFill>
                            <a:srgbClr val="FFFFFF"/>
                          </a:solidFill>
                        </a:rPr>
                        <a:t>Description</a:t>
                      </a:r>
                    </a:p>
                  </a:txBody>
                  <a:tcPr>
                    <a:solidFill>
                      <a:srgbClr val="1A237E"/>
                    </a:solidFill>
                  </a:tcPr>
                </a:tc>
                <a:tc>
                  <a:txBody>
                    <a:bodyPr/>
                    <a:lstStyle/>
                    <a:p>
                      <a:pPr algn="ctr"/>
                      <a:r>
                        <a:rPr b="1" sz="1000">
                          <a:solidFill>
                            <a:srgbClr val="FFFFFF"/>
                          </a:solidFill>
                        </a:rPr>
                        <a:t>Bug Type</a:t>
                      </a:r>
                    </a:p>
                  </a:txBody>
                  <a:tcPr>
                    <a:solidFill>
                      <a:srgbClr val="1A237E"/>
                    </a:solidFill>
                  </a:tcPr>
                </a:tc>
                <a:tc>
                  <a:txBody>
                    <a:bodyPr/>
                    <a:lstStyle/>
                    <a:p>
                      <a:pPr algn="ctr"/>
                      <a:r>
                        <a:rPr b="1" sz="1000">
                          <a:solidFill>
                            <a:srgbClr val="FFFFFF"/>
                          </a:solidFill>
                        </a:rPr>
                        <a:t>Detected</a:t>
                      </a:r>
                    </a:p>
                  </a:txBody>
                  <a:tcPr>
                    <a:solidFill>
                      <a:srgbClr val="1A237E"/>
                    </a:solidFill>
                  </a:tcPr>
                </a:tc>
                <a:tc>
                  <a:txBody>
                    <a:bodyPr/>
                    <a:lstStyle/>
                    <a:p>
                      <a:pPr algn="ctr"/>
                      <a:r>
                        <a:rPr b="1" sz="1000">
                          <a:solidFill>
                            <a:srgbClr val="FFFFFF"/>
                          </a:solidFill>
                        </a:rPr>
                        <a:t>Depth</a:t>
                      </a:r>
                    </a:p>
                  </a:txBody>
                  <a:tcPr>
                    <a:solidFill>
                      <a:srgbClr val="1A237E"/>
                    </a:solidFill>
                  </a:tcPr>
                </a:tc>
              </a:tr>
              <a:tr h="462280">
                <a:tc>
                  <a:txBody>
                    <a:bodyPr/>
                    <a:lstStyle/>
                    <a:p>
                      <a:pPr algn="ctr"/>
                      <a:r>
                        <a:rPr sz="900"/>
                        <a:t>RB1</a:t>
                      </a:r>
                    </a:p>
                  </a:txBody>
                  <a:tcPr>
                    <a:solidFill>
                      <a:srgbClr val="E8EAF6"/>
                    </a:solidFill>
                  </a:tcPr>
                </a:tc>
                <a:tc>
                  <a:txBody>
                    <a:bodyPr/>
                    <a:lstStyle/>
                    <a:p>
                      <a:pPr algn="l"/>
                      <a:r>
                        <a:rPr sz="900"/>
                        <a:t>routes/auth.js</a:t>
                      </a:r>
                    </a:p>
                  </a:txBody>
                  <a:tcPr>
                    <a:solidFill>
                      <a:srgbClr val="E8EAF6"/>
                    </a:solidFill>
                  </a:tcPr>
                </a:tc>
                <a:tc>
                  <a:txBody>
                    <a:bodyPr/>
                    <a:lstStyle/>
                    <a:p>
                      <a:pPr algn="l"/>
                      <a:r>
                        <a:rPr sz="900"/>
                        <a:t>Registration returns HTTP 200 instead of 201</a:t>
                      </a:r>
                    </a:p>
                  </a:txBody>
                  <a:tcPr>
                    <a:solidFill>
                      <a:srgbClr val="E8EAF6"/>
                    </a:solidFill>
                  </a:tcPr>
                </a:tc>
                <a:tc>
                  <a:txBody>
                    <a:bodyPr/>
                    <a:lstStyle/>
                    <a:p>
                      <a:pPr algn="l"/>
                      <a:r>
                        <a:rPr sz="900"/>
                        <a:t>Wrong status code</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E8EAF6"/>
                    </a:solidFill>
                  </a:tcPr>
                </a:tc>
              </a:tr>
              <a:tr h="462280">
                <a:tc>
                  <a:txBody>
                    <a:bodyPr/>
                    <a:lstStyle/>
                    <a:p>
                      <a:pPr algn="ctr"/>
                      <a:r>
                        <a:rPr sz="900"/>
                        <a:t>RB2</a:t>
                      </a:r>
                    </a:p>
                  </a:txBody>
                  <a:tcPr>
                    <a:solidFill>
                      <a:srgbClr val="FFFFFF"/>
                    </a:solidFill>
                  </a:tcPr>
                </a:tc>
                <a:tc>
                  <a:txBody>
                    <a:bodyPr/>
                    <a:lstStyle/>
                    <a:p>
                      <a:pPr algn="l"/>
                      <a:r>
                        <a:rPr sz="900"/>
                        <a:t>routes/restaurants.js</a:t>
                      </a:r>
                    </a:p>
                  </a:txBody>
                  <a:tcPr>
                    <a:solidFill>
                      <a:srgbClr val="FFFFFF"/>
                    </a:solidFill>
                  </a:tcPr>
                </a:tc>
                <a:tc>
                  <a:txBody>
                    <a:bodyPr/>
                    <a:lstStyle/>
                    <a:p>
                      <a:pPr algn="l"/>
                      <a:r>
                        <a:rPr sz="900"/>
                        <a:t>Restaurant record not removed after delete call</a:t>
                      </a:r>
                    </a:p>
                  </a:txBody>
                  <a:tcPr>
                    <a:solidFill>
                      <a:srgbClr val="FFFFFF"/>
                    </a:solidFill>
                  </a:tcPr>
                </a:tc>
                <a:tc>
                  <a:txBody>
                    <a:bodyPr/>
                    <a:lstStyle/>
                    <a:p>
                      <a:pPr algn="l"/>
                      <a:r>
                        <a:rPr sz="900"/>
                        <a:t>Missing side-effect</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r h="462280">
                <a:tc>
                  <a:txBody>
                    <a:bodyPr/>
                    <a:lstStyle/>
                    <a:p>
                      <a:pPr algn="ctr"/>
                      <a:r>
                        <a:rPr sz="900"/>
                        <a:t>RB3</a:t>
                      </a:r>
                    </a:p>
                  </a:txBody>
                  <a:tcPr>
                    <a:solidFill>
                      <a:srgbClr val="E8EAF6"/>
                    </a:solidFill>
                  </a:tcPr>
                </a:tc>
                <a:tc>
                  <a:txBody>
                    <a:bodyPr/>
                    <a:lstStyle/>
                    <a:p>
                      <a:pPr algn="l"/>
                      <a:r>
                        <a:rPr sz="900"/>
                        <a:t>routes/menu.js</a:t>
                      </a:r>
                    </a:p>
                  </a:txBody>
                  <a:tcPr>
                    <a:solidFill>
                      <a:srgbClr val="E8EAF6"/>
                    </a:solidFill>
                  </a:tcPr>
                </a:tc>
                <a:tc>
                  <a:txBody>
                    <a:bodyPr/>
                    <a:lstStyle/>
                    <a:p>
                      <a:pPr algn="l"/>
                      <a:r>
                        <a:rPr sz="900"/>
                        <a:t>Menu item creation returns HTTP 200 instead of 201</a:t>
                      </a:r>
                    </a:p>
                  </a:txBody>
                  <a:tcPr>
                    <a:solidFill>
                      <a:srgbClr val="E8EAF6"/>
                    </a:solidFill>
                  </a:tcPr>
                </a:tc>
                <a:tc>
                  <a:txBody>
                    <a:bodyPr/>
                    <a:lstStyle/>
                    <a:p>
                      <a:pPr algn="l"/>
                      <a:r>
                        <a:rPr sz="900"/>
                        <a:t>Wrong status code</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E8EAF6"/>
                    </a:solidFill>
                  </a:tcPr>
                </a:tc>
              </a:tr>
              <a:tr h="462280">
                <a:tc>
                  <a:txBody>
                    <a:bodyPr/>
                    <a:lstStyle/>
                    <a:p>
                      <a:pPr algn="ctr"/>
                      <a:r>
                        <a:rPr sz="900"/>
                        <a:t>RB4</a:t>
                      </a:r>
                    </a:p>
                  </a:txBody>
                  <a:tcPr>
                    <a:solidFill>
                      <a:srgbClr val="FFFFFF"/>
                    </a:solidFill>
                  </a:tcPr>
                </a:tc>
                <a:tc>
                  <a:txBody>
                    <a:bodyPr/>
                    <a:lstStyle/>
                    <a:p>
                      <a:pPr algn="l"/>
                      <a:r>
                        <a:rPr sz="900"/>
                        <a:t>routes/orders.js</a:t>
                      </a:r>
                    </a:p>
                  </a:txBody>
                  <a:tcPr>
                    <a:solidFill>
                      <a:srgbClr val="FFFFFF"/>
                    </a:solidFill>
                  </a:tcPr>
                </a:tc>
                <a:tc>
                  <a:txBody>
                    <a:bodyPr/>
                    <a:lstStyle/>
                    <a:p>
                      <a:pPr algn="l"/>
                      <a:r>
                        <a:rPr sz="900"/>
                        <a:t>Order total missing delivery fee (price+tax only)</a:t>
                      </a:r>
                    </a:p>
                  </a:txBody>
                  <a:tcPr>
                    <a:solidFill>
                      <a:srgbClr val="FFFFFF"/>
                    </a:solidFill>
                  </a:tcPr>
                </a:tc>
                <a:tc>
                  <a:txBody>
                    <a:bodyPr/>
                    <a:lstStyle/>
                    <a:p>
                      <a:pPr algn="l"/>
                      <a:r>
                        <a:rPr sz="900"/>
                        <a:t>Wrong calculation</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3</a:t>
                      </a:r>
                    </a:p>
                  </a:txBody>
                  <a:tcPr>
                    <a:solidFill>
                      <a:srgbClr val="FFFFFF"/>
                    </a:solidFill>
                  </a:tcPr>
                </a:tc>
              </a:tr>
              <a:tr h="462280">
                <a:tc>
                  <a:txBody>
                    <a:bodyPr/>
                    <a:lstStyle/>
                    <a:p>
                      <a:pPr algn="ctr"/>
                      <a:r>
                        <a:rPr sz="900"/>
                        <a:t>RB5</a:t>
                      </a:r>
                    </a:p>
                  </a:txBody>
                  <a:tcPr>
                    <a:solidFill>
                      <a:srgbClr val="E8EAF6"/>
                    </a:solidFill>
                  </a:tcPr>
                </a:tc>
                <a:tc>
                  <a:txBody>
                    <a:bodyPr/>
                    <a:lstStyle/>
                    <a:p>
                      <a:pPr algn="l"/>
                      <a:r>
                        <a:rPr sz="900"/>
                        <a:t>routes/orders.js</a:t>
                      </a:r>
                    </a:p>
                  </a:txBody>
                  <a:tcPr>
                    <a:solidFill>
                      <a:srgbClr val="E8EAF6"/>
                    </a:solidFill>
                  </a:tcPr>
                </a:tc>
                <a:tc>
                  <a:txBody>
                    <a:bodyPr/>
                    <a:lstStyle/>
                    <a:p>
                      <a:pPr algn="l"/>
                      <a:r>
                        <a:rPr sz="900"/>
                        <a:t>Cart not cleared after order placed</a:t>
                      </a:r>
                    </a:p>
                  </a:txBody>
                  <a:tcPr>
                    <a:solidFill>
                      <a:srgbClr val="E8EAF6"/>
                    </a:solidFill>
                  </a:tcPr>
                </a:tc>
                <a:tc>
                  <a:txBody>
                    <a:bodyPr/>
                    <a:lstStyle/>
                    <a:p>
                      <a:pPr algn="l"/>
                      <a:r>
                        <a:rPr sz="900"/>
                        <a:t>Missing side-effect</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E8EAF6"/>
                    </a:solidFill>
                  </a:tcPr>
                </a:tc>
              </a:tr>
              <a:tr h="462280">
                <a:tc>
                  <a:txBody>
                    <a:bodyPr/>
                    <a:lstStyle/>
                    <a:p>
                      <a:pPr algn="ctr"/>
                      <a:r>
                        <a:rPr sz="900"/>
                        <a:t>RB6</a:t>
                      </a:r>
                    </a:p>
                  </a:txBody>
                  <a:tcPr>
                    <a:solidFill>
                      <a:srgbClr val="FFFFFF"/>
                    </a:solidFill>
                  </a:tcPr>
                </a:tc>
                <a:tc>
                  <a:txBody>
                    <a:bodyPr/>
                    <a:lstStyle/>
                    <a:p>
                      <a:pPr algn="l"/>
                      <a:r>
                        <a:rPr sz="900"/>
                        <a:t>routes/reviews.js</a:t>
                      </a:r>
                    </a:p>
                  </a:txBody>
                  <a:tcPr>
                    <a:solidFill>
                      <a:srgbClr val="FFFFFF"/>
                    </a:solidFill>
                  </a:tcPr>
                </a:tc>
                <a:tc>
                  <a:txBody>
                    <a:bodyPr/>
                    <a:lstStyle/>
                    <a:p>
                      <a:pPr algn="l"/>
                      <a:r>
                        <a:rPr sz="900"/>
                        <a:t>Review guard checks 'cancelled' instead of 'delivered'</a:t>
                      </a:r>
                    </a:p>
                  </a:txBody>
                  <a:tcPr>
                    <a:solidFill>
                      <a:srgbClr val="FFFFFF"/>
                    </a:solidFill>
                  </a:tcPr>
                </a:tc>
                <a:tc>
                  <a:txBody>
                    <a:bodyPr/>
                    <a:lstStyle/>
                    <a:p>
                      <a:pPr algn="l"/>
                      <a:r>
                        <a:rPr sz="900"/>
                        <a:t>Wrong conditional</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r h="462280">
                <a:tc>
                  <a:txBody>
                    <a:bodyPr/>
                    <a:lstStyle/>
                    <a:p>
                      <a:pPr algn="ctr"/>
                      <a:r>
                        <a:rPr sz="900"/>
                        <a:t>RB7</a:t>
                      </a:r>
                    </a:p>
                  </a:txBody>
                  <a:tcPr>
                    <a:solidFill>
                      <a:srgbClr val="E8EAF6"/>
                    </a:solidFill>
                  </a:tcPr>
                </a:tc>
                <a:tc>
                  <a:txBody>
                    <a:bodyPr/>
                    <a:lstStyle/>
                    <a:p>
                      <a:pPr algn="l"/>
                      <a:r>
                        <a:rPr sz="900"/>
                        <a:t>models/Cart.js</a:t>
                      </a:r>
                    </a:p>
                  </a:txBody>
                  <a:tcPr>
                    <a:solidFill>
                      <a:srgbClr val="E8EAF6"/>
                    </a:solidFill>
                  </a:tcPr>
                </a:tc>
                <a:tc>
                  <a:txBody>
                    <a:bodyPr/>
                    <a:lstStyle/>
                    <a:p>
                      <a:pPr algn="l"/>
                      <a:r>
                        <a:rPr sz="900"/>
                        <a:t>Cart total ignores quantity (price only, not price×qty)</a:t>
                      </a:r>
                    </a:p>
                  </a:txBody>
                  <a:tcPr>
                    <a:solidFill>
                      <a:srgbClr val="E8EAF6"/>
                    </a:solidFill>
                  </a:tcPr>
                </a:tc>
                <a:tc>
                  <a:txBody>
                    <a:bodyPr/>
                    <a:lstStyle/>
                    <a:p>
                      <a:pPr algn="l"/>
                      <a:r>
                        <a:rPr sz="900"/>
                        <a:t>Wrong calculation</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E8EAF6"/>
                    </a:solidFill>
                  </a:tcPr>
                </a:tc>
              </a:tr>
              <a:tr h="462280">
                <a:tc>
                  <a:txBody>
                    <a:bodyPr/>
                    <a:lstStyle/>
                    <a:p>
                      <a:pPr algn="ctr"/>
                      <a:r>
                        <a:rPr sz="900"/>
                        <a:t>RB8</a:t>
                      </a:r>
                    </a:p>
                  </a:txBody>
                  <a:tcPr>
                    <a:solidFill>
                      <a:srgbClr val="FFFFFF"/>
                    </a:solidFill>
                  </a:tcPr>
                </a:tc>
                <a:tc>
                  <a:txBody>
                    <a:bodyPr/>
                    <a:lstStyle/>
                    <a:p>
                      <a:pPr algn="l"/>
                      <a:r>
                        <a:rPr sz="900"/>
                        <a:t>routes/cart.js</a:t>
                      </a:r>
                    </a:p>
                  </a:txBody>
                  <a:tcPr>
                    <a:solidFill>
                      <a:srgbClr val="FFFFFF"/>
                    </a:solidFill>
                  </a:tcPr>
                </a:tc>
                <a:tc>
                  <a:txBody>
                    <a:bodyPr/>
                    <a:lstStyle/>
                    <a:p>
                      <a:pPr algn="l"/>
                      <a:r>
                        <a:rPr sz="900"/>
                        <a:t>Cart quantity allows 0 (should reject quantity ≤ 0)</a:t>
                      </a:r>
                    </a:p>
                  </a:txBody>
                  <a:tcPr>
                    <a:solidFill>
                      <a:srgbClr val="FFFFFF"/>
                    </a:solidFill>
                  </a:tcPr>
                </a:tc>
                <a:tc>
                  <a:txBody>
                    <a:bodyPr/>
                    <a:lstStyle/>
                    <a:p>
                      <a:pPr algn="l"/>
                      <a:r>
                        <a:rPr sz="900"/>
                        <a:t>Wrong guard</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FFFFFF"/>
                    </a:solidFill>
                  </a:tcPr>
                </a:tc>
              </a:tr>
            </a:tbl>
          </a:graphicData>
        </a:graphic>
      </p:graphicFrame>
      <p:sp>
        <p:nvSpPr>
          <p:cNvPr id="6" name="Rectangle 5"/>
          <p:cNvSpPr/>
          <p:nvPr/>
        </p:nvSpPr>
        <p:spPr>
          <a:xfrm>
            <a:off x="274320" y="5330952"/>
            <a:ext cx="11612880" cy="457200"/>
          </a:xfrm>
          <a:prstGeom prst="rect">
            <a:avLst/>
          </a:prstGeom>
          <a:solidFill>
            <a:srgbClr val="E8F5E9"/>
          </a:solidFill>
          <a:ln w="63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376672"/>
            <a:ext cx="11247120" cy="384048"/>
          </a:xfrm>
          <a:prstGeom prst="rect">
            <a:avLst/>
          </a:prstGeom>
          <a:noFill/>
        </p:spPr>
        <p:txBody>
          <a:bodyPr wrap="square">
            <a:spAutoFit/>
          </a:bodyPr>
          <a:lstStyle/>
          <a:p>
            <a:pPr algn="ctr"/>
            <a:r>
              <a:rPr sz="1000" b="1" i="0">
                <a:solidFill>
                  <a:srgbClr val="2E7D32"/>
                </a:solidFill>
              </a:rPr>
              <a:t>Mutation Score: 8 / 8 (100%)   |   One-bug-at-a-time isolation testing. All bugs detectable via postcondition assertions.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E-Commerce Backend — Results &amp; Bug Descriptions</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097280"/>
          <a:ext cx="11612877" cy="4160520"/>
        </p:xfrm>
        <a:graphic>
          <a:graphicData uri="http://schemas.openxmlformats.org/drawingml/2006/table">
            <a:tbl>
              <a:tblPr firstRow="1" bandRow="1">
                <a:tableStyleId>{5C22544A-7EE6-4342-B048-85BDC9FD1C3A}</a:tableStyleId>
              </a:tblPr>
              <a:tblGrid>
                <a:gridCol w="800888"/>
                <a:gridCol w="2803108"/>
                <a:gridCol w="3603997"/>
                <a:gridCol w="2402664"/>
                <a:gridCol w="1201332"/>
                <a:gridCol w="800888"/>
              </a:tblGrid>
              <a:tr h="462280">
                <a:tc>
                  <a:txBody>
                    <a:bodyPr/>
                    <a:lstStyle/>
                    <a:p>
                      <a:pPr algn="ctr"/>
                      <a:r>
                        <a:rPr b="1" sz="1000">
                          <a:solidFill>
                            <a:srgbClr val="FFFFFF"/>
                          </a:solidFill>
                        </a:rPr>
                        <a:t>Bug</a:t>
                      </a:r>
                    </a:p>
                  </a:txBody>
                  <a:tcPr>
                    <a:solidFill>
                      <a:srgbClr val="1A237E"/>
                    </a:solidFill>
                  </a:tcPr>
                </a:tc>
                <a:tc>
                  <a:txBody>
                    <a:bodyPr/>
                    <a:lstStyle/>
                    <a:p>
                      <a:pPr algn="ctr"/>
                      <a:r>
                        <a:rPr b="1" sz="1000">
                          <a:solidFill>
                            <a:srgbClr val="FFFFFF"/>
                          </a:solidFill>
                        </a:rPr>
                        <a:t>Location</a:t>
                      </a:r>
                    </a:p>
                  </a:txBody>
                  <a:tcPr>
                    <a:solidFill>
                      <a:srgbClr val="1A237E"/>
                    </a:solidFill>
                  </a:tcPr>
                </a:tc>
                <a:tc>
                  <a:txBody>
                    <a:bodyPr/>
                    <a:lstStyle/>
                    <a:p>
                      <a:pPr algn="ctr"/>
                      <a:r>
                        <a:rPr b="1" sz="1000">
                          <a:solidFill>
                            <a:srgbClr val="FFFFFF"/>
                          </a:solidFill>
                        </a:rPr>
                        <a:t>Description</a:t>
                      </a:r>
                    </a:p>
                  </a:txBody>
                  <a:tcPr>
                    <a:solidFill>
                      <a:srgbClr val="1A237E"/>
                    </a:solidFill>
                  </a:tcPr>
                </a:tc>
                <a:tc>
                  <a:txBody>
                    <a:bodyPr/>
                    <a:lstStyle/>
                    <a:p>
                      <a:pPr algn="ctr"/>
                      <a:r>
                        <a:rPr b="1" sz="1000">
                          <a:solidFill>
                            <a:srgbClr val="FFFFFF"/>
                          </a:solidFill>
                        </a:rPr>
                        <a:t>Bug Type</a:t>
                      </a:r>
                    </a:p>
                  </a:txBody>
                  <a:tcPr>
                    <a:solidFill>
                      <a:srgbClr val="1A237E"/>
                    </a:solidFill>
                  </a:tcPr>
                </a:tc>
                <a:tc>
                  <a:txBody>
                    <a:bodyPr/>
                    <a:lstStyle/>
                    <a:p>
                      <a:pPr algn="ctr"/>
                      <a:r>
                        <a:rPr b="1" sz="1000">
                          <a:solidFill>
                            <a:srgbClr val="FFFFFF"/>
                          </a:solidFill>
                        </a:rPr>
                        <a:t>Detected</a:t>
                      </a:r>
                    </a:p>
                  </a:txBody>
                  <a:tcPr>
                    <a:solidFill>
                      <a:srgbClr val="1A237E"/>
                    </a:solidFill>
                  </a:tcPr>
                </a:tc>
                <a:tc>
                  <a:txBody>
                    <a:bodyPr/>
                    <a:lstStyle/>
                    <a:p>
                      <a:pPr algn="ctr"/>
                      <a:r>
                        <a:rPr b="1" sz="1000">
                          <a:solidFill>
                            <a:srgbClr val="FFFFFF"/>
                          </a:solidFill>
                        </a:rPr>
                        <a:t>Depth</a:t>
                      </a:r>
                    </a:p>
                  </a:txBody>
                  <a:tcPr>
                    <a:solidFill>
                      <a:srgbClr val="1A237E"/>
                    </a:solidFill>
                  </a:tcPr>
                </a:tc>
              </a:tr>
              <a:tr h="462280">
                <a:tc>
                  <a:txBody>
                    <a:bodyPr/>
                    <a:lstStyle/>
                    <a:p>
                      <a:pPr algn="ctr"/>
                      <a:r>
                        <a:rPr sz="900"/>
                        <a:t>EB1</a:t>
                      </a:r>
                    </a:p>
                  </a:txBody>
                  <a:tcPr>
                    <a:solidFill>
                      <a:srgbClr val="E8EAF6"/>
                    </a:solidFill>
                  </a:tcPr>
                </a:tc>
                <a:tc>
                  <a:txBody>
                    <a:bodyPr/>
                    <a:lstStyle/>
                    <a:p>
                      <a:pPr algn="l"/>
                      <a:r>
                        <a:rPr sz="900"/>
                        <a:t>authController.js</a:t>
                      </a:r>
                    </a:p>
                  </a:txBody>
                  <a:tcPr>
                    <a:solidFill>
                      <a:srgbClr val="E8EAF6"/>
                    </a:solidFill>
                  </a:tcPr>
                </a:tc>
                <a:tc>
                  <a:txBody>
                    <a:bodyPr/>
                    <a:lstStyle/>
                    <a:p>
                      <a:pPr algn="l"/>
                      <a:r>
                        <a:rPr sz="900"/>
                        <a:t>User registered but not saved to DB (id=null returned)</a:t>
                      </a:r>
                    </a:p>
                  </a:txBody>
                  <a:tcPr>
                    <a:solidFill>
                      <a:srgbClr val="E8EAF6"/>
                    </a:solidFill>
                  </a:tcPr>
                </a:tc>
                <a:tc>
                  <a:txBody>
                    <a:bodyPr/>
                    <a:lstStyle/>
                    <a:p>
                      <a:pPr algn="l"/>
                      <a:r>
                        <a:rPr sz="900"/>
                        <a:t>Save without persist</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E8EAF6"/>
                    </a:solidFill>
                  </a:tcPr>
                </a:tc>
              </a:tr>
              <a:tr h="462280">
                <a:tc>
                  <a:txBody>
                    <a:bodyPr/>
                    <a:lstStyle/>
                    <a:p>
                      <a:pPr algn="ctr"/>
                      <a:r>
                        <a:rPr sz="900"/>
                        <a:t>EB2</a:t>
                      </a:r>
                    </a:p>
                  </a:txBody>
                  <a:tcPr>
                    <a:solidFill>
                      <a:srgbClr val="FFFFFF"/>
                    </a:solidFill>
                  </a:tcPr>
                </a:tc>
                <a:tc>
                  <a:txBody>
                    <a:bodyPr/>
                    <a:lstStyle/>
                    <a:p>
                      <a:pPr algn="l"/>
                      <a:r>
                        <a:rPr sz="900"/>
                        <a:t>productController.js</a:t>
                      </a:r>
                    </a:p>
                  </a:txBody>
                  <a:tcPr>
                    <a:solidFill>
                      <a:srgbClr val="FFFFFF"/>
                    </a:solidFill>
                  </a:tcPr>
                </a:tc>
                <a:tc>
                  <a:txBody>
                    <a:bodyPr/>
                    <a:lstStyle/>
                    <a:p>
                      <a:pPr algn="l"/>
                      <a:r>
                        <a:rPr sz="900"/>
                        <a:t>Product created but not saved to DB (id=null returned)</a:t>
                      </a:r>
                    </a:p>
                  </a:txBody>
                  <a:tcPr>
                    <a:solidFill>
                      <a:srgbClr val="FFFFFF"/>
                    </a:solidFill>
                  </a:tcPr>
                </a:tc>
                <a:tc>
                  <a:txBody>
                    <a:bodyPr/>
                    <a:lstStyle/>
                    <a:p>
                      <a:pPr algn="l"/>
                      <a:r>
                        <a:rPr sz="900"/>
                        <a:t>Save without persist</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FFFFFF"/>
                    </a:solidFill>
                  </a:tcPr>
                </a:tc>
              </a:tr>
              <a:tr h="462280">
                <a:tc>
                  <a:txBody>
                    <a:bodyPr/>
                    <a:lstStyle/>
                    <a:p>
                      <a:pPr algn="ctr"/>
                      <a:r>
                        <a:rPr sz="900"/>
                        <a:t>EB3</a:t>
                      </a:r>
                    </a:p>
                  </a:txBody>
                  <a:tcPr>
                    <a:solidFill>
                      <a:srgbClr val="E8EAF6"/>
                    </a:solidFill>
                  </a:tcPr>
                </a:tc>
                <a:tc>
                  <a:txBody>
                    <a:bodyPr/>
                    <a:lstStyle/>
                    <a:p>
                      <a:pPr algn="l"/>
                      <a:r>
                        <a:rPr sz="900"/>
                        <a:t>orderController.js</a:t>
                      </a:r>
                    </a:p>
                  </a:txBody>
                  <a:tcPr>
                    <a:solidFill>
                      <a:srgbClr val="E8EAF6"/>
                    </a:solidFill>
                  </a:tcPr>
                </a:tc>
                <a:tc>
                  <a:txBody>
                    <a:bodyPr/>
                    <a:lstStyle/>
                    <a:p>
                      <a:pPr algn="l"/>
                      <a:r>
                        <a:rPr sz="900"/>
                        <a:t>Order status field set to wrong value after creation</a:t>
                      </a:r>
                    </a:p>
                  </a:txBody>
                  <a:tcPr>
                    <a:solidFill>
                      <a:srgbClr val="E8EAF6"/>
                    </a:solidFill>
                  </a:tcPr>
                </a:tc>
                <a:tc>
                  <a:txBody>
                    <a:bodyPr/>
                    <a:lstStyle/>
                    <a:p>
                      <a:pPr algn="l"/>
                      <a:r>
                        <a:rPr sz="900"/>
                        <a:t>Wrong field value</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E8EAF6"/>
                    </a:solidFill>
                  </a:tcPr>
                </a:tc>
              </a:tr>
              <a:tr h="462280">
                <a:tc>
                  <a:txBody>
                    <a:bodyPr/>
                    <a:lstStyle/>
                    <a:p>
                      <a:pPr algn="ctr"/>
                      <a:r>
                        <a:rPr sz="900"/>
                        <a:t>EB4</a:t>
                      </a:r>
                    </a:p>
                  </a:txBody>
                  <a:tcPr>
                    <a:solidFill>
                      <a:srgbClr val="FFFFFF"/>
                    </a:solidFill>
                  </a:tcPr>
                </a:tc>
                <a:tc>
                  <a:txBody>
                    <a:bodyPr/>
                    <a:lstStyle/>
                    <a:p>
                      <a:pPr algn="l"/>
                      <a:r>
                        <a:rPr sz="900"/>
                        <a:t>cartController.js</a:t>
                      </a:r>
                    </a:p>
                  </a:txBody>
                  <a:tcPr>
                    <a:solidFill>
                      <a:srgbClr val="FFFFFF"/>
                    </a:solidFill>
                  </a:tcPr>
                </a:tc>
                <a:tc>
                  <a:txBody>
                    <a:bodyPr/>
                    <a:lstStyle/>
                    <a:p>
                      <a:pPr algn="l"/>
                      <a:r>
                        <a:rPr sz="900"/>
                        <a:t>Cart quantity doubled — added with qty×2 instead of qty</a:t>
                      </a:r>
                    </a:p>
                  </a:txBody>
                  <a:tcPr>
                    <a:solidFill>
                      <a:srgbClr val="FFFFFF"/>
                    </a:solidFill>
                  </a:tcPr>
                </a:tc>
                <a:tc>
                  <a:txBody>
                    <a:bodyPr/>
                    <a:lstStyle/>
                    <a:p>
                      <a:pPr algn="l"/>
                      <a:r>
                        <a:rPr sz="900"/>
                        <a:t>Wrong field value</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r h="462280">
                <a:tc>
                  <a:txBody>
                    <a:bodyPr/>
                    <a:lstStyle/>
                    <a:p>
                      <a:pPr algn="ctr"/>
                      <a:r>
                        <a:rPr sz="900"/>
                        <a:t>EB5</a:t>
                      </a:r>
                    </a:p>
                  </a:txBody>
                  <a:tcPr>
                    <a:solidFill>
                      <a:srgbClr val="E8EAF6"/>
                    </a:solidFill>
                  </a:tcPr>
                </a:tc>
                <a:tc>
                  <a:txBody>
                    <a:bodyPr/>
                    <a:lstStyle/>
                    <a:p>
                      <a:pPr algn="l"/>
                      <a:r>
                        <a:rPr sz="900"/>
                        <a:t>reviewController.js</a:t>
                      </a:r>
                    </a:p>
                  </a:txBody>
                  <a:tcPr>
                    <a:solidFill>
                      <a:srgbClr val="E8EAF6"/>
                    </a:solidFill>
                  </a:tcPr>
                </a:tc>
                <a:tc>
                  <a:txBody>
                    <a:bodyPr/>
                    <a:lstStyle/>
                    <a:p>
                      <a:pPr algn="l"/>
                      <a:r>
                        <a:rPr sz="900"/>
                        <a:t>Review submitted but not saved to DB</a:t>
                      </a:r>
                    </a:p>
                  </a:txBody>
                  <a:tcPr>
                    <a:solidFill>
                      <a:srgbClr val="E8EAF6"/>
                    </a:solidFill>
                  </a:tcPr>
                </a:tc>
                <a:tc>
                  <a:txBody>
                    <a:bodyPr/>
                    <a:lstStyle/>
                    <a:p>
                      <a:pPr algn="l"/>
                      <a:r>
                        <a:rPr sz="900"/>
                        <a:t>Missing side-effect</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E8EAF6"/>
                    </a:solidFill>
                  </a:tcPr>
                </a:tc>
              </a:tr>
              <a:tr h="462280">
                <a:tc>
                  <a:txBody>
                    <a:bodyPr/>
                    <a:lstStyle/>
                    <a:p>
                      <a:pPr algn="ctr"/>
                      <a:r>
                        <a:rPr sz="900"/>
                        <a:t>EB6</a:t>
                      </a:r>
                    </a:p>
                  </a:txBody>
                  <a:tcPr>
                    <a:solidFill>
                      <a:srgbClr val="FFFFFF"/>
                    </a:solidFill>
                  </a:tcPr>
                </a:tc>
                <a:tc>
                  <a:txBody>
                    <a:bodyPr/>
                    <a:lstStyle/>
                    <a:p>
                      <a:pPr algn="l"/>
                      <a:r>
                        <a:rPr sz="900"/>
                        <a:t>orderController.js</a:t>
                      </a:r>
                    </a:p>
                  </a:txBody>
                  <a:tcPr>
                    <a:solidFill>
                      <a:srgbClr val="FFFFFF"/>
                    </a:solidFill>
                  </a:tcPr>
                </a:tc>
                <a:tc>
                  <a:txBody>
                    <a:bodyPr/>
                    <a:lstStyle/>
                    <a:p>
                      <a:pPr algn="l"/>
                      <a:r>
                        <a:rPr sz="900"/>
                        <a:t>Total = sum of prices only, ignores quantity multiplier</a:t>
                      </a:r>
                    </a:p>
                  </a:txBody>
                  <a:tcPr>
                    <a:solidFill>
                      <a:srgbClr val="FFFFFF"/>
                    </a:solidFill>
                  </a:tcPr>
                </a:tc>
                <a:tc>
                  <a:txBody>
                    <a:bodyPr/>
                    <a:lstStyle/>
                    <a:p>
                      <a:pPr algn="l"/>
                      <a:r>
                        <a:rPr sz="900"/>
                        <a:t>Wrong calculation</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r h="462280">
                <a:tc>
                  <a:txBody>
                    <a:bodyPr/>
                    <a:lstStyle/>
                    <a:p>
                      <a:pPr algn="ctr"/>
                      <a:r>
                        <a:rPr sz="900"/>
                        <a:t>EB7</a:t>
                      </a:r>
                    </a:p>
                  </a:txBody>
                  <a:tcPr>
                    <a:solidFill>
                      <a:srgbClr val="E8EAF6"/>
                    </a:solidFill>
                  </a:tcPr>
                </a:tc>
                <a:tc>
                  <a:txBody>
                    <a:bodyPr/>
                    <a:lstStyle/>
                    <a:p>
                      <a:pPr algn="l"/>
                      <a:r>
                        <a:rPr sz="900"/>
                        <a:t>productController.js</a:t>
                      </a:r>
                    </a:p>
                  </a:txBody>
                  <a:tcPr>
                    <a:solidFill>
                      <a:srgbClr val="E8EAF6"/>
                    </a:solidFill>
                  </a:tcPr>
                </a:tc>
                <a:tc>
                  <a:txBody>
                    <a:bodyPr/>
                    <a:lstStyle/>
                    <a:p>
                      <a:pPr algn="l"/>
                      <a:r>
                        <a:rPr sz="900"/>
                        <a:t>Buyer role can delete products (seller-only operation)</a:t>
                      </a:r>
                    </a:p>
                  </a:txBody>
                  <a:tcPr>
                    <a:solidFill>
                      <a:srgbClr val="E8EAF6"/>
                    </a:solidFill>
                  </a:tcPr>
                </a:tc>
                <a:tc>
                  <a:txBody>
                    <a:bodyPr/>
                    <a:lstStyle/>
                    <a:p>
                      <a:pPr algn="l"/>
                      <a:r>
                        <a:rPr sz="900"/>
                        <a:t>Auth bypass</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E8EAF6"/>
                    </a:solidFill>
                  </a:tcPr>
                </a:tc>
              </a:tr>
              <a:tr h="462280">
                <a:tc>
                  <a:txBody>
                    <a:bodyPr/>
                    <a:lstStyle/>
                    <a:p>
                      <a:pPr algn="ctr"/>
                      <a:r>
                        <a:rPr sz="900"/>
                        <a:t>EB8</a:t>
                      </a:r>
                    </a:p>
                  </a:txBody>
                  <a:tcPr>
                    <a:solidFill>
                      <a:srgbClr val="FFFFFF"/>
                    </a:solidFill>
                  </a:tcPr>
                </a:tc>
                <a:tc>
                  <a:txBody>
                    <a:bodyPr/>
                    <a:lstStyle/>
                    <a:p>
                      <a:pPr algn="l"/>
                      <a:r>
                        <a:rPr sz="900"/>
                        <a:t>cartController.js</a:t>
                      </a:r>
                    </a:p>
                  </a:txBody>
                  <a:tcPr>
                    <a:solidFill>
                      <a:srgbClr val="FFFFFF"/>
                    </a:solidFill>
                  </a:tcPr>
                </a:tc>
                <a:tc>
                  <a:txBody>
                    <a:bodyPr/>
                    <a:lstStyle/>
                    <a:p>
                      <a:pPr algn="l"/>
                      <a:r>
                        <a:rPr sz="900"/>
                        <a:t>Add to cart succeeds even when quantity exceeds stock</a:t>
                      </a:r>
                    </a:p>
                  </a:txBody>
                  <a:tcPr>
                    <a:solidFill>
                      <a:srgbClr val="FFFFFF"/>
                    </a:solidFill>
                  </a:tcPr>
                </a:tc>
                <a:tc>
                  <a:txBody>
                    <a:bodyPr/>
                    <a:lstStyle/>
                    <a:p>
                      <a:pPr algn="l"/>
                      <a:r>
                        <a:rPr sz="900"/>
                        <a:t>Wrong guard</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bl>
          </a:graphicData>
        </a:graphic>
      </p:graphicFrame>
      <p:sp>
        <p:nvSpPr>
          <p:cNvPr id="6" name="Rectangle 5"/>
          <p:cNvSpPr/>
          <p:nvPr/>
        </p:nvSpPr>
        <p:spPr>
          <a:xfrm>
            <a:off x="274320" y="5330952"/>
            <a:ext cx="11612880" cy="457200"/>
          </a:xfrm>
          <a:prstGeom prst="rect">
            <a:avLst/>
          </a:prstGeom>
          <a:solidFill>
            <a:srgbClr val="E8F5E9"/>
          </a:solidFill>
          <a:ln w="63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376672"/>
            <a:ext cx="11247120" cy="384048"/>
          </a:xfrm>
          <a:prstGeom prst="rect">
            <a:avLst/>
          </a:prstGeom>
          <a:noFill/>
        </p:spPr>
        <p:txBody>
          <a:bodyPr wrap="square">
            <a:spAutoFit/>
          </a:bodyPr>
          <a:lstStyle/>
          <a:p>
            <a:pPr algn="ctr"/>
            <a:r>
              <a:rPr sz="1000" b="1" i="0">
                <a:solidFill>
                  <a:srgbClr val="2E7D32"/>
                </a:solidFill>
              </a:rPr>
              <a:t>Mutation Score: 8 / 8 (100%)   |   All bugs designed as state-change mutations → detectable via postcondition assertions.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Library Backend — Results &amp; Bug Descriptions</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097280"/>
          <a:ext cx="11612877" cy="4160520"/>
        </p:xfrm>
        <a:graphic>
          <a:graphicData uri="http://schemas.openxmlformats.org/drawingml/2006/table">
            <a:tbl>
              <a:tblPr firstRow="1" bandRow="1">
                <a:tableStyleId>{5C22544A-7EE6-4342-B048-85BDC9FD1C3A}</a:tableStyleId>
              </a:tblPr>
              <a:tblGrid>
                <a:gridCol w="795402"/>
                <a:gridCol w="2783909"/>
                <a:gridCol w="3817933"/>
                <a:gridCol w="2227127"/>
                <a:gridCol w="1193104"/>
                <a:gridCol w="795402"/>
              </a:tblGrid>
              <a:tr h="462280">
                <a:tc>
                  <a:txBody>
                    <a:bodyPr/>
                    <a:lstStyle/>
                    <a:p>
                      <a:pPr algn="ctr"/>
                      <a:r>
                        <a:rPr b="1" sz="1000">
                          <a:solidFill>
                            <a:srgbClr val="FFFFFF"/>
                          </a:solidFill>
                        </a:rPr>
                        <a:t>Bug</a:t>
                      </a:r>
                    </a:p>
                  </a:txBody>
                  <a:tcPr>
                    <a:solidFill>
                      <a:srgbClr val="1A237E"/>
                    </a:solidFill>
                  </a:tcPr>
                </a:tc>
                <a:tc>
                  <a:txBody>
                    <a:bodyPr/>
                    <a:lstStyle/>
                    <a:p>
                      <a:pPr algn="ctr"/>
                      <a:r>
                        <a:rPr b="1" sz="1000">
                          <a:solidFill>
                            <a:srgbClr val="FFFFFF"/>
                          </a:solidFill>
                        </a:rPr>
                        <a:t>Location</a:t>
                      </a:r>
                    </a:p>
                  </a:txBody>
                  <a:tcPr>
                    <a:solidFill>
                      <a:srgbClr val="1A237E"/>
                    </a:solidFill>
                  </a:tcPr>
                </a:tc>
                <a:tc>
                  <a:txBody>
                    <a:bodyPr/>
                    <a:lstStyle/>
                    <a:p>
                      <a:pPr algn="ctr"/>
                      <a:r>
                        <a:rPr b="1" sz="1000">
                          <a:solidFill>
                            <a:srgbClr val="FFFFFF"/>
                          </a:solidFill>
                        </a:rPr>
                        <a:t>Description</a:t>
                      </a:r>
                    </a:p>
                  </a:txBody>
                  <a:tcPr>
                    <a:solidFill>
                      <a:srgbClr val="1A237E"/>
                    </a:solidFill>
                  </a:tcPr>
                </a:tc>
                <a:tc>
                  <a:txBody>
                    <a:bodyPr/>
                    <a:lstStyle/>
                    <a:p>
                      <a:pPr algn="ctr"/>
                      <a:r>
                        <a:rPr b="1" sz="1000">
                          <a:solidFill>
                            <a:srgbClr val="FFFFFF"/>
                          </a:solidFill>
                        </a:rPr>
                        <a:t>Bug Type</a:t>
                      </a:r>
                    </a:p>
                  </a:txBody>
                  <a:tcPr>
                    <a:solidFill>
                      <a:srgbClr val="1A237E"/>
                    </a:solidFill>
                  </a:tcPr>
                </a:tc>
                <a:tc>
                  <a:txBody>
                    <a:bodyPr/>
                    <a:lstStyle/>
                    <a:p>
                      <a:pPr algn="ctr"/>
                      <a:r>
                        <a:rPr b="1" sz="1000">
                          <a:solidFill>
                            <a:srgbClr val="FFFFFF"/>
                          </a:solidFill>
                        </a:rPr>
                        <a:t>Detected</a:t>
                      </a:r>
                    </a:p>
                  </a:txBody>
                  <a:tcPr>
                    <a:solidFill>
                      <a:srgbClr val="1A237E"/>
                    </a:solidFill>
                  </a:tcPr>
                </a:tc>
                <a:tc>
                  <a:txBody>
                    <a:bodyPr/>
                    <a:lstStyle/>
                    <a:p>
                      <a:pPr algn="ctr"/>
                      <a:r>
                        <a:rPr b="1" sz="1000">
                          <a:solidFill>
                            <a:srgbClr val="FFFFFF"/>
                          </a:solidFill>
                        </a:rPr>
                        <a:t>Depth</a:t>
                      </a:r>
                    </a:p>
                  </a:txBody>
                  <a:tcPr>
                    <a:solidFill>
                      <a:srgbClr val="1A237E"/>
                    </a:solidFill>
                  </a:tcPr>
                </a:tc>
              </a:tr>
              <a:tr h="462280">
                <a:tc>
                  <a:txBody>
                    <a:bodyPr/>
                    <a:lstStyle/>
                    <a:p>
                      <a:pPr algn="ctr"/>
                      <a:r>
                        <a:rPr sz="900"/>
                        <a:t>LB1</a:t>
                      </a:r>
                    </a:p>
                  </a:txBody>
                  <a:tcPr>
                    <a:solidFill>
                      <a:srgbClr val="E8EAF6"/>
                    </a:solidFill>
                  </a:tcPr>
                </a:tc>
                <a:tc>
                  <a:txBody>
                    <a:bodyPr/>
                    <a:lstStyle/>
                    <a:p>
                      <a:pPr algn="l"/>
                      <a:r>
                        <a:rPr sz="900"/>
                        <a:t>RequestController.java:167</a:t>
                      </a:r>
                    </a:p>
                  </a:txBody>
                  <a:tcPr>
                    <a:solidFill>
                      <a:srgbClr val="E8EAF6"/>
                    </a:solidFill>
                  </a:tcPr>
                </a:tc>
                <a:tc>
                  <a:txBody>
                    <a:bodyPr/>
                    <a:lstStyle/>
                    <a:p>
                      <a:pPr algn="l"/>
                      <a:r>
                        <a:rPr sz="900"/>
                        <a:t>After loan accepted, original request NOT deleted from DB</a:t>
                      </a:r>
                    </a:p>
                  </a:txBody>
                  <a:tcPr>
                    <a:solidFill>
                      <a:srgbClr val="E8EAF6"/>
                    </a:solidFill>
                  </a:tcPr>
                </a:tc>
                <a:tc>
                  <a:txBody>
                    <a:bodyPr/>
                    <a:lstStyle/>
                    <a:p>
                      <a:pPr algn="l"/>
                      <a:r>
                        <a:rPr sz="900"/>
                        <a:t>Missing side-effect</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4</a:t>
                      </a:r>
                    </a:p>
                  </a:txBody>
                  <a:tcPr>
                    <a:solidFill>
                      <a:srgbClr val="E8EAF6"/>
                    </a:solidFill>
                  </a:tcPr>
                </a:tc>
              </a:tr>
              <a:tr h="462280">
                <a:tc>
                  <a:txBody>
                    <a:bodyPr/>
                    <a:lstStyle/>
                    <a:p>
                      <a:pPr algn="ctr"/>
                      <a:r>
                        <a:rPr sz="900"/>
                        <a:t>LB2</a:t>
                      </a:r>
                    </a:p>
                  </a:txBody>
                  <a:tcPr>
                    <a:solidFill>
                      <a:srgbClr val="FFFFFF"/>
                    </a:solidFill>
                  </a:tcPr>
                </a:tc>
                <a:tc>
                  <a:txBody>
                    <a:bodyPr/>
                    <a:lstStyle/>
                    <a:p>
                      <a:pPr algn="l"/>
                      <a:r>
                        <a:rPr sz="900"/>
                        <a:t>BookService.java:43</a:t>
                      </a:r>
                    </a:p>
                  </a:txBody>
                  <a:tcPr>
                    <a:solidFill>
                      <a:srgbClr val="FFFFFF"/>
                    </a:solidFill>
                  </a:tcPr>
                </a:tc>
                <a:tc>
                  <a:txBody>
                    <a:bodyPr/>
                    <a:lstStyle/>
                    <a:p>
                      <a:pPr algn="l"/>
                      <a:r>
                        <a:rPr sz="900"/>
                        <a:t>deleteBook returns book without calling deleteById() — book stays in DB</a:t>
                      </a:r>
                    </a:p>
                  </a:txBody>
                  <a:tcPr>
                    <a:solidFill>
                      <a:srgbClr val="FFFFFF"/>
                    </a:solidFill>
                  </a:tcPr>
                </a:tc>
                <a:tc>
                  <a:txBody>
                    <a:bodyPr/>
                    <a:lstStyle/>
                    <a:p>
                      <a:pPr algn="l"/>
                      <a:r>
                        <a:rPr sz="900"/>
                        <a:t>Missing side-effect</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r h="462280">
                <a:tc>
                  <a:txBody>
                    <a:bodyPr/>
                    <a:lstStyle/>
                    <a:p>
                      <a:pPr algn="ctr"/>
                      <a:r>
                        <a:rPr sz="900"/>
                        <a:t>LB3</a:t>
                      </a:r>
                    </a:p>
                  </a:txBody>
                  <a:tcPr>
                    <a:solidFill>
                      <a:srgbClr val="E8EAF6"/>
                    </a:solidFill>
                  </a:tcPr>
                </a:tc>
                <a:tc>
                  <a:txBody>
                    <a:bodyPr/>
                    <a:lstStyle/>
                    <a:p>
                      <a:pPr algn="l"/>
                      <a:r>
                        <a:rPr sz="900"/>
                        <a:t>RequestController.java:147</a:t>
                      </a:r>
                    </a:p>
                  </a:txBody>
                  <a:tcPr>
                    <a:solidFill>
                      <a:srgbClr val="E8EAF6"/>
                    </a:solidFill>
                  </a:tcPr>
                </a:tc>
                <a:tc>
                  <a:txBody>
                    <a:bodyPr/>
                    <a:lstStyle/>
                    <a:p>
                      <a:pPr algn="l"/>
                      <a:r>
                        <a:rPr sz="900"/>
                        <a:t>Overlap check inverted: throws error for valid non-overlapping requests</a:t>
                      </a:r>
                    </a:p>
                  </a:txBody>
                  <a:tcPr>
                    <a:solidFill>
                      <a:srgbClr val="E8EAF6"/>
                    </a:solidFill>
                  </a:tcPr>
                </a:tc>
                <a:tc>
                  <a:txBody>
                    <a:bodyPr/>
                    <a:lstStyle/>
                    <a:p>
                      <a:pPr algn="l"/>
                      <a:r>
                        <a:rPr sz="900"/>
                        <a:t>Wrong conditional</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4</a:t>
                      </a:r>
                    </a:p>
                  </a:txBody>
                  <a:tcPr>
                    <a:solidFill>
                      <a:srgbClr val="E8EAF6"/>
                    </a:solidFill>
                  </a:tcPr>
                </a:tc>
              </a:tr>
              <a:tr h="462280">
                <a:tc>
                  <a:txBody>
                    <a:bodyPr/>
                    <a:lstStyle/>
                    <a:p>
                      <a:pPr algn="ctr"/>
                      <a:r>
                        <a:rPr sz="900"/>
                        <a:t>LB4</a:t>
                      </a:r>
                    </a:p>
                  </a:txBody>
                  <a:tcPr>
                    <a:solidFill>
                      <a:srgbClr val="FFFFFF"/>
                    </a:solidFill>
                  </a:tcPr>
                </a:tc>
                <a:tc>
                  <a:txBody>
                    <a:bodyPr/>
                    <a:lstStyle/>
                    <a:p>
                      <a:pPr algn="l"/>
                      <a:r>
                        <a:rPr sz="900"/>
                        <a:t>BookStudentService.java:70</a:t>
                      </a:r>
                    </a:p>
                  </a:txBody>
                  <a:tcPr>
                    <a:solidFill>
                      <a:srgbClr val="FFFFFF"/>
                    </a:solidFill>
                  </a:tcPr>
                </a:tc>
                <a:tc>
                  <a:txBody>
                    <a:bodyPr/>
                    <a:lstStyle/>
                    <a:p>
                      <a:pPr algn="l"/>
                      <a:r>
                        <a:rPr sz="900"/>
                        <a:t>returnBook calls findById instead of deleteById — loan stays in DB</a:t>
                      </a:r>
                    </a:p>
                  </a:txBody>
                  <a:tcPr>
                    <a:solidFill>
                      <a:srgbClr val="FFFFFF"/>
                    </a:solidFill>
                  </a:tcPr>
                </a:tc>
                <a:tc>
                  <a:txBody>
                    <a:bodyPr/>
                    <a:lstStyle/>
                    <a:p>
                      <a:pPr algn="l"/>
                      <a:r>
                        <a:rPr sz="900"/>
                        <a:t>Missing side-effect</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5</a:t>
                      </a:r>
                    </a:p>
                  </a:txBody>
                  <a:tcPr>
                    <a:solidFill>
                      <a:srgbClr val="FFFFFF"/>
                    </a:solidFill>
                  </a:tcPr>
                </a:tc>
              </a:tr>
              <a:tr h="462280">
                <a:tc>
                  <a:txBody>
                    <a:bodyPr/>
                    <a:lstStyle/>
                    <a:p>
                      <a:pPr algn="ctr"/>
                      <a:r>
                        <a:rPr sz="900"/>
                        <a:t>LB5</a:t>
                      </a:r>
                    </a:p>
                  </a:txBody>
                  <a:tcPr>
                    <a:solidFill>
                      <a:srgbClr val="E8EAF6"/>
                    </a:solidFill>
                  </a:tcPr>
                </a:tc>
                <a:tc>
                  <a:txBody>
                    <a:bodyPr/>
                    <a:lstStyle/>
                    <a:p>
                      <a:pPr algn="l"/>
                      <a:r>
                        <a:rPr sz="900"/>
                        <a:t>StudentService.java:50</a:t>
                      </a:r>
                    </a:p>
                  </a:txBody>
                  <a:tcPr>
                    <a:solidFill>
                      <a:srgbClr val="E8EAF6"/>
                    </a:solidFill>
                  </a:tcPr>
                </a:tc>
                <a:tc>
                  <a:txBody>
                    <a:bodyPr/>
                    <a:lstStyle/>
                    <a:p>
                      <a:pPr algn="l"/>
                      <a:r>
                        <a:rPr sz="900"/>
                        <a:t>deleteStudent calls getStudentById instead of deleteStudentById — student stays in DB</a:t>
                      </a:r>
                    </a:p>
                  </a:txBody>
                  <a:tcPr>
                    <a:solidFill>
                      <a:srgbClr val="E8EAF6"/>
                    </a:solidFill>
                  </a:tcPr>
                </a:tc>
                <a:tc>
                  <a:txBody>
                    <a:bodyPr/>
                    <a:lstStyle/>
                    <a:p>
                      <a:pPr algn="l"/>
                      <a:r>
                        <a:rPr sz="900"/>
                        <a:t>Missing side-effect</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E8EAF6"/>
                    </a:solidFill>
                  </a:tcPr>
                </a:tc>
              </a:tr>
              <a:tr h="462280">
                <a:tc>
                  <a:txBody>
                    <a:bodyPr/>
                    <a:lstStyle/>
                    <a:p>
                      <a:pPr algn="ctr"/>
                      <a:r>
                        <a:rPr sz="900"/>
                        <a:t>LB6</a:t>
                      </a:r>
                    </a:p>
                  </a:txBody>
                  <a:tcPr>
                    <a:solidFill>
                      <a:srgbClr val="FFFFFF"/>
                    </a:solidFill>
                  </a:tcPr>
                </a:tc>
                <a:tc>
                  <a:txBody>
                    <a:bodyPr/>
                    <a:lstStyle/>
                    <a:p>
                      <a:pPr algn="l"/>
                      <a:r>
                        <a:rPr sz="900"/>
                        <a:t>BookService.java:57-60</a:t>
                      </a:r>
                    </a:p>
                  </a:txBody>
                  <a:tcPr>
                    <a:solidFill>
                      <a:srgbClr val="FFFFFF"/>
                    </a:solidFill>
                  </a:tcPr>
                </a:tc>
                <a:tc>
                  <a:txBody>
                    <a:bodyPr/>
                    <a:lstStyle/>
                    <a:p>
                      <a:pPr algn="l"/>
                      <a:r>
                        <a:rPr sz="900"/>
                        <a:t>updateBook calls deleteById instead of updateBook — book deleted on 'update'</a:t>
                      </a:r>
                    </a:p>
                  </a:txBody>
                  <a:tcPr>
                    <a:solidFill>
                      <a:srgbClr val="FFFFFF"/>
                    </a:solidFill>
                  </a:tcPr>
                </a:tc>
                <a:tc>
                  <a:txBody>
                    <a:bodyPr/>
                    <a:lstStyle/>
                    <a:p>
                      <a:pPr algn="l"/>
                      <a:r>
                        <a:rPr sz="900"/>
                        <a:t>Wrong operation</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r h="462280">
                <a:tc>
                  <a:txBody>
                    <a:bodyPr/>
                    <a:lstStyle/>
                    <a:p>
                      <a:pPr algn="ctr"/>
                      <a:r>
                        <a:rPr sz="900"/>
                        <a:t>LB7</a:t>
                      </a:r>
                    </a:p>
                  </a:txBody>
                  <a:tcPr>
                    <a:solidFill>
                      <a:srgbClr val="E8EAF6"/>
                    </a:solidFill>
                  </a:tcPr>
                </a:tc>
                <a:tc>
                  <a:txBody>
                    <a:bodyPr/>
                    <a:lstStyle/>
                    <a:p>
                      <a:pPr algn="l"/>
                      <a:r>
                        <a:rPr sz="900"/>
                        <a:t>StudentService.java:40</a:t>
                      </a:r>
                    </a:p>
                  </a:txBody>
                  <a:tcPr>
                    <a:solidFill>
                      <a:srgbClr val="E8EAF6"/>
                    </a:solidFill>
                  </a:tcPr>
                </a:tc>
                <a:tc>
                  <a:txBody>
                    <a:bodyPr/>
                    <a:lstStyle/>
                    <a:p>
                      <a:pPr algn="l"/>
                      <a:r>
                        <a:rPr sz="900"/>
                        <a:t>saveStudent returns input student without calling studentDAO.save() — id=0, not in DB</a:t>
                      </a:r>
                    </a:p>
                  </a:txBody>
                  <a:tcPr>
                    <a:solidFill>
                      <a:srgbClr val="E8EAF6"/>
                    </a:solidFill>
                  </a:tcPr>
                </a:tc>
                <a:tc>
                  <a:txBody>
                    <a:bodyPr/>
                    <a:lstStyle/>
                    <a:p>
                      <a:pPr algn="l"/>
                      <a:r>
                        <a:rPr sz="900"/>
                        <a:t>Save without persist</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E8EAF6"/>
                    </a:solidFill>
                  </a:tcPr>
                </a:tc>
              </a:tr>
              <a:tr h="462280">
                <a:tc>
                  <a:txBody>
                    <a:bodyPr/>
                    <a:lstStyle/>
                    <a:p>
                      <a:pPr algn="ctr"/>
                      <a:r>
                        <a:rPr sz="900"/>
                        <a:t>LB8</a:t>
                      </a:r>
                    </a:p>
                  </a:txBody>
                  <a:tcPr>
                    <a:solidFill>
                      <a:srgbClr val="FFFFFF"/>
                    </a:solidFill>
                  </a:tcPr>
                </a:tc>
                <a:tc>
                  <a:txBody>
                    <a:bodyPr/>
                    <a:lstStyle/>
                    <a:p>
                      <a:pPr algn="l"/>
                      <a:r>
                        <a:rPr sz="900"/>
                        <a:t>BookService.java:33</a:t>
                      </a:r>
                    </a:p>
                  </a:txBody>
                  <a:tcPr>
                    <a:solidFill>
                      <a:srgbClr val="FFFFFF"/>
                    </a:solidFill>
                  </a:tcPr>
                </a:tc>
                <a:tc>
                  <a:txBody>
                    <a:bodyPr/>
                    <a:lstStyle/>
                    <a:p>
                      <a:pPr algn="l"/>
                      <a:r>
                        <a:rPr sz="900"/>
                        <a:t>addBook returns new Book() without calling bookDAO.save() — bookCode=0, not in DB</a:t>
                      </a:r>
                    </a:p>
                  </a:txBody>
                  <a:tcPr>
                    <a:solidFill>
                      <a:srgbClr val="FFFFFF"/>
                    </a:solidFill>
                  </a:tcPr>
                </a:tc>
                <a:tc>
                  <a:txBody>
                    <a:bodyPr/>
                    <a:lstStyle/>
                    <a:p>
                      <a:pPr algn="l"/>
                      <a:r>
                        <a:rPr sz="900"/>
                        <a:t>Save without persist</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FFFFFF"/>
                    </a:solidFill>
                  </a:tcPr>
                </a:tc>
              </a:tr>
            </a:tbl>
          </a:graphicData>
        </a:graphic>
      </p:graphicFrame>
      <p:sp>
        <p:nvSpPr>
          <p:cNvPr id="6" name="Rectangle 5"/>
          <p:cNvSpPr/>
          <p:nvPr/>
        </p:nvSpPr>
        <p:spPr>
          <a:xfrm>
            <a:off x="274320" y="5330952"/>
            <a:ext cx="11612880" cy="457200"/>
          </a:xfrm>
          <a:prstGeom prst="rect">
            <a:avLst/>
          </a:prstGeom>
          <a:solidFill>
            <a:srgbClr val="E8F5E9"/>
          </a:solidFill>
          <a:ln w="63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376672"/>
            <a:ext cx="11247120" cy="384048"/>
          </a:xfrm>
          <a:prstGeom prst="rect">
            <a:avLst/>
          </a:prstGeom>
          <a:noFill/>
        </p:spPr>
        <p:txBody>
          <a:bodyPr wrap="square">
            <a:spAutoFit/>
          </a:bodyPr>
          <a:lstStyle/>
          <a:p>
            <a:pPr algn="ctr"/>
            <a:r>
              <a:rPr sz="1000" b="1" i="0">
                <a:solidFill>
                  <a:srgbClr val="2E7D32"/>
                </a:solidFill>
              </a:rPr>
              <a:t>Mutation Score: 8 / 8 (100%)   |   Spring Boot (Java) + MySQL. Deepest chain: LB4 at depth=5.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Bug Test File Walkthrough — LB8: Book Not Saved (depth=1)</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97280"/>
            <a:ext cx="5486400" cy="4617720"/>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5303520" cy="365760"/>
          </a:xfrm>
          <a:prstGeom prst="rect">
            <a:avLst/>
          </a:prstGeom>
          <a:noFill/>
        </p:spPr>
        <p:txBody>
          <a:bodyPr wrap="square">
            <a:spAutoFit/>
          </a:bodyPr>
          <a:lstStyle/>
          <a:p>
            <a:pPr algn="l"/>
            <a:r>
              <a:rPr sz="1100" b="1" i="0">
                <a:solidFill>
                  <a:srgbClr val="1A237E"/>
                </a:solidFill>
              </a:rPr>
              <a:t>WHAT WAS TESTED</a:t>
            </a:r>
          </a:p>
        </p:txBody>
      </p:sp>
      <p:sp>
        <p:nvSpPr>
          <p:cNvPr id="7" name="TextBox 6"/>
          <p:cNvSpPr txBox="1"/>
          <p:nvPr/>
        </p:nvSpPr>
        <p:spPr>
          <a:xfrm>
            <a:off x="365760" y="1554480"/>
            <a:ext cx="5303520" cy="4114800"/>
          </a:xfrm>
          <a:prstGeom prst="rect">
            <a:avLst/>
          </a:prstGeom>
          <a:noFill/>
        </p:spPr>
        <p:txBody>
          <a:bodyPr wrap="square">
            <a:spAutoFit/>
          </a:bodyPr>
          <a:lstStyle/>
          <a:p>
            <a:pPr algn="l"/>
            <a:r>
              <a:rPr sz="950" b="0" i="0">
                <a:solidFill>
                  <a:srgbClr val="333333"/>
                </a:solidFill>
              </a:rPr>
              <a:t>Bug injected: BookService.java line 33
  return this.bookDAO.saveBook(book)
  → return new Book();  ← never saves to DB
Test string: ['saveBookOk']  (depth=1)
Spec postcondition for saveBookOk:
  in(_result, dom(B'))
  (result ID must exist in the Books table)
HOW IT DETECTED:
new Book() → bookCode=0 (Java default).
HTTP 200 returned with bookCode=0.
get_B() fetches live DB — no code=0 exists.
in('0', dom(B')) → false → ASSERT FAILED.</a:t>
            </a:r>
          </a:p>
        </p:txBody>
      </p:sp>
      <p:sp>
        <p:nvSpPr>
          <p:cNvPr id="8" name="Rectangle 7"/>
          <p:cNvSpPr/>
          <p:nvPr/>
        </p:nvSpPr>
        <p:spPr>
          <a:xfrm>
            <a:off x="6035040" y="1097280"/>
            <a:ext cx="5852160" cy="4617720"/>
          </a:xfrm>
          <a:prstGeom prst="rect">
            <a:avLst/>
          </a:prstGeom>
          <a:solidFill>
            <a:srgbClr val="1A1A2E"/>
          </a:solidFill>
          <a:ln w="63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143000"/>
            <a:ext cx="5669280" cy="365760"/>
          </a:xfrm>
          <a:prstGeom prst="rect">
            <a:avLst/>
          </a:prstGeom>
          <a:noFill/>
        </p:spPr>
        <p:txBody>
          <a:bodyPr wrap="square">
            <a:spAutoFit/>
          </a:bodyPr>
          <a:lstStyle/>
          <a:p>
            <a:pPr algn="l"/>
            <a:r>
              <a:rPr sz="1100" b="1" i="0">
                <a:solidFill>
                  <a:srgbClr val="42A5F5"/>
                </a:solidFill>
              </a:rPr>
              <a:t>PIPELINE OF EXECUTION &amp; OUTPUT</a:t>
            </a:r>
          </a:p>
        </p:txBody>
      </p:sp>
      <p:sp>
        <p:nvSpPr>
          <p:cNvPr id="10" name="TextBox 9"/>
          <p:cNvSpPr txBox="1"/>
          <p:nvPr/>
        </p:nvSpPr>
        <p:spPr>
          <a:xfrm>
            <a:off x="6126480" y="1554480"/>
            <a:ext cx="5669280" cy="246888"/>
          </a:xfrm>
          <a:prstGeom prst="rect">
            <a:avLst/>
          </a:prstGeom>
          <a:noFill/>
        </p:spPr>
        <p:txBody>
          <a:bodyPr wrap="square">
            <a:spAutoFit/>
          </a:bodyPr>
          <a:lstStyle/>
          <a:p>
            <a:pPr algn="l"/>
            <a:r>
              <a:rPr sz="850" b="0" i="0">
                <a:solidFill>
                  <a:srgbClr val="42A5F5"/>
                </a:solidFill>
              </a:rPr>
              <a:t>[SEE iter 1] Symbolic var: bookTitle = ?</a:t>
            </a:r>
          </a:p>
        </p:txBody>
      </p:sp>
      <p:sp>
        <p:nvSpPr>
          <p:cNvPr id="11" name="TextBox 10"/>
          <p:cNvSpPr txBox="1"/>
          <p:nvPr/>
        </p:nvSpPr>
        <p:spPr>
          <a:xfrm>
            <a:off x="6126480" y="1801368"/>
            <a:ext cx="5669280" cy="246888"/>
          </a:xfrm>
          <a:prstGeom prst="rect">
            <a:avLst/>
          </a:prstGeom>
          <a:noFill/>
        </p:spPr>
        <p:txBody>
          <a:bodyPr wrap="square">
            <a:spAutoFit/>
          </a:bodyPr>
          <a:lstStyle/>
          <a:p>
            <a:pPr algn="l"/>
            <a:r>
              <a:rPr sz="850" b="0" i="0">
                <a:solidFill>
                  <a:srgbClr val="FFFFFF"/>
                </a:solidFill>
              </a:rPr>
              <a:t>[SEE] Constraint: bookTitle is a string</a:t>
            </a:r>
          </a:p>
        </p:txBody>
      </p:sp>
      <p:sp>
        <p:nvSpPr>
          <p:cNvPr id="12" name="TextBox 11"/>
          <p:cNvSpPr txBox="1"/>
          <p:nvPr/>
        </p:nvSpPr>
        <p:spPr>
          <a:xfrm>
            <a:off x="6126480" y="2048256"/>
            <a:ext cx="5669280" cy="246888"/>
          </a:xfrm>
          <a:prstGeom prst="rect">
            <a:avLst/>
          </a:prstGeom>
          <a:noFill/>
        </p:spPr>
        <p:txBody>
          <a:bodyPr wrap="square">
            <a:spAutoFit/>
          </a:bodyPr>
          <a:lstStyle/>
          <a:p>
            <a:pPr algn="l"/>
            <a:r>
              <a:rPr sz="850" b="0" i="0">
                <a:solidFill>
                  <a:srgbClr val="FFFFFF"/>
                </a:solidFill>
              </a:rPr>
              <a:t>[Z3]  Solve → bookTitle = 'Test Book 6'</a:t>
            </a:r>
          </a:p>
        </p:txBody>
      </p:sp>
      <p:sp>
        <p:nvSpPr>
          <p:cNvPr id="13" name="TextBox 12"/>
          <p:cNvSpPr txBox="1"/>
          <p:nvPr/>
        </p:nvSpPr>
        <p:spPr>
          <a:xfrm>
            <a:off x="6126480" y="2295144"/>
            <a:ext cx="5669280" cy="246888"/>
          </a:xfrm>
          <a:prstGeom prst="rect">
            <a:avLst/>
          </a:prstGeom>
          <a:noFill/>
        </p:spPr>
        <p:txBody>
          <a:bodyPr wrap="square">
            <a:spAutoFit/>
          </a:bodyPr>
          <a:lstStyle/>
          <a:p>
            <a:pPr algn="l"/>
            <a:r>
              <a:rPr sz="850" b="0" i="0">
                <a:solidFill>
                  <a:srgbClr val="FFFFFF"/>
                </a:solidFill>
              </a:rPr>
              <a:t/>
            </a:r>
          </a:p>
        </p:txBody>
      </p:sp>
      <p:sp>
        <p:nvSpPr>
          <p:cNvPr id="14" name="TextBox 13"/>
          <p:cNvSpPr txBox="1"/>
          <p:nvPr/>
        </p:nvSpPr>
        <p:spPr>
          <a:xfrm>
            <a:off x="6126480" y="2542032"/>
            <a:ext cx="5669280" cy="246888"/>
          </a:xfrm>
          <a:prstGeom prst="rect">
            <a:avLst/>
          </a:prstGeom>
          <a:noFill/>
        </p:spPr>
        <p:txBody>
          <a:bodyPr wrap="square">
            <a:spAutoFit/>
          </a:bodyPr>
          <a:lstStyle/>
          <a:p>
            <a:pPr algn="l"/>
            <a:r>
              <a:rPr sz="850" b="0" i="0">
                <a:solidFill>
                  <a:srgbClr val="42A5F5"/>
                </a:solidFill>
              </a:rPr>
              <a:t>[SEE iter 2] Run with concrete values</a:t>
            </a:r>
          </a:p>
        </p:txBody>
      </p:sp>
      <p:sp>
        <p:nvSpPr>
          <p:cNvPr id="15" name="TextBox 14"/>
          <p:cNvSpPr txBox="1"/>
          <p:nvPr/>
        </p:nvSpPr>
        <p:spPr>
          <a:xfrm>
            <a:off x="6126480" y="2788920"/>
            <a:ext cx="5669280" cy="246888"/>
          </a:xfrm>
          <a:prstGeom prst="rect">
            <a:avLst/>
          </a:prstGeom>
          <a:noFill/>
        </p:spPr>
        <p:txBody>
          <a:bodyPr wrap="square">
            <a:spAutoFit/>
          </a:bodyPr>
          <a:lstStyle/>
          <a:p>
            <a:pPr algn="l"/>
            <a:r>
              <a:rPr sz="850" b="0" i="0">
                <a:solidFill>
                  <a:srgbClr val="FFFFFF"/>
                </a:solidFill>
              </a:rPr>
              <a:t>[SaveBookFunc] POST /books/save</a:t>
            </a:r>
          </a:p>
        </p:txBody>
      </p:sp>
      <p:sp>
        <p:nvSpPr>
          <p:cNvPr id="16" name="TextBox 15"/>
          <p:cNvSpPr txBox="1"/>
          <p:nvPr/>
        </p:nvSpPr>
        <p:spPr>
          <a:xfrm>
            <a:off x="6126480" y="3035808"/>
            <a:ext cx="5669280" cy="246888"/>
          </a:xfrm>
          <a:prstGeom prst="rect">
            <a:avLst/>
          </a:prstGeom>
          <a:noFill/>
        </p:spPr>
        <p:txBody>
          <a:bodyPr wrap="square">
            <a:spAutoFit/>
          </a:bodyPr>
          <a:lstStyle/>
          <a:p>
            <a:pPr algn="l"/>
            <a:r>
              <a:rPr sz="850" b="0" i="0">
                <a:solidFill>
                  <a:srgbClr val="FFCC00"/>
                </a:solidFill>
              </a:rPr>
              <a:t>[HttpClient] → HTTP 200, bookCode=0   ← !</a:t>
            </a:r>
          </a:p>
        </p:txBody>
      </p:sp>
      <p:sp>
        <p:nvSpPr>
          <p:cNvPr id="17" name="TextBox 16"/>
          <p:cNvSpPr txBox="1"/>
          <p:nvPr/>
        </p:nvSpPr>
        <p:spPr>
          <a:xfrm>
            <a:off x="6126480" y="3282696"/>
            <a:ext cx="5669280" cy="246888"/>
          </a:xfrm>
          <a:prstGeom prst="rect">
            <a:avLst/>
          </a:prstGeom>
          <a:noFill/>
        </p:spPr>
        <p:txBody>
          <a:bodyPr wrap="square">
            <a:spAutoFit/>
          </a:bodyPr>
          <a:lstStyle/>
          <a:p>
            <a:pPr algn="l"/>
            <a:r>
              <a:rPr sz="850" b="0" i="0">
                <a:solidFill>
                  <a:srgbClr val="FFFFFF"/>
                </a:solidFill>
              </a:rPr>
              <a:t>[ASSIGN] _result0 := '0'</a:t>
            </a:r>
          </a:p>
        </p:txBody>
      </p:sp>
      <p:sp>
        <p:nvSpPr>
          <p:cNvPr id="18" name="TextBox 17"/>
          <p:cNvSpPr txBox="1"/>
          <p:nvPr/>
        </p:nvSpPr>
        <p:spPr>
          <a:xfrm>
            <a:off x="6126480" y="3529584"/>
            <a:ext cx="5669280" cy="246888"/>
          </a:xfrm>
          <a:prstGeom prst="rect">
            <a:avLst/>
          </a:prstGeom>
          <a:noFill/>
        </p:spPr>
        <p:txBody>
          <a:bodyPr wrap="square">
            <a:spAutoFit/>
          </a:bodyPr>
          <a:lstStyle/>
          <a:p>
            <a:pPr algn="l"/>
            <a:r>
              <a:rPr sz="850" b="0" i="0">
                <a:solidFill>
                  <a:srgbClr val="FFFFFF"/>
                </a:solidFill>
              </a:rPr>
              <a:t/>
            </a:r>
          </a:p>
        </p:txBody>
      </p:sp>
      <p:sp>
        <p:nvSpPr>
          <p:cNvPr id="19" name="TextBox 18"/>
          <p:cNvSpPr txBox="1"/>
          <p:nvPr/>
        </p:nvSpPr>
        <p:spPr>
          <a:xfrm>
            <a:off x="6126480" y="3776472"/>
            <a:ext cx="5669280" cy="246888"/>
          </a:xfrm>
          <a:prstGeom prst="rect">
            <a:avLst/>
          </a:prstGeom>
          <a:noFill/>
        </p:spPr>
        <p:txBody>
          <a:bodyPr wrap="square">
            <a:spAutoFit/>
          </a:bodyPr>
          <a:lstStyle/>
          <a:p>
            <a:pPr algn="l"/>
            <a:r>
              <a:rPr sz="850" b="0" i="0">
                <a:solidFill>
                  <a:srgbClr val="FFFFFF"/>
                </a:solidFill>
              </a:rPr>
              <a:t>[Rewrite] get_B() → fetch live Books DB</a:t>
            </a:r>
          </a:p>
        </p:txBody>
      </p:sp>
      <p:sp>
        <p:nvSpPr>
          <p:cNvPr id="20" name="TextBox 19"/>
          <p:cNvSpPr txBox="1"/>
          <p:nvPr/>
        </p:nvSpPr>
        <p:spPr>
          <a:xfrm>
            <a:off x="6126480" y="4023360"/>
            <a:ext cx="5669280" cy="246888"/>
          </a:xfrm>
          <a:prstGeom prst="rect">
            <a:avLst/>
          </a:prstGeom>
          <a:noFill/>
        </p:spPr>
        <p:txBody>
          <a:bodyPr wrap="square">
            <a:spAutoFit/>
          </a:bodyPr>
          <a:lstStyle/>
          <a:p>
            <a:pPr algn="l"/>
            <a:r>
              <a:rPr sz="850" b="0" i="0">
                <a:solidFill>
                  <a:srgbClr val="FF8888"/>
                </a:solidFill>
              </a:rPr>
              <a:t>[GetBFunc] (empty — no code=0 in DB)</a:t>
            </a:r>
          </a:p>
        </p:txBody>
      </p:sp>
      <p:sp>
        <p:nvSpPr>
          <p:cNvPr id="21" name="TextBox 20"/>
          <p:cNvSpPr txBox="1"/>
          <p:nvPr/>
        </p:nvSpPr>
        <p:spPr>
          <a:xfrm>
            <a:off x="6126480" y="4270248"/>
            <a:ext cx="5669280" cy="246888"/>
          </a:xfrm>
          <a:prstGeom prst="rect">
            <a:avLst/>
          </a:prstGeom>
          <a:noFill/>
        </p:spPr>
        <p:txBody>
          <a:bodyPr wrap="square">
            <a:spAutoFit/>
          </a:bodyPr>
          <a:lstStyle/>
          <a:p>
            <a:pPr algn="l"/>
            <a:r>
              <a:rPr sz="850" b="0" i="0">
                <a:solidFill>
                  <a:srgbClr val="FFFFFF"/>
                </a:solidFill>
              </a:rPr>
              <a:t/>
            </a:r>
          </a:p>
        </p:txBody>
      </p:sp>
      <p:sp>
        <p:nvSpPr>
          <p:cNvPr id="22" name="TextBox 21"/>
          <p:cNvSpPr txBox="1"/>
          <p:nvPr/>
        </p:nvSpPr>
        <p:spPr>
          <a:xfrm>
            <a:off x="6126480" y="4517136"/>
            <a:ext cx="5669280" cy="246888"/>
          </a:xfrm>
          <a:prstGeom prst="rect">
            <a:avLst/>
          </a:prstGeom>
          <a:noFill/>
        </p:spPr>
        <p:txBody>
          <a:bodyPr wrap="square">
            <a:spAutoFit/>
          </a:bodyPr>
          <a:lstStyle/>
          <a:p>
            <a:pPr algn="l"/>
            <a:r>
              <a:rPr sz="850" b="0" i="0">
                <a:solidFill>
                  <a:srgbClr val="FFFFFF"/>
                </a:solidFill>
              </a:rPr>
              <a:t>[ASSERT] in('0', dom(tmp_B_1))</a:t>
            </a:r>
          </a:p>
        </p:txBody>
      </p:sp>
      <p:sp>
        <p:nvSpPr>
          <p:cNvPr id="23" name="TextBox 22"/>
          <p:cNvSpPr txBox="1"/>
          <p:nvPr/>
        </p:nvSpPr>
        <p:spPr>
          <a:xfrm>
            <a:off x="6126480" y="4764024"/>
            <a:ext cx="5669280" cy="246888"/>
          </a:xfrm>
          <a:prstGeom prst="rect">
            <a:avLst/>
          </a:prstGeom>
          <a:noFill/>
        </p:spPr>
        <p:txBody>
          <a:bodyPr wrap="square">
            <a:spAutoFit/>
          </a:bodyPr>
          <a:lstStyle/>
          <a:p>
            <a:pPr algn="l"/>
            <a:r>
              <a:rPr sz="850" b="0" i="0">
                <a:solidFill>
                  <a:srgbClr val="FF4444"/>
                </a:solidFill>
              </a:rPr>
              <a:t>[ASSERT] Result: false</a:t>
            </a:r>
          </a:p>
        </p:txBody>
      </p:sp>
      <p:sp>
        <p:nvSpPr>
          <p:cNvPr id="24" name="TextBox 23"/>
          <p:cNvSpPr txBox="1"/>
          <p:nvPr/>
        </p:nvSpPr>
        <p:spPr>
          <a:xfrm>
            <a:off x="6126480" y="5010912"/>
            <a:ext cx="5669280" cy="246888"/>
          </a:xfrm>
          <a:prstGeom prst="rect">
            <a:avLst/>
          </a:prstGeom>
          <a:noFill/>
        </p:spPr>
        <p:txBody>
          <a:bodyPr wrap="square">
            <a:spAutoFit/>
          </a:bodyPr>
          <a:lstStyle/>
          <a:p>
            <a:pPr algn="l"/>
            <a:r>
              <a:rPr sz="850" b="0" i="0">
                <a:solidFill>
                  <a:srgbClr val="FF4444"/>
                </a:solidFill>
              </a:rPr>
              <a:t>[ASSERT] ✗ FAILED → BUG DETECTED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Bug Test File Walkthrough — LB3: Overlap Check Inverted (depth=4)</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97280"/>
            <a:ext cx="5486400" cy="4617720"/>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5303520" cy="365760"/>
          </a:xfrm>
          <a:prstGeom prst="rect">
            <a:avLst/>
          </a:prstGeom>
          <a:noFill/>
        </p:spPr>
        <p:txBody>
          <a:bodyPr wrap="square">
            <a:spAutoFit/>
          </a:bodyPr>
          <a:lstStyle/>
          <a:p>
            <a:pPr algn="l"/>
            <a:r>
              <a:rPr sz="1100" b="1" i="0">
                <a:solidFill>
                  <a:srgbClr val="1A237E"/>
                </a:solidFill>
              </a:rPr>
              <a:t>WHAT WAS TESTED</a:t>
            </a:r>
          </a:p>
        </p:txBody>
      </p:sp>
      <p:sp>
        <p:nvSpPr>
          <p:cNvPr id="7" name="TextBox 6"/>
          <p:cNvSpPr txBox="1"/>
          <p:nvPr/>
        </p:nvSpPr>
        <p:spPr>
          <a:xfrm>
            <a:off x="365760" y="1554480"/>
            <a:ext cx="5303520" cy="4114800"/>
          </a:xfrm>
          <a:prstGeom prst="rect">
            <a:avLst/>
          </a:prstGeom>
          <a:noFill/>
        </p:spPr>
        <p:txBody>
          <a:bodyPr wrap="square">
            <a:spAutoFit/>
          </a:bodyPr>
          <a:lstStyle/>
          <a:p>
            <a:pPr algn="l"/>
            <a:r>
              <a:rPr sz="950" b="0" i="0">
                <a:solidFill>
                  <a:srgbClr val="333333"/>
                </a:solidFill>
              </a:rPr>
              <a:t>Bug injected: RequestController.java line 147
  if (doesRequestOverlap(request)) { throw }
  → if (!doesRequestOverlap(request)) { throw }
Test string: ['saveBookOk', 'saveStudentOk',
              'saveRequestOk', 'acceptRequestOk']
Spec postcondition for acceptRequestOk:
  AND(in(_result3, dom(Loans')),
      not_in(requestId, dom(Req')))
HOW IT DETECTED:
Fresh request → doesRequestOverlap() = false.
Inverted guard: !false = true → throw → HTTP 500.
AcceptRequestFunc returns Num(500).
in(500, dom(Loans')) → false → BUG DETECTED.</a:t>
            </a:r>
          </a:p>
        </p:txBody>
      </p:sp>
      <p:sp>
        <p:nvSpPr>
          <p:cNvPr id="8" name="Rectangle 7"/>
          <p:cNvSpPr/>
          <p:nvPr/>
        </p:nvSpPr>
        <p:spPr>
          <a:xfrm>
            <a:off x="6035040" y="1097280"/>
            <a:ext cx="5852160" cy="4617720"/>
          </a:xfrm>
          <a:prstGeom prst="rect">
            <a:avLst/>
          </a:prstGeom>
          <a:solidFill>
            <a:srgbClr val="1A1A2E"/>
          </a:solidFill>
          <a:ln w="63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143000"/>
            <a:ext cx="5669280" cy="365760"/>
          </a:xfrm>
          <a:prstGeom prst="rect">
            <a:avLst/>
          </a:prstGeom>
          <a:noFill/>
        </p:spPr>
        <p:txBody>
          <a:bodyPr wrap="square">
            <a:spAutoFit/>
          </a:bodyPr>
          <a:lstStyle/>
          <a:p>
            <a:pPr algn="l"/>
            <a:r>
              <a:rPr sz="1100" b="1" i="0">
                <a:solidFill>
                  <a:srgbClr val="42A5F5"/>
                </a:solidFill>
              </a:rPr>
              <a:t>PIPELINE OF EXECUTION &amp; OUTPUT</a:t>
            </a:r>
          </a:p>
        </p:txBody>
      </p:sp>
      <p:sp>
        <p:nvSpPr>
          <p:cNvPr id="10" name="TextBox 9"/>
          <p:cNvSpPr txBox="1"/>
          <p:nvPr/>
        </p:nvSpPr>
        <p:spPr>
          <a:xfrm>
            <a:off x="6126480" y="1554480"/>
            <a:ext cx="5669280" cy="246888"/>
          </a:xfrm>
          <a:prstGeom prst="rect">
            <a:avLst/>
          </a:prstGeom>
          <a:noFill/>
        </p:spPr>
        <p:txBody>
          <a:bodyPr wrap="square">
            <a:spAutoFit/>
          </a:bodyPr>
          <a:lstStyle/>
          <a:p>
            <a:pPr algn="l"/>
            <a:r>
              <a:rPr sz="850" b="0" i="0">
                <a:solidFill>
                  <a:srgbClr val="42A5F5"/>
                </a:solidFill>
              </a:rPr>
              <a:t>[SEE] Symbolic vars for all 4 operations</a:t>
            </a:r>
          </a:p>
        </p:txBody>
      </p:sp>
      <p:sp>
        <p:nvSpPr>
          <p:cNvPr id="11" name="TextBox 10"/>
          <p:cNvSpPr txBox="1"/>
          <p:nvPr/>
        </p:nvSpPr>
        <p:spPr>
          <a:xfrm>
            <a:off x="6126480" y="1801368"/>
            <a:ext cx="5669280" cy="246888"/>
          </a:xfrm>
          <a:prstGeom prst="rect">
            <a:avLst/>
          </a:prstGeom>
          <a:noFill/>
        </p:spPr>
        <p:txBody>
          <a:bodyPr wrap="square">
            <a:spAutoFit/>
          </a:bodyPr>
          <a:lstStyle/>
          <a:p>
            <a:pPr algn="l"/>
            <a:r>
              <a:rPr sz="850" b="0" i="0">
                <a:solidFill>
                  <a:srgbClr val="FFFFFF"/>
                </a:solidFill>
              </a:rPr>
              <a:t>[Z3]  Assigns concrete values</a:t>
            </a:r>
          </a:p>
        </p:txBody>
      </p:sp>
      <p:sp>
        <p:nvSpPr>
          <p:cNvPr id="12" name="TextBox 11"/>
          <p:cNvSpPr txBox="1"/>
          <p:nvPr/>
        </p:nvSpPr>
        <p:spPr>
          <a:xfrm>
            <a:off x="6126480" y="2048256"/>
            <a:ext cx="5669280" cy="246888"/>
          </a:xfrm>
          <a:prstGeom prst="rect">
            <a:avLst/>
          </a:prstGeom>
          <a:noFill/>
        </p:spPr>
        <p:txBody>
          <a:bodyPr wrap="square">
            <a:spAutoFit/>
          </a:bodyPr>
          <a:lstStyle/>
          <a:p>
            <a:pPr algn="l"/>
            <a:r>
              <a:rPr sz="850" b="0" i="0">
                <a:solidFill>
                  <a:srgbClr val="FFFFFF"/>
                </a:solidFill>
              </a:rPr>
              <a:t/>
            </a:r>
          </a:p>
        </p:txBody>
      </p:sp>
      <p:sp>
        <p:nvSpPr>
          <p:cNvPr id="13" name="TextBox 12"/>
          <p:cNvSpPr txBox="1"/>
          <p:nvPr/>
        </p:nvSpPr>
        <p:spPr>
          <a:xfrm>
            <a:off x="6126480" y="2295144"/>
            <a:ext cx="5669280" cy="246888"/>
          </a:xfrm>
          <a:prstGeom prst="rect">
            <a:avLst/>
          </a:prstGeom>
          <a:noFill/>
        </p:spPr>
        <p:txBody>
          <a:bodyPr wrap="square">
            <a:spAutoFit/>
          </a:bodyPr>
          <a:lstStyle/>
          <a:p>
            <a:pPr algn="l"/>
            <a:r>
              <a:rPr sz="850" b="0" i="0">
                <a:solidFill>
                  <a:srgbClr val="88FF88"/>
                </a:solidFill>
              </a:rPr>
              <a:t>[Step 1] SaveBookFunc  → HTTP 201  ✓</a:t>
            </a:r>
          </a:p>
        </p:txBody>
      </p:sp>
      <p:sp>
        <p:nvSpPr>
          <p:cNvPr id="14" name="TextBox 13"/>
          <p:cNvSpPr txBox="1"/>
          <p:nvPr/>
        </p:nvSpPr>
        <p:spPr>
          <a:xfrm>
            <a:off x="6126480" y="2542032"/>
            <a:ext cx="5669280" cy="246888"/>
          </a:xfrm>
          <a:prstGeom prst="rect">
            <a:avLst/>
          </a:prstGeom>
          <a:noFill/>
        </p:spPr>
        <p:txBody>
          <a:bodyPr wrap="square">
            <a:spAutoFit/>
          </a:bodyPr>
          <a:lstStyle/>
          <a:p>
            <a:pPr algn="l"/>
            <a:r>
              <a:rPr sz="850" b="0" i="0">
                <a:solidFill>
                  <a:srgbClr val="88FF88"/>
                </a:solidFill>
              </a:rPr>
              <a:t>[Step 2] SaveStudentFunc → HTTP 200  ✓</a:t>
            </a:r>
          </a:p>
        </p:txBody>
      </p:sp>
      <p:sp>
        <p:nvSpPr>
          <p:cNvPr id="15" name="TextBox 14"/>
          <p:cNvSpPr txBox="1"/>
          <p:nvPr/>
        </p:nvSpPr>
        <p:spPr>
          <a:xfrm>
            <a:off x="6126480" y="2788920"/>
            <a:ext cx="5669280" cy="246888"/>
          </a:xfrm>
          <a:prstGeom prst="rect">
            <a:avLst/>
          </a:prstGeom>
          <a:noFill/>
        </p:spPr>
        <p:txBody>
          <a:bodyPr wrap="square">
            <a:spAutoFit/>
          </a:bodyPr>
          <a:lstStyle/>
          <a:p>
            <a:pPr algn="l"/>
            <a:r>
              <a:rPr sz="850" b="0" i="0">
                <a:solidFill>
                  <a:srgbClr val="88FF88"/>
                </a:solidFill>
              </a:rPr>
              <a:t>[Step 3] SaveRequestFunc → HTTP 200  ✓</a:t>
            </a:r>
          </a:p>
        </p:txBody>
      </p:sp>
      <p:sp>
        <p:nvSpPr>
          <p:cNvPr id="16" name="TextBox 15"/>
          <p:cNvSpPr txBox="1"/>
          <p:nvPr/>
        </p:nvSpPr>
        <p:spPr>
          <a:xfrm>
            <a:off x="6126480" y="3035808"/>
            <a:ext cx="5669280" cy="246888"/>
          </a:xfrm>
          <a:prstGeom prst="rect">
            <a:avLst/>
          </a:prstGeom>
          <a:noFill/>
        </p:spPr>
        <p:txBody>
          <a:bodyPr wrap="square">
            <a:spAutoFit/>
          </a:bodyPr>
          <a:lstStyle/>
          <a:p>
            <a:pPr algn="l"/>
            <a:r>
              <a:rPr sz="850" b="0" i="0">
                <a:solidFill>
                  <a:srgbClr val="FFFFFF"/>
                </a:solidFill>
              </a:rPr>
              <a:t/>
            </a:r>
          </a:p>
        </p:txBody>
      </p:sp>
      <p:sp>
        <p:nvSpPr>
          <p:cNvPr id="17" name="TextBox 16"/>
          <p:cNvSpPr txBox="1"/>
          <p:nvPr/>
        </p:nvSpPr>
        <p:spPr>
          <a:xfrm>
            <a:off x="6126480" y="3282696"/>
            <a:ext cx="5669280" cy="246888"/>
          </a:xfrm>
          <a:prstGeom prst="rect">
            <a:avLst/>
          </a:prstGeom>
          <a:noFill/>
        </p:spPr>
        <p:txBody>
          <a:bodyPr wrap="square">
            <a:spAutoFit/>
          </a:bodyPr>
          <a:lstStyle/>
          <a:p>
            <a:pPr algn="l"/>
            <a:r>
              <a:rPr sz="850" b="0" i="0">
                <a:solidFill>
                  <a:srgbClr val="FFFFFF"/>
                </a:solidFill>
              </a:rPr>
              <a:t>[Step 4] AcceptRequestFunc</a:t>
            </a:r>
          </a:p>
        </p:txBody>
      </p:sp>
      <p:sp>
        <p:nvSpPr>
          <p:cNvPr id="18" name="TextBox 17"/>
          <p:cNvSpPr txBox="1"/>
          <p:nvPr/>
        </p:nvSpPr>
        <p:spPr>
          <a:xfrm>
            <a:off x="6126480" y="3529584"/>
            <a:ext cx="5669280" cy="246888"/>
          </a:xfrm>
          <a:prstGeom prst="rect">
            <a:avLst/>
          </a:prstGeom>
          <a:noFill/>
        </p:spPr>
        <p:txBody>
          <a:bodyPr wrap="square">
            <a:spAutoFit/>
          </a:bodyPr>
          <a:lstStyle/>
          <a:p>
            <a:pPr algn="l"/>
            <a:r>
              <a:rPr sz="850" b="0" i="0">
                <a:solidFill>
                  <a:srgbClr val="FFCC00"/>
                </a:solidFill>
              </a:rPr>
              <a:t>[HttpClient] POST /bookStudent/accept → 500  !</a:t>
            </a:r>
          </a:p>
        </p:txBody>
      </p:sp>
      <p:sp>
        <p:nvSpPr>
          <p:cNvPr id="19" name="TextBox 18"/>
          <p:cNvSpPr txBox="1"/>
          <p:nvPr/>
        </p:nvSpPr>
        <p:spPr>
          <a:xfrm>
            <a:off x="6126480" y="3776472"/>
            <a:ext cx="5669280" cy="246888"/>
          </a:xfrm>
          <a:prstGeom prst="rect">
            <a:avLst/>
          </a:prstGeom>
          <a:noFill/>
        </p:spPr>
        <p:txBody>
          <a:bodyPr wrap="square">
            <a:spAutoFit/>
          </a:bodyPr>
          <a:lstStyle/>
          <a:p>
            <a:pPr algn="l"/>
            <a:r>
              <a:rPr sz="850" b="0" i="0">
                <a:solidFill>
                  <a:srgbClr val="FF8888"/>
                </a:solidFill>
              </a:rPr>
              <a:t>[Error] Book not available for given dates</a:t>
            </a:r>
          </a:p>
        </p:txBody>
      </p:sp>
      <p:sp>
        <p:nvSpPr>
          <p:cNvPr id="20" name="TextBox 19"/>
          <p:cNvSpPr txBox="1"/>
          <p:nvPr/>
        </p:nvSpPr>
        <p:spPr>
          <a:xfrm>
            <a:off x="6126480" y="4023360"/>
            <a:ext cx="5669280" cy="246888"/>
          </a:xfrm>
          <a:prstGeom prst="rect">
            <a:avLst/>
          </a:prstGeom>
          <a:noFill/>
        </p:spPr>
        <p:txBody>
          <a:bodyPr wrap="square">
            <a:spAutoFit/>
          </a:bodyPr>
          <a:lstStyle/>
          <a:p>
            <a:pPr algn="l"/>
            <a:r>
              <a:rPr sz="850" b="0" i="0">
                <a:solidFill>
                  <a:srgbClr val="FFFFFF"/>
                </a:solidFill>
              </a:rPr>
              <a:t>[ASSIGN] _result3 := 500</a:t>
            </a:r>
          </a:p>
        </p:txBody>
      </p:sp>
      <p:sp>
        <p:nvSpPr>
          <p:cNvPr id="21" name="TextBox 20"/>
          <p:cNvSpPr txBox="1"/>
          <p:nvPr/>
        </p:nvSpPr>
        <p:spPr>
          <a:xfrm>
            <a:off x="6126480" y="4270248"/>
            <a:ext cx="5669280" cy="246888"/>
          </a:xfrm>
          <a:prstGeom prst="rect">
            <a:avLst/>
          </a:prstGeom>
          <a:noFill/>
        </p:spPr>
        <p:txBody>
          <a:bodyPr wrap="square">
            <a:spAutoFit/>
          </a:bodyPr>
          <a:lstStyle/>
          <a:p>
            <a:pPr algn="l"/>
            <a:r>
              <a:rPr sz="850" b="0" i="0">
                <a:solidFill>
                  <a:srgbClr val="FFFFFF"/>
                </a:solidFill>
              </a:rPr>
              <a:t/>
            </a:r>
          </a:p>
        </p:txBody>
      </p:sp>
      <p:sp>
        <p:nvSpPr>
          <p:cNvPr id="22" name="TextBox 21"/>
          <p:cNvSpPr txBox="1"/>
          <p:nvPr/>
        </p:nvSpPr>
        <p:spPr>
          <a:xfrm>
            <a:off x="6126480" y="4517136"/>
            <a:ext cx="5669280" cy="246888"/>
          </a:xfrm>
          <a:prstGeom prst="rect">
            <a:avLst/>
          </a:prstGeom>
          <a:noFill/>
        </p:spPr>
        <p:txBody>
          <a:bodyPr wrap="square">
            <a:spAutoFit/>
          </a:bodyPr>
          <a:lstStyle/>
          <a:p>
            <a:pPr algn="l"/>
            <a:r>
              <a:rPr sz="850" b="0" i="0">
                <a:solidFill>
                  <a:srgbClr val="FFFFFF"/>
                </a:solidFill>
              </a:rPr>
              <a:t>[ASSERT] AND(in(500, dom(Loans')), ...)</a:t>
            </a:r>
          </a:p>
        </p:txBody>
      </p:sp>
      <p:sp>
        <p:nvSpPr>
          <p:cNvPr id="23" name="TextBox 22"/>
          <p:cNvSpPr txBox="1"/>
          <p:nvPr/>
        </p:nvSpPr>
        <p:spPr>
          <a:xfrm>
            <a:off x="6126480" y="4764024"/>
            <a:ext cx="5669280" cy="246888"/>
          </a:xfrm>
          <a:prstGeom prst="rect">
            <a:avLst/>
          </a:prstGeom>
          <a:noFill/>
        </p:spPr>
        <p:txBody>
          <a:bodyPr wrap="square">
            <a:spAutoFit/>
          </a:bodyPr>
          <a:lstStyle/>
          <a:p>
            <a:pPr algn="l"/>
            <a:r>
              <a:rPr sz="850" b="0" i="0">
                <a:solidFill>
                  <a:srgbClr val="FF4444"/>
                </a:solidFill>
              </a:rPr>
              <a:t>[ASSERT] Result: false</a:t>
            </a:r>
          </a:p>
        </p:txBody>
      </p:sp>
      <p:sp>
        <p:nvSpPr>
          <p:cNvPr id="24" name="TextBox 23"/>
          <p:cNvSpPr txBox="1"/>
          <p:nvPr/>
        </p:nvSpPr>
        <p:spPr>
          <a:xfrm>
            <a:off x="6126480" y="5010912"/>
            <a:ext cx="5669280" cy="246888"/>
          </a:xfrm>
          <a:prstGeom prst="rect">
            <a:avLst/>
          </a:prstGeom>
          <a:noFill/>
        </p:spPr>
        <p:txBody>
          <a:bodyPr wrap="square">
            <a:spAutoFit/>
          </a:bodyPr>
          <a:lstStyle/>
          <a:p>
            <a:pPr algn="l"/>
            <a:r>
              <a:rPr sz="850" b="0" i="0">
                <a:solidFill>
                  <a:srgbClr val="FF4444"/>
                </a:solidFill>
              </a:rPr>
              <a:t>[ASSERT] ✗ FAILED → BUG DETECTED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Comparative Results — All Three Backends</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097280"/>
          <a:ext cx="11612880" cy="1737360"/>
        </p:xfrm>
        <a:graphic>
          <a:graphicData uri="http://schemas.openxmlformats.org/drawingml/2006/table">
            <a:tbl>
              <a:tblPr firstRow="1" bandRow="1">
                <a:tableStyleId>{5C22544A-7EE6-4342-B048-85BDC9FD1C3A}</a:tableStyleId>
              </a:tblPr>
              <a:tblGrid>
                <a:gridCol w="1935480"/>
                <a:gridCol w="3870960"/>
                <a:gridCol w="1935480"/>
                <a:gridCol w="1935480"/>
                <a:gridCol w="1935480"/>
              </a:tblGrid>
              <a:tr h="347472">
                <a:tc>
                  <a:txBody>
                    <a:bodyPr/>
                    <a:lstStyle/>
                    <a:p>
                      <a:pPr algn="ctr"/>
                      <a:r>
                        <a:rPr b="1" sz="1000">
                          <a:solidFill>
                            <a:srgbClr val="FFFFFF"/>
                          </a:solidFill>
                        </a:rPr>
                        <a:t>Backend</a:t>
                      </a:r>
                    </a:p>
                  </a:txBody>
                  <a:tcPr>
                    <a:solidFill>
                      <a:srgbClr val="1A237E"/>
                    </a:solidFill>
                  </a:tcPr>
                </a:tc>
                <a:tc>
                  <a:txBody>
                    <a:bodyPr/>
                    <a:lstStyle/>
                    <a:p>
                      <a:pPr algn="ctr"/>
                      <a:r>
                        <a:rPr b="1" sz="1000">
                          <a:solidFill>
                            <a:srgbClr val="FFFFFF"/>
                          </a:solidFill>
                        </a:rPr>
                        <a:t>Technology</a:t>
                      </a:r>
                    </a:p>
                  </a:txBody>
                  <a:tcPr>
                    <a:solidFill>
                      <a:srgbClr val="1A237E"/>
                    </a:solidFill>
                  </a:tcPr>
                </a:tc>
                <a:tc>
                  <a:txBody>
                    <a:bodyPr/>
                    <a:lstStyle/>
                    <a:p>
                      <a:pPr algn="ctr"/>
                      <a:r>
                        <a:rPr b="1" sz="1000">
                          <a:solidFill>
                            <a:srgbClr val="FFFFFF"/>
                          </a:solidFill>
                        </a:rPr>
                        <a:t>Injected</a:t>
                      </a:r>
                    </a:p>
                  </a:txBody>
                  <a:tcPr>
                    <a:solidFill>
                      <a:srgbClr val="1A237E"/>
                    </a:solidFill>
                  </a:tcPr>
                </a:tc>
                <a:tc>
                  <a:txBody>
                    <a:bodyPr/>
                    <a:lstStyle/>
                    <a:p>
                      <a:pPr algn="ctr"/>
                      <a:r>
                        <a:rPr b="1" sz="1000">
                          <a:solidFill>
                            <a:srgbClr val="FFFFFF"/>
                          </a:solidFill>
                        </a:rPr>
                        <a:t>Detected</a:t>
                      </a:r>
                    </a:p>
                  </a:txBody>
                  <a:tcPr>
                    <a:solidFill>
                      <a:srgbClr val="1A237E"/>
                    </a:solidFill>
                  </a:tcPr>
                </a:tc>
                <a:tc>
                  <a:txBody>
                    <a:bodyPr/>
                    <a:lstStyle/>
                    <a:p>
                      <a:pPr algn="ctr"/>
                      <a:r>
                        <a:rPr b="1" sz="1000">
                          <a:solidFill>
                            <a:srgbClr val="FFFFFF"/>
                          </a:solidFill>
                        </a:rPr>
                        <a:t>Score</a:t>
                      </a:r>
                    </a:p>
                  </a:txBody>
                  <a:tcPr>
                    <a:solidFill>
                      <a:srgbClr val="1A237E"/>
                    </a:solidFill>
                  </a:tcPr>
                </a:tc>
              </a:tr>
              <a:tr h="347472">
                <a:tc>
                  <a:txBody>
                    <a:bodyPr/>
                    <a:lstStyle/>
                    <a:p>
                      <a:pPr algn="ctr"/>
                      <a:r>
                        <a:rPr sz="900"/>
                        <a:t>Restaurant</a:t>
                      </a:r>
                    </a:p>
                  </a:txBody>
                  <a:tcPr>
                    <a:solidFill>
                      <a:srgbClr val="E8EAF6"/>
                    </a:solidFill>
                  </a:tcPr>
                </a:tc>
                <a:tc>
                  <a:txBody>
                    <a:bodyPr/>
                    <a:lstStyle/>
                    <a:p>
                      <a:pPr algn="l"/>
                      <a:r>
                        <a:rPr sz="900"/>
                        <a:t>Node.js / Express + MongoDB</a:t>
                      </a:r>
                    </a:p>
                  </a:txBody>
                  <a:tcPr>
                    <a:solidFill>
                      <a:srgbClr val="E8EAF6"/>
                    </a:solidFill>
                  </a:tcPr>
                </a:tc>
                <a:tc>
                  <a:txBody>
                    <a:bodyPr/>
                    <a:lstStyle/>
                    <a:p>
                      <a:pPr algn="l"/>
                      <a:r>
                        <a:rPr sz="900"/>
                        <a:t>8</a:t>
                      </a:r>
                    </a:p>
                  </a:txBody>
                  <a:tcPr>
                    <a:solidFill>
                      <a:srgbClr val="E8EAF6"/>
                    </a:solidFill>
                  </a:tcPr>
                </a:tc>
                <a:tc>
                  <a:txBody>
                    <a:bodyPr/>
                    <a:lstStyle/>
                    <a:p>
                      <a:pPr algn="l"/>
                      <a:r>
                        <a:rPr sz="900"/>
                        <a:t>8</a:t>
                      </a:r>
                    </a:p>
                  </a:txBody>
                  <a:tcPr>
                    <a:solidFill>
                      <a:srgbClr val="E8EAF6"/>
                    </a:solidFill>
                  </a:tcPr>
                </a:tc>
                <a:tc>
                  <a:txBody>
                    <a:bodyPr/>
                    <a:lstStyle/>
                    <a:p>
                      <a:pPr algn="ctr"/>
                      <a:r>
                        <a:rPr sz="900"/>
                        <a:t>100%</a:t>
                      </a:r>
                    </a:p>
                  </a:txBody>
                  <a:tcPr>
                    <a:solidFill>
                      <a:srgbClr val="E8EAF6"/>
                    </a:solidFill>
                  </a:tcPr>
                </a:tc>
              </a:tr>
              <a:tr h="347472">
                <a:tc>
                  <a:txBody>
                    <a:bodyPr/>
                    <a:lstStyle/>
                    <a:p>
                      <a:pPr algn="ctr"/>
                      <a:r>
                        <a:rPr sz="900"/>
                        <a:t>E-Commerce</a:t>
                      </a:r>
                    </a:p>
                  </a:txBody>
                  <a:tcPr>
                    <a:solidFill>
                      <a:srgbClr val="FFFFFF"/>
                    </a:solidFill>
                  </a:tcPr>
                </a:tc>
                <a:tc>
                  <a:txBody>
                    <a:bodyPr/>
                    <a:lstStyle/>
                    <a:p>
                      <a:pPr algn="l"/>
                      <a:r>
                        <a:rPr sz="900"/>
                        <a:t>Node.js / Express + MongoDB</a:t>
                      </a:r>
                    </a:p>
                  </a:txBody>
                  <a:tcPr>
                    <a:solidFill>
                      <a:srgbClr val="FFFFFF"/>
                    </a:solidFill>
                  </a:tcPr>
                </a:tc>
                <a:tc>
                  <a:txBody>
                    <a:bodyPr/>
                    <a:lstStyle/>
                    <a:p>
                      <a:pPr algn="l"/>
                      <a:r>
                        <a:rPr sz="900"/>
                        <a:t>8</a:t>
                      </a:r>
                    </a:p>
                  </a:txBody>
                  <a:tcPr>
                    <a:solidFill>
                      <a:srgbClr val="FFFFFF"/>
                    </a:solidFill>
                  </a:tcPr>
                </a:tc>
                <a:tc>
                  <a:txBody>
                    <a:bodyPr/>
                    <a:lstStyle/>
                    <a:p>
                      <a:pPr algn="l"/>
                      <a:r>
                        <a:rPr sz="900"/>
                        <a:t>8</a:t>
                      </a:r>
                    </a:p>
                  </a:txBody>
                  <a:tcPr>
                    <a:solidFill>
                      <a:srgbClr val="FFFFFF"/>
                    </a:solidFill>
                  </a:tcPr>
                </a:tc>
                <a:tc>
                  <a:txBody>
                    <a:bodyPr/>
                    <a:lstStyle/>
                    <a:p>
                      <a:pPr algn="ctr"/>
                      <a:r>
                        <a:rPr sz="900"/>
                        <a:t>100%</a:t>
                      </a:r>
                    </a:p>
                  </a:txBody>
                  <a:tcPr>
                    <a:solidFill>
                      <a:srgbClr val="FFFFFF"/>
                    </a:solidFill>
                  </a:tcPr>
                </a:tc>
              </a:tr>
              <a:tr h="347472">
                <a:tc>
                  <a:txBody>
                    <a:bodyPr/>
                    <a:lstStyle/>
                    <a:p>
                      <a:pPr algn="ctr"/>
                      <a:r>
                        <a:rPr sz="900"/>
                        <a:t>Library</a:t>
                      </a:r>
                    </a:p>
                  </a:txBody>
                  <a:tcPr>
                    <a:solidFill>
                      <a:srgbClr val="E8EAF6"/>
                    </a:solidFill>
                  </a:tcPr>
                </a:tc>
                <a:tc>
                  <a:txBody>
                    <a:bodyPr/>
                    <a:lstStyle/>
                    <a:p>
                      <a:pPr algn="l"/>
                      <a:r>
                        <a:rPr sz="900"/>
                        <a:t>Java Spring Boot + MySQL</a:t>
                      </a:r>
                    </a:p>
                  </a:txBody>
                  <a:tcPr>
                    <a:solidFill>
                      <a:srgbClr val="E8EAF6"/>
                    </a:solidFill>
                  </a:tcPr>
                </a:tc>
                <a:tc>
                  <a:txBody>
                    <a:bodyPr/>
                    <a:lstStyle/>
                    <a:p>
                      <a:pPr algn="l"/>
                      <a:r>
                        <a:rPr sz="900"/>
                        <a:t>8</a:t>
                      </a:r>
                    </a:p>
                  </a:txBody>
                  <a:tcPr>
                    <a:solidFill>
                      <a:srgbClr val="E8EAF6"/>
                    </a:solidFill>
                  </a:tcPr>
                </a:tc>
                <a:tc>
                  <a:txBody>
                    <a:bodyPr/>
                    <a:lstStyle/>
                    <a:p>
                      <a:pPr algn="l"/>
                      <a:r>
                        <a:rPr sz="900"/>
                        <a:t>8</a:t>
                      </a:r>
                    </a:p>
                  </a:txBody>
                  <a:tcPr>
                    <a:solidFill>
                      <a:srgbClr val="E8EAF6"/>
                    </a:solidFill>
                  </a:tcPr>
                </a:tc>
                <a:tc>
                  <a:txBody>
                    <a:bodyPr/>
                    <a:lstStyle/>
                    <a:p>
                      <a:pPr algn="ctr"/>
                      <a:r>
                        <a:rPr sz="900"/>
                        <a:t>100%</a:t>
                      </a:r>
                    </a:p>
                  </a:txBody>
                  <a:tcPr>
                    <a:solidFill>
                      <a:srgbClr val="E8EAF6"/>
                    </a:solidFill>
                  </a:tcPr>
                </a:tc>
              </a:tr>
              <a:tr h="347472">
                <a:tc>
                  <a:txBody>
                    <a:bodyPr/>
                    <a:lstStyle/>
                    <a:p>
                      <a:pPr algn="ctr"/>
                      <a:r>
                        <a:rPr sz="900"/>
                        <a:t>TOTAL</a:t>
                      </a:r>
                    </a:p>
                  </a:txBody>
                  <a:tcPr>
                    <a:solidFill>
                      <a:srgbClr val="FFFFFF"/>
                    </a:solidFill>
                  </a:tcPr>
                </a:tc>
                <a:tc>
                  <a:txBody>
                    <a:bodyPr/>
                    <a:lstStyle/>
                    <a:p>
                      <a:pPr algn="l"/>
                      <a:r>
                        <a:rPr sz="900"/>
                        <a:t>—</a:t>
                      </a:r>
                    </a:p>
                  </a:txBody>
                  <a:tcPr>
                    <a:solidFill>
                      <a:srgbClr val="FFFFFF"/>
                    </a:solidFill>
                  </a:tcPr>
                </a:tc>
                <a:tc>
                  <a:txBody>
                    <a:bodyPr/>
                    <a:lstStyle/>
                    <a:p>
                      <a:pPr algn="l"/>
                      <a:r>
                        <a:rPr sz="900"/>
                        <a:t>24</a:t>
                      </a:r>
                    </a:p>
                  </a:txBody>
                  <a:tcPr>
                    <a:solidFill>
                      <a:srgbClr val="FFFFFF"/>
                    </a:solidFill>
                  </a:tcPr>
                </a:tc>
                <a:tc>
                  <a:txBody>
                    <a:bodyPr/>
                    <a:lstStyle/>
                    <a:p>
                      <a:pPr algn="l"/>
                      <a:r>
                        <a:rPr sz="900"/>
                        <a:t>24</a:t>
                      </a:r>
                    </a:p>
                  </a:txBody>
                  <a:tcPr>
                    <a:solidFill>
                      <a:srgbClr val="FFFFFF"/>
                    </a:solidFill>
                  </a:tcPr>
                </a:tc>
                <a:tc>
                  <a:txBody>
                    <a:bodyPr/>
                    <a:lstStyle/>
                    <a:p>
                      <a:pPr algn="ctr"/>
                      <a:r>
                        <a:rPr sz="900"/>
                        <a:t>100%</a:t>
                      </a:r>
                    </a:p>
                  </a:txBody>
                  <a:tcPr>
                    <a:solidFill>
                      <a:srgbClr val="FFFFFF"/>
                    </a:solidFill>
                  </a:tcPr>
                </a:tc>
              </a:tr>
            </a:tbl>
          </a:graphicData>
        </a:graphic>
      </p:graphicFrame>
      <p:sp>
        <p:nvSpPr>
          <p:cNvPr id="6" name="TextBox 5"/>
          <p:cNvSpPr txBox="1"/>
          <p:nvPr/>
        </p:nvSpPr>
        <p:spPr>
          <a:xfrm>
            <a:off x="274320" y="2926080"/>
            <a:ext cx="5943600" cy="320040"/>
          </a:xfrm>
          <a:prstGeom prst="rect">
            <a:avLst/>
          </a:prstGeom>
          <a:noFill/>
        </p:spPr>
        <p:txBody>
          <a:bodyPr wrap="square">
            <a:spAutoFit/>
          </a:bodyPr>
          <a:lstStyle/>
          <a:p>
            <a:pPr algn="l"/>
            <a:r>
              <a:rPr sz="1200" b="1" i="0">
                <a:solidFill>
                  <a:srgbClr val="1A237E"/>
                </a:solidFill>
              </a:rPr>
              <a:t>Detection by Bug Type:</a:t>
            </a:r>
          </a:p>
        </p:txBody>
      </p:sp>
      <p:graphicFrame>
        <p:nvGraphicFramePr>
          <p:cNvPr id="7" name="Table 6"/>
          <p:cNvGraphicFramePr>
            <a:graphicFrameLocks noGrp="1"/>
          </p:cNvGraphicFramePr>
          <p:nvPr/>
        </p:nvGraphicFramePr>
        <p:xfrm>
          <a:off x="274320" y="3246120"/>
          <a:ext cx="6857998" cy="2377440"/>
        </p:xfrm>
        <a:graphic>
          <a:graphicData uri="http://schemas.openxmlformats.org/drawingml/2006/table">
            <a:tbl>
              <a:tblPr firstRow="1" bandRow="1">
                <a:tableStyleId>{5C22544A-7EE6-4342-B048-85BDC9FD1C3A}</a:tableStyleId>
              </a:tblPr>
              <a:tblGrid>
                <a:gridCol w="2420470"/>
                <a:gridCol w="2017058"/>
                <a:gridCol w="2420470"/>
              </a:tblGrid>
              <a:tr h="339634">
                <a:tc>
                  <a:txBody>
                    <a:bodyPr/>
                    <a:lstStyle/>
                    <a:p>
                      <a:pPr algn="ctr"/>
                      <a:r>
                        <a:rPr b="1" sz="1000">
                          <a:solidFill>
                            <a:srgbClr val="FFFFFF"/>
                          </a:solidFill>
                        </a:rPr>
                        <a:t>Bug Type</a:t>
                      </a:r>
                    </a:p>
                  </a:txBody>
                  <a:tcPr>
                    <a:solidFill>
                      <a:srgbClr val="1A237E"/>
                    </a:solidFill>
                  </a:tcPr>
                </a:tc>
                <a:tc>
                  <a:txBody>
                    <a:bodyPr/>
                    <a:lstStyle/>
                    <a:p>
                      <a:pPr algn="ctr"/>
                      <a:r>
                        <a:rPr b="1" sz="1000">
                          <a:solidFill>
                            <a:srgbClr val="FFFFFF"/>
                          </a:solidFill>
                        </a:rPr>
                        <a:t>Detected / Total</a:t>
                      </a:r>
                    </a:p>
                  </a:txBody>
                  <a:tcPr>
                    <a:solidFill>
                      <a:srgbClr val="1A237E"/>
                    </a:solidFill>
                  </a:tcPr>
                </a:tc>
                <a:tc>
                  <a:txBody>
                    <a:bodyPr/>
                    <a:lstStyle/>
                    <a:p>
                      <a:pPr algn="ctr"/>
                      <a:r>
                        <a:rPr b="1" sz="1000">
                          <a:solidFill>
                            <a:srgbClr val="FFFFFF"/>
                          </a:solidFill>
                        </a:rPr>
                        <a:t>Notes</a:t>
                      </a:r>
                    </a:p>
                  </a:txBody>
                  <a:tcPr>
                    <a:solidFill>
                      <a:srgbClr val="1A237E"/>
                    </a:solidFill>
                  </a:tcPr>
                </a:tc>
              </a:tr>
              <a:tr h="339634">
                <a:tc>
                  <a:txBody>
                    <a:bodyPr/>
                    <a:lstStyle/>
                    <a:p>
                      <a:pPr algn="ctr"/>
                      <a:r>
                        <a:rPr sz="900"/>
                        <a:t>Missing side-effect</a:t>
                      </a:r>
                    </a:p>
                  </a:txBody>
                  <a:tcPr>
                    <a:solidFill>
                      <a:srgbClr val="E8EAF6"/>
                    </a:solidFill>
                  </a:tcPr>
                </a:tc>
                <a:tc>
                  <a:txBody>
                    <a:bodyPr/>
                    <a:lstStyle/>
                    <a:p>
                      <a:pPr algn="l"/>
                      <a:r>
                        <a:rPr sz="900"/>
                        <a:t>11 / 11  (100%)</a:t>
                      </a:r>
                    </a:p>
                  </a:txBody>
                  <a:tcPr>
                    <a:solidFill>
                      <a:srgbClr val="E8EAF6"/>
                    </a:solidFill>
                  </a:tcPr>
                </a:tc>
                <a:tc>
                  <a:txBody>
                    <a:bodyPr/>
                    <a:lstStyle/>
                    <a:p>
                      <a:pPr algn="l"/>
                      <a:r>
                        <a:rPr sz="900"/>
                        <a:t>Core TestGen strength</a:t>
                      </a:r>
                    </a:p>
                  </a:txBody>
                  <a:tcPr>
                    <a:solidFill>
                      <a:srgbClr val="E8EAF6"/>
                    </a:solidFill>
                  </a:tcPr>
                </a:tc>
              </a:tr>
              <a:tr h="339634">
                <a:tc>
                  <a:txBody>
                    <a:bodyPr/>
                    <a:lstStyle/>
                    <a:p>
                      <a:pPr algn="ctr"/>
                      <a:r>
                        <a:rPr sz="900"/>
                        <a:t>Save without persist</a:t>
                      </a:r>
                    </a:p>
                  </a:txBody>
                  <a:tcPr>
                    <a:solidFill>
                      <a:srgbClr val="FFFFFF"/>
                    </a:solidFill>
                  </a:tcPr>
                </a:tc>
                <a:tc>
                  <a:txBody>
                    <a:bodyPr/>
                    <a:lstStyle/>
                    <a:p>
                      <a:pPr algn="l"/>
                      <a:r>
                        <a:rPr sz="900"/>
                        <a:t>4 / 4  (100%)</a:t>
                      </a:r>
                    </a:p>
                  </a:txBody>
                  <a:tcPr>
                    <a:solidFill>
                      <a:srgbClr val="FFFFFF"/>
                    </a:solidFill>
                  </a:tcPr>
                </a:tc>
                <a:tc>
                  <a:txBody>
                    <a:bodyPr/>
                    <a:lstStyle/>
                    <a:p>
                      <a:pPr algn="l"/>
                      <a:r>
                        <a:rPr sz="900"/>
                        <a:t>Caught at depth=1</a:t>
                      </a:r>
                    </a:p>
                  </a:txBody>
                  <a:tcPr>
                    <a:solidFill>
                      <a:srgbClr val="FFFFFF"/>
                    </a:solidFill>
                  </a:tcPr>
                </a:tc>
              </a:tr>
              <a:tr h="339634">
                <a:tc>
                  <a:txBody>
                    <a:bodyPr/>
                    <a:lstStyle/>
                    <a:p>
                      <a:pPr algn="ctr"/>
                      <a:r>
                        <a:rPr sz="900"/>
                        <a:t>Wrong operation</a:t>
                      </a:r>
                    </a:p>
                  </a:txBody>
                  <a:tcPr>
                    <a:solidFill>
                      <a:srgbClr val="E8EAF6"/>
                    </a:solidFill>
                  </a:tcPr>
                </a:tc>
                <a:tc>
                  <a:txBody>
                    <a:bodyPr/>
                    <a:lstStyle/>
                    <a:p>
                      <a:pPr algn="l"/>
                      <a:r>
                        <a:rPr sz="900"/>
                        <a:t>1 / 1  (100%)</a:t>
                      </a:r>
                    </a:p>
                  </a:txBody>
                  <a:tcPr>
                    <a:solidFill>
                      <a:srgbClr val="E8EAF6"/>
                    </a:solidFill>
                  </a:tcPr>
                </a:tc>
                <a:tc>
                  <a:txBody>
                    <a:bodyPr/>
                    <a:lstStyle/>
                    <a:p>
                      <a:pPr algn="l"/>
                      <a:r>
                        <a:rPr sz="900"/>
                        <a:t>State change catches it</a:t>
                      </a:r>
                    </a:p>
                  </a:txBody>
                  <a:tcPr>
                    <a:solidFill>
                      <a:srgbClr val="E8EAF6"/>
                    </a:solidFill>
                  </a:tcPr>
                </a:tc>
              </a:tr>
              <a:tr h="339634">
                <a:tc>
                  <a:txBody>
                    <a:bodyPr/>
                    <a:lstStyle/>
                    <a:p>
                      <a:pPr algn="ctr"/>
                      <a:r>
                        <a:rPr sz="900"/>
                        <a:t>Wrong conditional</a:t>
                      </a:r>
                    </a:p>
                  </a:txBody>
                  <a:tcPr>
                    <a:solidFill>
                      <a:srgbClr val="FFFFFF"/>
                    </a:solidFill>
                  </a:tcPr>
                </a:tc>
                <a:tc>
                  <a:txBody>
                    <a:bodyPr/>
                    <a:lstStyle/>
                    <a:p>
                      <a:pPr algn="l"/>
                      <a:r>
                        <a:rPr sz="900"/>
                        <a:t>3 / 3  (100%)</a:t>
                      </a:r>
                    </a:p>
                  </a:txBody>
                  <a:tcPr>
                    <a:solidFill>
                      <a:srgbClr val="FFFFFF"/>
                    </a:solidFill>
                  </a:tcPr>
                </a:tc>
                <a:tc>
                  <a:txBody>
                    <a:bodyPr/>
                    <a:lstStyle/>
                    <a:p>
                      <a:pPr algn="l"/>
                      <a:r>
                        <a:rPr sz="900"/>
                        <a:t>Exception → wrong HTTP → fails assert</a:t>
                      </a:r>
                    </a:p>
                  </a:txBody>
                  <a:tcPr>
                    <a:solidFill>
                      <a:srgbClr val="FFFFFF"/>
                    </a:solidFill>
                  </a:tcPr>
                </a:tc>
              </a:tr>
              <a:tr h="339634">
                <a:tc>
                  <a:txBody>
                    <a:bodyPr/>
                    <a:lstStyle/>
                    <a:p>
                      <a:pPr algn="ctr"/>
                      <a:r>
                        <a:rPr sz="900"/>
                        <a:t>Wrong calculation</a:t>
                      </a:r>
                    </a:p>
                  </a:txBody>
                  <a:tcPr>
                    <a:solidFill>
                      <a:srgbClr val="E8EAF6"/>
                    </a:solidFill>
                  </a:tcPr>
                </a:tc>
                <a:tc>
                  <a:txBody>
                    <a:bodyPr/>
                    <a:lstStyle/>
                    <a:p>
                      <a:pPr algn="l"/>
                      <a:r>
                        <a:rPr sz="900"/>
                        <a:t>3 / 3  (100%)</a:t>
                      </a:r>
                    </a:p>
                  </a:txBody>
                  <a:tcPr>
                    <a:solidFill>
                      <a:srgbClr val="E8EAF6"/>
                    </a:solidFill>
                  </a:tcPr>
                </a:tc>
                <a:tc>
                  <a:txBody>
                    <a:bodyPr/>
                    <a:lstStyle/>
                    <a:p>
                      <a:pPr algn="l"/>
                      <a:r>
                        <a:rPr sz="900"/>
                        <a:t>Spec value assertions</a:t>
                      </a:r>
                    </a:p>
                  </a:txBody>
                  <a:tcPr>
                    <a:solidFill>
                      <a:srgbClr val="E8EAF6"/>
                    </a:solidFill>
                  </a:tcPr>
                </a:tc>
              </a:tr>
              <a:tr h="339636">
                <a:tc>
                  <a:txBody>
                    <a:bodyPr/>
                    <a:lstStyle/>
                    <a:p>
                      <a:pPr algn="ctr"/>
                      <a:r>
                        <a:rPr sz="900"/>
                        <a:t>Wrong status code</a:t>
                      </a:r>
                    </a:p>
                  </a:txBody>
                  <a:tcPr>
                    <a:solidFill>
                      <a:srgbClr val="FFFFFF"/>
                    </a:solidFill>
                  </a:tcPr>
                </a:tc>
                <a:tc>
                  <a:txBody>
                    <a:bodyPr/>
                    <a:lstStyle/>
                    <a:p>
                      <a:pPr algn="l"/>
                      <a:r>
                        <a:rPr sz="900"/>
                        <a:t>2 / 2  (100%)</a:t>
                      </a:r>
                    </a:p>
                  </a:txBody>
                  <a:tcPr>
                    <a:solidFill>
                      <a:srgbClr val="FFFFFF"/>
                    </a:solidFill>
                  </a:tcPr>
                </a:tc>
                <a:tc>
                  <a:txBody>
                    <a:bodyPr/>
                    <a:lstStyle/>
                    <a:p>
                      <a:pPr algn="l"/>
                      <a:r>
                        <a:rPr sz="900"/>
                        <a:t>Isolation: detected with single bug active</a:t>
                      </a:r>
                    </a:p>
                  </a:txBody>
                  <a:tcPr>
                    <a:solidFill>
                      <a:srgbClr val="FFFFFF"/>
                    </a:solidFill>
                  </a:tcPr>
                </a:tc>
              </a:tr>
            </a:tbl>
          </a:graphicData>
        </a:graphic>
      </p:graphicFrame>
      <p:sp>
        <p:nvSpPr>
          <p:cNvPr id="8" name="TextBox 7"/>
          <p:cNvSpPr txBox="1"/>
          <p:nvPr/>
        </p:nvSpPr>
        <p:spPr>
          <a:xfrm>
            <a:off x="7498079" y="2926080"/>
            <a:ext cx="4114800" cy="320040"/>
          </a:xfrm>
          <a:prstGeom prst="rect">
            <a:avLst/>
          </a:prstGeom>
          <a:noFill/>
        </p:spPr>
        <p:txBody>
          <a:bodyPr wrap="square">
            <a:spAutoFit/>
          </a:bodyPr>
          <a:lstStyle/>
          <a:p>
            <a:pPr algn="l"/>
            <a:r>
              <a:rPr sz="1200" b="1" i="0">
                <a:solidFill>
                  <a:srgbClr val="1A237E"/>
                </a:solidFill>
              </a:rPr>
              <a:t>Depth Distribution:</a:t>
            </a:r>
          </a:p>
        </p:txBody>
      </p:sp>
      <p:graphicFrame>
        <p:nvGraphicFramePr>
          <p:cNvPr id="9" name="Table 8"/>
          <p:cNvGraphicFramePr>
            <a:graphicFrameLocks noGrp="1"/>
          </p:cNvGraphicFramePr>
          <p:nvPr/>
        </p:nvGraphicFramePr>
        <p:xfrm>
          <a:off x="7498079" y="3246120"/>
          <a:ext cx="4389120" cy="2377440"/>
        </p:xfrm>
        <a:graphic>
          <a:graphicData uri="http://schemas.openxmlformats.org/drawingml/2006/table">
            <a:tbl>
              <a:tblPr firstRow="1" bandRow="1">
                <a:tableStyleId>{5C22544A-7EE6-4342-B048-85BDC9FD1C3A}</a:tableStyleId>
              </a:tblPr>
              <a:tblGrid>
                <a:gridCol w="877824"/>
                <a:gridCol w="877824"/>
                <a:gridCol w="2633472"/>
              </a:tblGrid>
              <a:tr h="396240">
                <a:tc>
                  <a:txBody>
                    <a:bodyPr/>
                    <a:lstStyle/>
                    <a:p>
                      <a:pPr algn="ctr"/>
                      <a:r>
                        <a:rPr b="1" sz="1000">
                          <a:solidFill>
                            <a:srgbClr val="FFFFFF"/>
                          </a:solidFill>
                        </a:rPr>
                        <a:t>Depth</a:t>
                      </a:r>
                    </a:p>
                  </a:txBody>
                  <a:tcPr>
                    <a:solidFill>
                      <a:srgbClr val="1A237E"/>
                    </a:solidFill>
                  </a:tcPr>
                </a:tc>
                <a:tc>
                  <a:txBody>
                    <a:bodyPr/>
                    <a:lstStyle/>
                    <a:p>
                      <a:pPr algn="ctr"/>
                      <a:r>
                        <a:rPr b="1" sz="1000">
                          <a:solidFill>
                            <a:srgbClr val="FFFFFF"/>
                          </a:solidFill>
                        </a:rPr>
                        <a:t>Count</a:t>
                      </a:r>
                    </a:p>
                  </a:txBody>
                  <a:tcPr>
                    <a:solidFill>
                      <a:srgbClr val="1A237E"/>
                    </a:solidFill>
                  </a:tcPr>
                </a:tc>
                <a:tc>
                  <a:txBody>
                    <a:bodyPr/>
                    <a:lstStyle/>
                    <a:p>
                      <a:pPr algn="ctr"/>
                      <a:r>
                        <a:rPr b="1" sz="1000">
                          <a:solidFill>
                            <a:srgbClr val="FFFFFF"/>
                          </a:solidFill>
                        </a:rPr>
                        <a:t>Example Bugs</a:t>
                      </a:r>
                    </a:p>
                  </a:txBody>
                  <a:tcPr>
                    <a:solidFill>
                      <a:srgbClr val="1A237E"/>
                    </a:solidFill>
                  </a:tcPr>
                </a:tc>
              </a:tr>
              <a:tr h="396240">
                <a:tc>
                  <a:txBody>
                    <a:bodyPr/>
                    <a:lstStyle/>
                    <a:p>
                      <a:pPr algn="ctr"/>
                      <a:r>
                        <a:rPr sz="900"/>
                        <a:t>1</a:t>
                      </a:r>
                    </a:p>
                  </a:txBody>
                  <a:tcPr>
                    <a:solidFill>
                      <a:srgbClr val="E8EAF6"/>
                    </a:solidFill>
                  </a:tcPr>
                </a:tc>
                <a:tc>
                  <a:txBody>
                    <a:bodyPr/>
                    <a:lstStyle/>
                    <a:p>
                      <a:pPr algn="l"/>
                      <a:r>
                        <a:rPr sz="900"/>
                        <a:t>7</a:t>
                      </a:r>
                    </a:p>
                  </a:txBody>
                  <a:tcPr>
                    <a:solidFill>
                      <a:srgbClr val="E8EAF6"/>
                    </a:solidFill>
                  </a:tcPr>
                </a:tc>
                <a:tc>
                  <a:txBody>
                    <a:bodyPr/>
                    <a:lstStyle/>
                    <a:p>
                      <a:pPr algn="l"/>
                      <a:r>
                        <a:rPr sz="900"/>
                        <a:t>RB1, RB3, RB8, EB1, EB2, LB7, LB8</a:t>
                      </a:r>
                    </a:p>
                  </a:txBody>
                  <a:tcPr>
                    <a:solidFill>
                      <a:srgbClr val="E8EAF6"/>
                    </a:solidFill>
                  </a:tcPr>
                </a:tc>
              </a:tr>
              <a:tr h="396240">
                <a:tc>
                  <a:txBody>
                    <a:bodyPr/>
                    <a:lstStyle/>
                    <a:p>
                      <a:pPr algn="ctr"/>
                      <a:r>
                        <a:rPr sz="900"/>
                        <a:t>2</a:t>
                      </a:r>
                    </a:p>
                  </a:txBody>
                  <a:tcPr>
                    <a:solidFill>
                      <a:srgbClr val="FFFFFF"/>
                    </a:solidFill>
                  </a:tcPr>
                </a:tc>
                <a:tc>
                  <a:txBody>
                    <a:bodyPr/>
                    <a:lstStyle/>
                    <a:p>
                      <a:pPr algn="l"/>
                      <a:r>
                        <a:rPr sz="900"/>
                        <a:t>12</a:t>
                      </a:r>
                    </a:p>
                  </a:txBody>
                  <a:tcPr>
                    <a:solidFill>
                      <a:srgbClr val="FFFFFF"/>
                    </a:solidFill>
                  </a:tcPr>
                </a:tc>
                <a:tc>
                  <a:txBody>
                    <a:bodyPr/>
                    <a:lstStyle/>
                    <a:p>
                      <a:pPr algn="l"/>
                      <a:r>
                        <a:rPr sz="900"/>
                        <a:t>Most delete/update/guard bugs</a:t>
                      </a:r>
                    </a:p>
                  </a:txBody>
                  <a:tcPr>
                    <a:solidFill>
                      <a:srgbClr val="FFFFFF"/>
                    </a:solidFill>
                  </a:tcPr>
                </a:tc>
              </a:tr>
              <a:tr h="396240">
                <a:tc>
                  <a:txBody>
                    <a:bodyPr/>
                    <a:lstStyle/>
                    <a:p>
                      <a:pPr algn="ctr"/>
                      <a:r>
                        <a:rPr sz="900"/>
                        <a:t>3</a:t>
                      </a:r>
                    </a:p>
                  </a:txBody>
                  <a:tcPr>
                    <a:solidFill>
                      <a:srgbClr val="E8EAF6"/>
                    </a:solidFill>
                  </a:tcPr>
                </a:tc>
                <a:tc>
                  <a:txBody>
                    <a:bodyPr/>
                    <a:lstStyle/>
                    <a:p>
                      <a:pPr algn="l"/>
                      <a:r>
                        <a:rPr sz="900"/>
                        <a:t>2</a:t>
                      </a:r>
                    </a:p>
                  </a:txBody>
                  <a:tcPr>
                    <a:solidFill>
                      <a:srgbClr val="E8EAF6"/>
                    </a:solidFill>
                  </a:tcPr>
                </a:tc>
                <a:tc>
                  <a:txBody>
                    <a:bodyPr/>
                    <a:lstStyle/>
                    <a:p>
                      <a:pPr algn="l"/>
                      <a:r>
                        <a:rPr sz="900"/>
                        <a:t>RB4, EB6</a:t>
                      </a:r>
                    </a:p>
                  </a:txBody>
                  <a:tcPr>
                    <a:solidFill>
                      <a:srgbClr val="E8EAF6"/>
                    </a:solidFill>
                  </a:tcPr>
                </a:tc>
              </a:tr>
              <a:tr h="396240">
                <a:tc>
                  <a:txBody>
                    <a:bodyPr/>
                    <a:lstStyle/>
                    <a:p>
                      <a:pPr algn="ctr"/>
                      <a:r>
                        <a:rPr sz="900"/>
                        <a:t>4</a:t>
                      </a:r>
                    </a:p>
                  </a:txBody>
                  <a:tcPr>
                    <a:solidFill>
                      <a:srgbClr val="FFFFFF"/>
                    </a:solidFill>
                  </a:tcPr>
                </a:tc>
                <a:tc>
                  <a:txBody>
                    <a:bodyPr/>
                    <a:lstStyle/>
                    <a:p>
                      <a:pPr algn="l"/>
                      <a:r>
                        <a:rPr sz="900"/>
                        <a:t>2</a:t>
                      </a:r>
                    </a:p>
                  </a:txBody>
                  <a:tcPr>
                    <a:solidFill>
                      <a:srgbClr val="FFFFFF"/>
                    </a:solidFill>
                  </a:tcPr>
                </a:tc>
                <a:tc>
                  <a:txBody>
                    <a:bodyPr/>
                    <a:lstStyle/>
                    <a:p>
                      <a:pPr algn="l"/>
                      <a:r>
                        <a:rPr sz="900"/>
                        <a:t>LB1, LB3</a:t>
                      </a:r>
                    </a:p>
                  </a:txBody>
                  <a:tcPr>
                    <a:solidFill>
                      <a:srgbClr val="FFFFFF"/>
                    </a:solidFill>
                  </a:tcPr>
                </a:tc>
              </a:tr>
              <a:tr h="396240">
                <a:tc>
                  <a:txBody>
                    <a:bodyPr/>
                    <a:lstStyle/>
                    <a:p>
                      <a:pPr algn="ctr"/>
                      <a:r>
                        <a:rPr sz="900"/>
                        <a:t>5</a:t>
                      </a:r>
                    </a:p>
                  </a:txBody>
                  <a:tcPr>
                    <a:solidFill>
                      <a:srgbClr val="E8EAF6"/>
                    </a:solidFill>
                  </a:tcPr>
                </a:tc>
                <a:tc>
                  <a:txBody>
                    <a:bodyPr/>
                    <a:lstStyle/>
                    <a:p>
                      <a:pPr algn="l"/>
                      <a:r>
                        <a:rPr sz="900"/>
                        <a:t>1</a:t>
                      </a:r>
                    </a:p>
                  </a:txBody>
                  <a:tcPr>
                    <a:solidFill>
                      <a:srgbClr val="E8EAF6"/>
                    </a:solidFill>
                  </a:tcPr>
                </a:tc>
                <a:tc>
                  <a:txBody>
                    <a:bodyPr/>
                    <a:lstStyle/>
                    <a:p>
                      <a:pPr algn="l"/>
                      <a:r>
                        <a:rPr sz="900"/>
                        <a:t>LB4 (deepest)</a:t>
                      </a:r>
                    </a:p>
                  </a:txBody>
                  <a:tcPr>
                    <a:solidFill>
                      <a:srgbClr val="E8EAF6"/>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Key Takeaways</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14300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14300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645920"/>
            <a:ext cx="182880" cy="548640"/>
          </a:xfrm>
          <a:prstGeom prst="rect">
            <a:avLst/>
          </a:prstGeom>
          <a:noFill/>
        </p:spPr>
        <p:txBody>
          <a:bodyPr wrap="square">
            <a:spAutoFit/>
          </a:bodyPr>
          <a:lstStyle/>
          <a:p>
            <a:pPr algn="ctr"/>
            <a:r>
              <a:rPr sz="1400" b="1" i="0">
                <a:solidFill>
                  <a:srgbClr val="FFFFFF"/>
                </a:solidFill>
              </a:rPr>
              <a:t>1</a:t>
            </a:r>
          </a:p>
        </p:txBody>
      </p:sp>
      <p:sp>
        <p:nvSpPr>
          <p:cNvPr id="8" name="TextBox 7"/>
          <p:cNvSpPr txBox="1"/>
          <p:nvPr/>
        </p:nvSpPr>
        <p:spPr>
          <a:xfrm>
            <a:off x="640080" y="1188720"/>
            <a:ext cx="5212080" cy="457200"/>
          </a:xfrm>
          <a:prstGeom prst="rect">
            <a:avLst/>
          </a:prstGeom>
          <a:noFill/>
        </p:spPr>
        <p:txBody>
          <a:bodyPr wrap="square">
            <a:spAutoFit/>
          </a:bodyPr>
          <a:lstStyle/>
          <a:p>
            <a:pPr algn="l"/>
            <a:r>
              <a:rPr sz="1000" b="1" i="0">
                <a:solidFill>
                  <a:srgbClr val="1A237E"/>
                </a:solidFill>
              </a:rPr>
              <a:t>Postconditions check live DB state</a:t>
            </a:r>
          </a:p>
        </p:txBody>
      </p:sp>
      <p:sp>
        <p:nvSpPr>
          <p:cNvPr id="9" name="TextBox 8"/>
          <p:cNvSpPr txBox="1"/>
          <p:nvPr/>
        </p:nvSpPr>
        <p:spPr>
          <a:xfrm>
            <a:off x="640080" y="1645920"/>
            <a:ext cx="5212080" cy="1051560"/>
          </a:xfrm>
          <a:prstGeom prst="rect">
            <a:avLst/>
          </a:prstGeom>
          <a:noFill/>
        </p:spPr>
        <p:txBody>
          <a:bodyPr wrap="square">
            <a:spAutoFit/>
          </a:bodyPr>
          <a:lstStyle/>
          <a:p>
            <a:pPr algn="l"/>
            <a:r>
              <a:rPr sz="850" b="0" i="0">
                <a:solidFill>
                  <a:srgbClr val="333333"/>
                </a:solidFill>
              </a:rPr>
              <a:t>After each API call, get_U/get_B/get_S fetch real DB state. If the expected change didn't happen → postcondition fails → bug detected. Works across Node.js+MongoDB and Java+MySQL.</a:t>
            </a:r>
          </a:p>
        </p:txBody>
      </p:sp>
      <p:sp>
        <p:nvSpPr>
          <p:cNvPr id="10" name="Rectangle 9"/>
          <p:cNvSpPr/>
          <p:nvPr/>
        </p:nvSpPr>
        <p:spPr>
          <a:xfrm>
            <a:off x="6217920" y="114300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14300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645920"/>
            <a:ext cx="182880" cy="548640"/>
          </a:xfrm>
          <a:prstGeom prst="rect">
            <a:avLst/>
          </a:prstGeom>
          <a:noFill/>
        </p:spPr>
        <p:txBody>
          <a:bodyPr wrap="square">
            <a:spAutoFit/>
          </a:bodyPr>
          <a:lstStyle/>
          <a:p>
            <a:pPr algn="ctr"/>
            <a:r>
              <a:rPr sz="1400" b="1" i="0">
                <a:solidFill>
                  <a:srgbClr val="FFFFFF"/>
                </a:solidFill>
              </a:rPr>
              <a:t>2</a:t>
            </a:r>
          </a:p>
        </p:txBody>
      </p:sp>
      <p:sp>
        <p:nvSpPr>
          <p:cNvPr id="13" name="TextBox 12"/>
          <p:cNvSpPr txBox="1"/>
          <p:nvPr/>
        </p:nvSpPr>
        <p:spPr>
          <a:xfrm>
            <a:off x="6583680" y="1188720"/>
            <a:ext cx="5212080" cy="457200"/>
          </a:xfrm>
          <a:prstGeom prst="rect">
            <a:avLst/>
          </a:prstGeom>
          <a:noFill/>
        </p:spPr>
        <p:txBody>
          <a:bodyPr wrap="square">
            <a:spAutoFit/>
          </a:bodyPr>
          <a:lstStyle/>
          <a:p>
            <a:pPr algn="l"/>
            <a:r>
              <a:rPr sz="1000" b="1" i="0">
                <a:solidFill>
                  <a:srgbClr val="1A237E"/>
                </a:solidFill>
              </a:rPr>
              <a:t>One-bug-at-a-time isolation is critical</a:t>
            </a:r>
          </a:p>
        </p:txBody>
      </p:sp>
      <p:sp>
        <p:nvSpPr>
          <p:cNvPr id="14" name="TextBox 13"/>
          <p:cNvSpPr txBox="1"/>
          <p:nvPr/>
        </p:nvSpPr>
        <p:spPr>
          <a:xfrm>
            <a:off x="6583680" y="1645920"/>
            <a:ext cx="5212080" cy="1051560"/>
          </a:xfrm>
          <a:prstGeom prst="rect">
            <a:avLst/>
          </a:prstGeom>
          <a:noFill/>
        </p:spPr>
        <p:txBody>
          <a:bodyPr wrap="square">
            <a:spAutoFit/>
          </a:bodyPr>
          <a:lstStyle/>
          <a:p>
            <a:pPr algn="l"/>
            <a:r>
              <a:rPr sz="850" b="0" i="0">
                <a:solidFill>
                  <a:srgbClr val="333333"/>
                </a:solidFill>
              </a:rPr>
              <a:t>When multiple bugs are active simultaneously, interactions mask detection. Proper isolation (inject → test → restore) gives an accurate 24/24 score.</a:t>
            </a:r>
          </a:p>
        </p:txBody>
      </p:sp>
      <p:sp>
        <p:nvSpPr>
          <p:cNvPr id="15" name="Rectangle 14"/>
          <p:cNvSpPr/>
          <p:nvPr/>
        </p:nvSpPr>
        <p:spPr>
          <a:xfrm>
            <a:off x="274320" y="288036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288036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383280"/>
            <a:ext cx="182880" cy="548640"/>
          </a:xfrm>
          <a:prstGeom prst="rect">
            <a:avLst/>
          </a:prstGeom>
          <a:noFill/>
        </p:spPr>
        <p:txBody>
          <a:bodyPr wrap="square">
            <a:spAutoFit/>
          </a:bodyPr>
          <a:lstStyle/>
          <a:p>
            <a:pPr algn="ctr"/>
            <a:r>
              <a:rPr sz="1400" b="1" i="0">
                <a:solidFill>
                  <a:srgbClr val="FFFFFF"/>
                </a:solidFill>
              </a:rPr>
              <a:t>3</a:t>
            </a:r>
          </a:p>
        </p:txBody>
      </p:sp>
      <p:sp>
        <p:nvSpPr>
          <p:cNvPr id="18" name="TextBox 17"/>
          <p:cNvSpPr txBox="1"/>
          <p:nvPr/>
        </p:nvSpPr>
        <p:spPr>
          <a:xfrm>
            <a:off x="640080" y="2926079"/>
            <a:ext cx="5212080" cy="457200"/>
          </a:xfrm>
          <a:prstGeom prst="rect">
            <a:avLst/>
          </a:prstGeom>
          <a:noFill/>
        </p:spPr>
        <p:txBody>
          <a:bodyPr wrap="square">
            <a:spAutoFit/>
          </a:bodyPr>
          <a:lstStyle/>
          <a:p>
            <a:pPr algn="l"/>
            <a:r>
              <a:rPr sz="1000" b="1" i="0">
                <a:solidFill>
                  <a:srgbClr val="1A237E"/>
                </a:solidFill>
              </a:rPr>
              <a:t>Save-without-persist caught at depth=1</a:t>
            </a:r>
          </a:p>
        </p:txBody>
      </p:sp>
      <p:sp>
        <p:nvSpPr>
          <p:cNvPr id="19" name="TextBox 18"/>
          <p:cNvSpPr txBox="1"/>
          <p:nvPr/>
        </p:nvSpPr>
        <p:spPr>
          <a:xfrm>
            <a:off x="640080" y="3383280"/>
            <a:ext cx="5212080" cy="1051560"/>
          </a:xfrm>
          <a:prstGeom prst="rect">
            <a:avLst/>
          </a:prstGeom>
          <a:noFill/>
        </p:spPr>
        <p:txBody>
          <a:bodyPr wrap="square">
            <a:spAutoFit/>
          </a:bodyPr>
          <a:lstStyle/>
          <a:p>
            <a:pPr algn="l"/>
            <a:r>
              <a:rPr sz="850" b="0" i="0">
                <a:solidFill>
                  <a:srgbClr val="333333"/>
                </a:solidFill>
              </a:rPr>
              <a:t>return new Book() → bookCode=0; return student → id=0. Neither exists in DB → in-domain assertion fails instantly.</a:t>
            </a:r>
          </a:p>
        </p:txBody>
      </p:sp>
      <p:sp>
        <p:nvSpPr>
          <p:cNvPr id="20" name="Rectangle 19"/>
          <p:cNvSpPr/>
          <p:nvPr/>
        </p:nvSpPr>
        <p:spPr>
          <a:xfrm>
            <a:off x="6217920" y="288036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88036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3383280"/>
            <a:ext cx="182880" cy="548640"/>
          </a:xfrm>
          <a:prstGeom prst="rect">
            <a:avLst/>
          </a:prstGeom>
          <a:noFill/>
        </p:spPr>
        <p:txBody>
          <a:bodyPr wrap="square">
            <a:spAutoFit/>
          </a:bodyPr>
          <a:lstStyle/>
          <a:p>
            <a:pPr algn="ctr"/>
            <a:r>
              <a:rPr sz="1400" b="1" i="0">
                <a:solidFill>
                  <a:srgbClr val="FFFFFF"/>
                </a:solidFill>
              </a:rPr>
              <a:t>4</a:t>
            </a:r>
          </a:p>
        </p:txBody>
      </p:sp>
      <p:sp>
        <p:nvSpPr>
          <p:cNvPr id="23" name="TextBox 22"/>
          <p:cNvSpPr txBox="1"/>
          <p:nvPr/>
        </p:nvSpPr>
        <p:spPr>
          <a:xfrm>
            <a:off x="6583680" y="2926079"/>
            <a:ext cx="5212080" cy="457200"/>
          </a:xfrm>
          <a:prstGeom prst="rect">
            <a:avLst/>
          </a:prstGeom>
          <a:noFill/>
        </p:spPr>
        <p:txBody>
          <a:bodyPr wrap="square">
            <a:spAutoFit/>
          </a:bodyPr>
          <a:lstStyle/>
          <a:p>
            <a:pPr algn="l"/>
            <a:r>
              <a:rPr sz="1000" b="1" i="0">
                <a:solidFill>
                  <a:srgbClr val="1A237E"/>
                </a:solidFill>
              </a:rPr>
              <a:t>Cascade detection amplifies signal</a:t>
            </a:r>
          </a:p>
        </p:txBody>
      </p:sp>
      <p:sp>
        <p:nvSpPr>
          <p:cNvPr id="24" name="TextBox 23"/>
          <p:cNvSpPr txBox="1"/>
          <p:nvPr/>
        </p:nvSpPr>
        <p:spPr>
          <a:xfrm>
            <a:off x="6583680" y="3383280"/>
            <a:ext cx="5212080" cy="1051560"/>
          </a:xfrm>
          <a:prstGeom prst="rect">
            <a:avLst/>
          </a:prstGeom>
          <a:noFill/>
        </p:spPr>
        <p:txBody>
          <a:bodyPr wrap="square">
            <a:spAutoFit/>
          </a:bodyPr>
          <a:lstStyle/>
          <a:p>
            <a:pPr algn="l"/>
            <a:r>
              <a:rPr sz="850" b="0" i="0">
                <a:solidFill>
                  <a:srgbClr val="333333"/>
                </a:solidFill>
              </a:rPr>
              <a:t>LB8 (book not saved) cascades into LB1,LB3,LB4,LB6. LB7 (student not saved) cascades into LB1,LB3,LB4. One bug → evidence across many test paths.</a:t>
            </a:r>
          </a:p>
        </p:txBody>
      </p:sp>
      <p:sp>
        <p:nvSpPr>
          <p:cNvPr id="25" name="Rectangle 24"/>
          <p:cNvSpPr/>
          <p:nvPr/>
        </p:nvSpPr>
        <p:spPr>
          <a:xfrm>
            <a:off x="274320" y="461772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461772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5120640"/>
            <a:ext cx="182880" cy="548640"/>
          </a:xfrm>
          <a:prstGeom prst="rect">
            <a:avLst/>
          </a:prstGeom>
          <a:noFill/>
        </p:spPr>
        <p:txBody>
          <a:bodyPr wrap="square">
            <a:spAutoFit/>
          </a:bodyPr>
          <a:lstStyle/>
          <a:p>
            <a:pPr algn="ctr"/>
            <a:r>
              <a:rPr sz="1400" b="1" i="0">
                <a:solidFill>
                  <a:srgbClr val="FFFFFF"/>
                </a:solidFill>
              </a:rPr>
              <a:t>5</a:t>
            </a:r>
          </a:p>
        </p:txBody>
      </p:sp>
      <p:sp>
        <p:nvSpPr>
          <p:cNvPr id="28" name="TextBox 27"/>
          <p:cNvSpPr txBox="1"/>
          <p:nvPr/>
        </p:nvSpPr>
        <p:spPr>
          <a:xfrm>
            <a:off x="640080" y="4663440"/>
            <a:ext cx="5212080" cy="457200"/>
          </a:xfrm>
          <a:prstGeom prst="rect">
            <a:avLst/>
          </a:prstGeom>
          <a:noFill/>
        </p:spPr>
        <p:txBody>
          <a:bodyPr wrap="square">
            <a:spAutoFit/>
          </a:bodyPr>
          <a:lstStyle/>
          <a:p>
            <a:pPr algn="l"/>
            <a:r>
              <a:rPr sz="1000" b="1" i="0">
                <a:solidFill>
                  <a:srgbClr val="1A237E"/>
                </a:solidFill>
              </a:rPr>
              <a:t>Existing specs are often sufficient</a:t>
            </a:r>
          </a:p>
        </p:txBody>
      </p:sp>
      <p:sp>
        <p:nvSpPr>
          <p:cNvPr id="29" name="TextBox 28"/>
          <p:cNvSpPr txBox="1"/>
          <p:nvPr/>
        </p:nvSpPr>
        <p:spPr>
          <a:xfrm>
            <a:off x="640080" y="5120640"/>
            <a:ext cx="5212080" cy="1051560"/>
          </a:xfrm>
          <a:prstGeom prst="rect">
            <a:avLst/>
          </a:prstGeom>
          <a:noFill/>
        </p:spPr>
        <p:txBody>
          <a:bodyPr wrap="square">
            <a:spAutoFit/>
          </a:bodyPr>
          <a:lstStyle/>
          <a:p>
            <a:pPr algn="l"/>
            <a:r>
              <a:rPr sz="850" b="0" i="0">
                <a:solidFill>
                  <a:srgbClr val="333333"/>
                </a:solidFill>
              </a:rPr>
              <a:t>Library: 8/8 bugs caught with 0 new spec blocks. Well-written save/delete/update/accept/return postconditions are enough to catch new bugs without spec changes.</a:t>
            </a:r>
          </a:p>
        </p:txBody>
      </p:sp>
      <p:sp>
        <p:nvSpPr>
          <p:cNvPr id="30" name="Rectangle 29"/>
          <p:cNvSpPr/>
          <p:nvPr/>
        </p:nvSpPr>
        <p:spPr>
          <a:xfrm>
            <a:off x="6217920" y="461772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461772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5120640"/>
            <a:ext cx="182880" cy="548640"/>
          </a:xfrm>
          <a:prstGeom prst="rect">
            <a:avLst/>
          </a:prstGeom>
          <a:noFill/>
        </p:spPr>
        <p:txBody>
          <a:bodyPr wrap="square">
            <a:spAutoFit/>
          </a:bodyPr>
          <a:lstStyle/>
          <a:p>
            <a:pPr algn="ctr"/>
            <a:r>
              <a:rPr sz="1400" b="1" i="0">
                <a:solidFill>
                  <a:srgbClr val="FFFFFF"/>
                </a:solidFill>
              </a:rPr>
              <a:t>6</a:t>
            </a:r>
          </a:p>
        </p:txBody>
      </p:sp>
      <p:sp>
        <p:nvSpPr>
          <p:cNvPr id="33" name="TextBox 32"/>
          <p:cNvSpPr txBox="1"/>
          <p:nvPr/>
        </p:nvSpPr>
        <p:spPr>
          <a:xfrm>
            <a:off x="6583680" y="4663440"/>
            <a:ext cx="5212080" cy="457200"/>
          </a:xfrm>
          <a:prstGeom prst="rect">
            <a:avLst/>
          </a:prstGeom>
          <a:noFill/>
        </p:spPr>
        <p:txBody>
          <a:bodyPr wrap="square">
            <a:spAutoFit/>
          </a:bodyPr>
          <a:lstStyle/>
          <a:p>
            <a:pPr algn="l"/>
            <a:r>
              <a:rPr sz="1000" b="1" i="0">
                <a:solidFill>
                  <a:srgbClr val="1A237E"/>
                </a:solidFill>
              </a:rPr>
              <a:t>SEE + Z3 scales across tech stacks</a:t>
            </a:r>
          </a:p>
        </p:txBody>
      </p:sp>
      <p:sp>
        <p:nvSpPr>
          <p:cNvPr id="34" name="TextBox 33"/>
          <p:cNvSpPr txBox="1"/>
          <p:nvPr/>
        </p:nvSpPr>
        <p:spPr>
          <a:xfrm>
            <a:off x="6583680" y="5120640"/>
            <a:ext cx="5212080" cy="1051560"/>
          </a:xfrm>
          <a:prstGeom prst="rect">
            <a:avLst/>
          </a:prstGeom>
          <a:noFill/>
        </p:spPr>
        <p:txBody>
          <a:bodyPr wrap="square">
            <a:spAutoFit/>
          </a:bodyPr>
          <a:lstStyle/>
          <a:p>
            <a:pPr algn="l"/>
            <a:r>
              <a:rPr sz="850" b="0" i="0">
                <a:solidFill>
                  <a:srgbClr val="333333"/>
                </a:solidFill>
              </a:rPr>
              <a:t>Only FunctionFactory and HTTP layer adapt per backend. SEE, Z3, and assertion evaluation are fully backend-agnostic. Successfully tested Node.js and Java Spring Boot.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