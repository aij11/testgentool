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1554480"/>
          </a:xfrm>
          <a:prstGeom prst="rect">
            <a:avLst/>
          </a:prstGeom>
          <a:solidFill>
            <a:srgbClr val="303F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1371600"/>
          </a:xfrm>
          <a:prstGeom prst="rect">
            <a:avLst/>
          </a:prstGeom>
          <a:noFill/>
        </p:spPr>
        <p:txBody>
          <a:bodyPr wrap="square">
            <a:spAutoFit/>
          </a:bodyPr>
          <a:lstStyle/>
          <a:p>
            <a:pPr algn="ctr"/>
            <a:r>
              <a:rPr sz="3600" b="1" i="0">
                <a:solidFill>
                  <a:srgbClr val="FFFFFF"/>
                </a:solidFill>
              </a:rPr>
              <a:t>TestGen: Specification-Based Mutation Testing</a:t>
            </a:r>
          </a:p>
        </p:txBody>
      </p:sp>
      <p:sp>
        <p:nvSpPr>
          <p:cNvPr id="5" name="TextBox 4"/>
          <p:cNvSpPr txBox="1"/>
          <p:nvPr/>
        </p:nvSpPr>
        <p:spPr>
          <a:xfrm>
            <a:off x="731520" y="3383280"/>
            <a:ext cx="10698480" cy="548640"/>
          </a:xfrm>
          <a:prstGeom prst="rect">
            <a:avLst/>
          </a:prstGeom>
          <a:noFill/>
        </p:spPr>
        <p:txBody>
          <a:bodyPr wrap="square">
            <a:spAutoFit/>
          </a:bodyPr>
          <a:lstStyle/>
          <a:p>
            <a:pPr algn="ctr"/>
            <a:r>
              <a:rPr sz="1800" b="0" i="0">
                <a:solidFill>
                  <a:srgbClr val="42A5F5"/>
                </a:solidFill>
              </a:rPr>
              <a:t>Restaurant  ·  E-Commerce  Web Applications</a:t>
            </a:r>
          </a:p>
        </p:txBody>
      </p:sp>
      <p:sp>
        <p:nvSpPr>
          <p:cNvPr id="6" name="TextBox 5"/>
          <p:cNvSpPr txBox="1"/>
          <p:nvPr/>
        </p:nvSpPr>
        <p:spPr>
          <a:xfrm>
            <a:off x="914400" y="5349240"/>
            <a:ext cx="10332720" cy="640080"/>
          </a:xfrm>
          <a:prstGeom prst="rect">
            <a:avLst/>
          </a:prstGeom>
          <a:noFill/>
        </p:spPr>
        <p:txBody>
          <a:bodyPr wrap="square">
            <a:spAutoFit/>
          </a:bodyPr>
          <a:lstStyle/>
          <a:p>
            <a:pPr algn="ctr"/>
            <a:r>
              <a:rPr sz="1300" b="0" i="0">
                <a:solidFill>
                  <a:srgbClr val="FFFFFF"/>
                </a:solidFill>
              </a:rPr>
              <a:t>Automated Bug Detection via Formal Specs, Symbolic Execution &amp; Z3 SMT Solving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Agenda</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43000"/>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70432"/>
            <a:ext cx="10972800" cy="475488"/>
          </a:xfrm>
          <a:prstGeom prst="rect">
            <a:avLst/>
          </a:prstGeom>
          <a:noFill/>
        </p:spPr>
        <p:txBody>
          <a:bodyPr wrap="square">
            <a:spAutoFit/>
          </a:bodyPr>
          <a:lstStyle/>
          <a:p>
            <a:pPr algn="l"/>
            <a:r>
              <a:rPr sz="1400" b="0" i="0">
                <a:solidFill>
                  <a:srgbClr val="1A237E"/>
                </a:solidFill>
              </a:rPr>
              <a:t>1.  TestGen Core Components</a:t>
            </a:r>
          </a:p>
        </p:txBody>
      </p:sp>
      <p:sp>
        <p:nvSpPr>
          <p:cNvPr id="7" name="Rectangle 6"/>
          <p:cNvSpPr/>
          <p:nvPr/>
        </p:nvSpPr>
        <p:spPr>
          <a:xfrm>
            <a:off x="457200" y="1764792"/>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92224"/>
            <a:ext cx="10972800" cy="475488"/>
          </a:xfrm>
          <a:prstGeom prst="rect">
            <a:avLst/>
          </a:prstGeom>
          <a:noFill/>
        </p:spPr>
        <p:txBody>
          <a:bodyPr wrap="square">
            <a:spAutoFit/>
          </a:bodyPr>
          <a:lstStyle/>
          <a:p>
            <a:pPr algn="l"/>
            <a:r>
              <a:rPr sz="1400" b="0" i="0">
                <a:solidFill>
                  <a:srgbClr val="1A237E"/>
                </a:solidFill>
              </a:rPr>
              <a:t>2.  ATC → CTC Pipeline</a:t>
            </a:r>
          </a:p>
        </p:txBody>
      </p:sp>
      <p:sp>
        <p:nvSpPr>
          <p:cNvPr id="9" name="Rectangle 8"/>
          <p:cNvSpPr/>
          <p:nvPr/>
        </p:nvSpPr>
        <p:spPr>
          <a:xfrm>
            <a:off x="457200" y="2386584"/>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14016"/>
            <a:ext cx="10972800" cy="475488"/>
          </a:xfrm>
          <a:prstGeom prst="rect">
            <a:avLst/>
          </a:prstGeom>
          <a:noFill/>
        </p:spPr>
        <p:txBody>
          <a:bodyPr wrap="square">
            <a:spAutoFit/>
          </a:bodyPr>
          <a:lstStyle/>
          <a:p>
            <a:pPr algn="l"/>
            <a:r>
              <a:rPr sz="1400" b="0" i="0">
                <a:solidFill>
                  <a:srgbClr val="1A237E"/>
                </a:solidFill>
              </a:rPr>
              <a:t>3.  Restaurant Backend — Results &amp; Bug Descriptions</a:t>
            </a:r>
          </a:p>
        </p:txBody>
      </p:sp>
      <p:sp>
        <p:nvSpPr>
          <p:cNvPr id="11" name="Rectangle 10"/>
          <p:cNvSpPr/>
          <p:nvPr/>
        </p:nvSpPr>
        <p:spPr>
          <a:xfrm>
            <a:off x="457200" y="3008376"/>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35808"/>
            <a:ext cx="10972800" cy="475488"/>
          </a:xfrm>
          <a:prstGeom prst="rect">
            <a:avLst/>
          </a:prstGeom>
          <a:noFill/>
        </p:spPr>
        <p:txBody>
          <a:bodyPr wrap="square">
            <a:spAutoFit/>
          </a:bodyPr>
          <a:lstStyle/>
          <a:p>
            <a:pPr algn="l"/>
            <a:r>
              <a:rPr sz="1400" b="0" i="0">
                <a:solidFill>
                  <a:srgbClr val="1A237E"/>
                </a:solidFill>
              </a:rPr>
              <a:t>4.  E-Commerce Backend — Results &amp; Bug Descriptions</a:t>
            </a:r>
          </a:p>
        </p:txBody>
      </p:sp>
      <p:sp>
        <p:nvSpPr>
          <p:cNvPr id="13" name="Rectangle 12"/>
          <p:cNvSpPr/>
          <p:nvPr/>
        </p:nvSpPr>
        <p:spPr>
          <a:xfrm>
            <a:off x="457200" y="3630168"/>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657600"/>
            <a:ext cx="10972800" cy="475488"/>
          </a:xfrm>
          <a:prstGeom prst="rect">
            <a:avLst/>
          </a:prstGeom>
          <a:noFill/>
        </p:spPr>
        <p:txBody>
          <a:bodyPr wrap="square">
            <a:spAutoFit/>
          </a:bodyPr>
          <a:lstStyle/>
          <a:p>
            <a:pPr algn="l"/>
            <a:r>
              <a:rPr sz="1400" b="0" i="0">
                <a:solidFill>
                  <a:srgbClr val="1A237E"/>
                </a:solidFill>
              </a:rPr>
              <a:t>5.  Bug Test File Walkthrough — RB5: Cart Not Cleared (depth=2)</a:t>
            </a:r>
          </a:p>
        </p:txBody>
      </p:sp>
      <p:sp>
        <p:nvSpPr>
          <p:cNvPr id="15" name="Rectangle 14"/>
          <p:cNvSpPr/>
          <p:nvPr/>
        </p:nvSpPr>
        <p:spPr>
          <a:xfrm>
            <a:off x="457200" y="4251960"/>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279392"/>
            <a:ext cx="10972800" cy="475488"/>
          </a:xfrm>
          <a:prstGeom prst="rect">
            <a:avLst/>
          </a:prstGeom>
          <a:noFill/>
        </p:spPr>
        <p:txBody>
          <a:bodyPr wrap="square">
            <a:spAutoFit/>
          </a:bodyPr>
          <a:lstStyle/>
          <a:p>
            <a:pPr algn="l"/>
            <a:r>
              <a:rPr sz="1400" b="0" i="0">
                <a:solidFill>
                  <a:srgbClr val="1A237E"/>
                </a:solidFill>
              </a:rPr>
              <a:t>6.  Bug Test File Walkthrough — EB2: Product Not Saved (depth=1)</a:t>
            </a:r>
          </a:p>
        </p:txBody>
      </p:sp>
      <p:sp>
        <p:nvSpPr>
          <p:cNvPr id="17" name="Rectangle 16"/>
          <p:cNvSpPr/>
          <p:nvPr/>
        </p:nvSpPr>
        <p:spPr>
          <a:xfrm>
            <a:off x="457200" y="4873752"/>
            <a:ext cx="11247120" cy="530352"/>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901184"/>
            <a:ext cx="10972800" cy="475488"/>
          </a:xfrm>
          <a:prstGeom prst="rect">
            <a:avLst/>
          </a:prstGeom>
          <a:noFill/>
        </p:spPr>
        <p:txBody>
          <a:bodyPr wrap="square">
            <a:spAutoFit/>
          </a:bodyPr>
          <a:lstStyle/>
          <a:p>
            <a:pPr algn="l"/>
            <a:r>
              <a:rPr sz="1400" b="0" i="0">
                <a:solidFill>
                  <a:srgbClr val="1A237E"/>
                </a:solidFill>
              </a:rPr>
              <a:t>7.  Comparative Results</a:t>
            </a:r>
          </a:p>
        </p:txBody>
      </p:sp>
      <p:sp>
        <p:nvSpPr>
          <p:cNvPr id="19" name="Rectangle 18"/>
          <p:cNvSpPr/>
          <p:nvPr/>
        </p:nvSpPr>
        <p:spPr>
          <a:xfrm>
            <a:off x="457200" y="5495544"/>
            <a:ext cx="11247120" cy="530352"/>
          </a:xfrm>
          <a:prstGeom prst="rect">
            <a:avLst/>
          </a:prstGeom>
          <a:solidFill>
            <a:srgbClr val="FFFFFF"/>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22976"/>
            <a:ext cx="10972800" cy="475488"/>
          </a:xfrm>
          <a:prstGeom prst="rect">
            <a:avLst/>
          </a:prstGeom>
          <a:noFill/>
        </p:spPr>
        <p:txBody>
          <a:bodyPr wrap="square">
            <a:spAutoFit/>
          </a:bodyPr>
          <a:lstStyle/>
          <a:p>
            <a:pPr algn="l"/>
            <a:r>
              <a:rPr sz="1400" b="0" i="0">
                <a:solidFill>
                  <a:srgbClr val="1A237E"/>
                </a:solidFill>
              </a:rPr>
              <a:t>8.  Key Takeaways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TestGen — Core Components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2560320" cy="502920"/>
          </a:xfrm>
          <a:prstGeom prst="rect">
            <a:avLst/>
          </a:prstGeom>
          <a:noFill/>
        </p:spPr>
        <p:txBody>
          <a:bodyPr wrap="square">
            <a:spAutoFit/>
          </a:bodyPr>
          <a:lstStyle/>
          <a:p>
            <a:pPr algn="l"/>
            <a:r>
              <a:rPr sz="1000" b="1" i="0">
                <a:solidFill>
                  <a:srgbClr val="1A237E"/>
                </a:solidFill>
              </a:rPr>
              <a:t>Spec
(Formal Specification)</a:t>
            </a:r>
          </a:p>
        </p:txBody>
      </p:sp>
      <p:sp>
        <p:nvSpPr>
          <p:cNvPr id="7" name="TextBox 6"/>
          <p:cNvSpPr txBox="1"/>
          <p:nvPr/>
        </p:nvSpPr>
        <p:spPr>
          <a:xfrm>
            <a:off x="365760" y="1645919"/>
            <a:ext cx="2560320" cy="1051560"/>
          </a:xfrm>
          <a:prstGeom prst="rect">
            <a:avLst/>
          </a:prstGeom>
          <a:noFill/>
        </p:spPr>
        <p:txBody>
          <a:bodyPr wrap="square">
            <a:spAutoFit/>
          </a:bodyPr>
          <a:lstStyle/>
          <a:p>
            <a:pPr algn="l"/>
            <a:r>
              <a:rPr sz="850" b="0" i="0">
                <a:solidFill>
                  <a:srgbClr val="333333"/>
                </a:solidFill>
              </a:rPr>
              <a:t>Human-written pre/postconditions for each API operation.
assume() = preconditions
assert() = postconditions</a:t>
            </a:r>
          </a:p>
        </p:txBody>
      </p:sp>
      <p:sp>
        <p:nvSpPr>
          <p:cNvPr id="8" name="Rectangle 7"/>
          <p:cNvSpPr/>
          <p:nvPr/>
        </p:nvSpPr>
        <p:spPr>
          <a:xfrm>
            <a:off x="329184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143000"/>
            <a:ext cx="2560320" cy="502920"/>
          </a:xfrm>
          <a:prstGeom prst="rect">
            <a:avLst/>
          </a:prstGeom>
          <a:noFill/>
        </p:spPr>
        <p:txBody>
          <a:bodyPr wrap="square">
            <a:spAutoFit/>
          </a:bodyPr>
          <a:lstStyle/>
          <a:p>
            <a:pPr algn="l"/>
            <a:r>
              <a:rPr sz="1000" b="1" i="0">
                <a:solidFill>
                  <a:srgbClr val="1A237E"/>
                </a:solidFill>
              </a:rPr>
              <a:t>Test Strings</a:t>
            </a:r>
          </a:p>
        </p:txBody>
      </p:sp>
      <p:sp>
        <p:nvSpPr>
          <p:cNvPr id="10" name="TextBox 9"/>
          <p:cNvSpPr txBox="1"/>
          <p:nvPr/>
        </p:nvSpPr>
        <p:spPr>
          <a:xfrm>
            <a:off x="3383280" y="1645919"/>
            <a:ext cx="2560320" cy="1051560"/>
          </a:xfrm>
          <a:prstGeom prst="rect">
            <a:avLst/>
          </a:prstGeom>
          <a:noFill/>
        </p:spPr>
        <p:txBody>
          <a:bodyPr wrap="square">
            <a:spAutoFit/>
          </a:bodyPr>
          <a:lstStyle/>
          <a:p>
            <a:pPr algn="l"/>
            <a:r>
              <a:rPr sz="850" b="0" i="0">
                <a:solidFill>
                  <a:srgbClr val="333333"/>
                </a:solidFill>
              </a:rPr>
              <a:t>User-defined sequences of operation names to test.
e.g. ['registerOk', 'placeOrderOk']
Both spec + test strings feed into genATC.</a:t>
            </a:r>
          </a:p>
        </p:txBody>
      </p:sp>
      <p:sp>
        <p:nvSpPr>
          <p:cNvPr id="11" name="Rectangle 10"/>
          <p:cNvSpPr/>
          <p:nvPr/>
        </p:nvSpPr>
        <p:spPr>
          <a:xfrm>
            <a:off x="630936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143000"/>
            <a:ext cx="2560320" cy="502920"/>
          </a:xfrm>
          <a:prstGeom prst="rect">
            <a:avLst/>
          </a:prstGeom>
          <a:noFill/>
        </p:spPr>
        <p:txBody>
          <a:bodyPr wrap="square">
            <a:spAutoFit/>
          </a:bodyPr>
          <a:lstStyle/>
          <a:p>
            <a:pPr algn="l"/>
            <a:r>
              <a:rPr sz="1000" b="1" i="0">
                <a:solidFill>
                  <a:srgbClr val="1A237E"/>
                </a:solidFill>
              </a:rPr>
              <a:t>genATC</a:t>
            </a:r>
          </a:p>
        </p:txBody>
      </p:sp>
      <p:sp>
        <p:nvSpPr>
          <p:cNvPr id="13" name="TextBox 12"/>
          <p:cNvSpPr txBox="1"/>
          <p:nvPr/>
        </p:nvSpPr>
        <p:spPr>
          <a:xfrm>
            <a:off x="6400800" y="1645919"/>
            <a:ext cx="2560320" cy="1051560"/>
          </a:xfrm>
          <a:prstGeom prst="rect">
            <a:avLst/>
          </a:prstGeom>
          <a:noFill/>
        </p:spPr>
        <p:txBody>
          <a:bodyPr wrap="square">
            <a:spAutoFit/>
          </a:bodyPr>
          <a:lstStyle/>
          <a:p>
            <a:pPr algn="l"/>
            <a:r>
              <a:rPr sz="850" b="0" i="0">
                <a:solidFill>
                  <a:srgbClr val="333333"/>
                </a:solidFill>
              </a:rPr>
              <a:t>Takes BOTH the spec and test strings as input.
Compiles them into an ATC program with assume()
and assert() statements for the SEE to execute.</a:t>
            </a:r>
          </a:p>
        </p:txBody>
      </p:sp>
      <p:sp>
        <p:nvSpPr>
          <p:cNvPr id="14" name="Rectangle 13"/>
          <p:cNvSpPr/>
          <p:nvPr/>
        </p:nvSpPr>
        <p:spPr>
          <a:xfrm>
            <a:off x="9326880" y="1097280"/>
            <a:ext cx="274320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19" y="1143000"/>
            <a:ext cx="2560320" cy="502920"/>
          </a:xfrm>
          <a:prstGeom prst="rect">
            <a:avLst/>
          </a:prstGeom>
          <a:noFill/>
        </p:spPr>
        <p:txBody>
          <a:bodyPr wrap="square">
            <a:spAutoFit/>
          </a:bodyPr>
          <a:lstStyle/>
          <a:p>
            <a:pPr algn="l"/>
            <a:r>
              <a:rPr sz="1000" b="1" i="0">
                <a:solidFill>
                  <a:srgbClr val="1A237E"/>
                </a:solidFill>
              </a:rPr>
              <a:t>SEE — Symbolic Execution Engine</a:t>
            </a:r>
          </a:p>
        </p:txBody>
      </p:sp>
      <p:sp>
        <p:nvSpPr>
          <p:cNvPr id="16" name="TextBox 15"/>
          <p:cNvSpPr txBox="1"/>
          <p:nvPr/>
        </p:nvSpPr>
        <p:spPr>
          <a:xfrm>
            <a:off x="9418319" y="1645919"/>
            <a:ext cx="2560320" cy="1051560"/>
          </a:xfrm>
          <a:prstGeom prst="rect">
            <a:avLst/>
          </a:prstGeom>
          <a:noFill/>
        </p:spPr>
        <p:txBody>
          <a:bodyPr wrap="square">
            <a:spAutoFit/>
          </a:bodyPr>
          <a:lstStyle/>
          <a:p>
            <a:pPr algn="l"/>
            <a:r>
              <a:rPr sz="850" b="0" i="0">
                <a:solidFill>
                  <a:srgbClr val="333333"/>
                </a:solidFill>
              </a:rPr>
              <a:t>Runs the ATC iteratively. Accumulates path constraints from assume() statements. Constraints solved by Z3 using real HTTP calls to the backend.</a:t>
            </a:r>
          </a:p>
        </p:txBody>
      </p:sp>
      <p:sp>
        <p:nvSpPr>
          <p:cNvPr id="17" name="Rectangle 16"/>
          <p:cNvSpPr/>
          <p:nvPr/>
        </p:nvSpPr>
        <p:spPr>
          <a:xfrm>
            <a:off x="1188720" y="2926080"/>
            <a:ext cx="301752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2971800"/>
            <a:ext cx="2834639" cy="502920"/>
          </a:xfrm>
          <a:prstGeom prst="rect">
            <a:avLst/>
          </a:prstGeom>
          <a:noFill/>
        </p:spPr>
        <p:txBody>
          <a:bodyPr wrap="square">
            <a:spAutoFit/>
          </a:bodyPr>
          <a:lstStyle/>
          <a:p>
            <a:pPr algn="l"/>
            <a:r>
              <a:rPr sz="1000" b="1" i="0">
                <a:solidFill>
                  <a:srgbClr val="1A237E"/>
                </a:solidFill>
              </a:rPr>
              <a:t>Z3 SMT Solver</a:t>
            </a:r>
          </a:p>
        </p:txBody>
      </p:sp>
      <p:sp>
        <p:nvSpPr>
          <p:cNvPr id="19" name="TextBox 18"/>
          <p:cNvSpPr txBox="1"/>
          <p:nvPr/>
        </p:nvSpPr>
        <p:spPr>
          <a:xfrm>
            <a:off x="1280160" y="3474720"/>
            <a:ext cx="2834639" cy="1051560"/>
          </a:xfrm>
          <a:prstGeom prst="rect">
            <a:avLst/>
          </a:prstGeom>
          <a:noFill/>
        </p:spPr>
        <p:txBody>
          <a:bodyPr wrap="square">
            <a:spAutoFit/>
          </a:bodyPr>
          <a:lstStyle/>
          <a:p>
            <a:pPr algn="l"/>
            <a:r>
              <a:rPr sz="850" b="0" i="0">
                <a:solidFill>
                  <a:srgbClr val="333333"/>
                </a:solidFill>
              </a:rPr>
              <a:t>Finds concrete values satisfying all path constraints.
UNSAT = infeasible path, skip.
SAT = concrete inputs ready for HTTP calls.</a:t>
            </a:r>
          </a:p>
        </p:txBody>
      </p:sp>
      <p:sp>
        <p:nvSpPr>
          <p:cNvPr id="20" name="Rectangle 19"/>
          <p:cNvSpPr/>
          <p:nvPr/>
        </p:nvSpPr>
        <p:spPr>
          <a:xfrm>
            <a:off x="4480560" y="2926080"/>
            <a:ext cx="301752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2971800"/>
            <a:ext cx="2834639" cy="502920"/>
          </a:xfrm>
          <a:prstGeom prst="rect">
            <a:avLst/>
          </a:prstGeom>
          <a:noFill/>
        </p:spPr>
        <p:txBody>
          <a:bodyPr wrap="square">
            <a:spAutoFit/>
          </a:bodyPr>
          <a:lstStyle/>
          <a:p>
            <a:pPr algn="l"/>
            <a:r>
              <a:rPr sz="1000" b="1" i="0">
                <a:solidFill>
                  <a:srgbClr val="1A237E"/>
                </a:solidFill>
              </a:rPr>
              <a:t>Rewrite Globals</a:t>
            </a:r>
          </a:p>
        </p:txBody>
      </p:sp>
      <p:sp>
        <p:nvSpPr>
          <p:cNvPr id="22" name="TextBox 21"/>
          <p:cNvSpPr txBox="1"/>
          <p:nvPr/>
        </p:nvSpPr>
        <p:spPr>
          <a:xfrm>
            <a:off x="4572000" y="3474720"/>
            <a:ext cx="2834639" cy="1051560"/>
          </a:xfrm>
          <a:prstGeom prst="rect">
            <a:avLst/>
          </a:prstGeom>
          <a:noFill/>
        </p:spPr>
        <p:txBody>
          <a:bodyPr wrap="square">
            <a:spAutoFit/>
          </a:bodyPr>
          <a:lstStyle/>
          <a:p>
            <a:pPr algn="l"/>
            <a:r>
              <a:rPr sz="850" b="0" i="0">
                <a:solidFill>
                  <a:srgbClr val="333333"/>
                </a:solidFill>
              </a:rPr>
              <a:t>Rewrites global map operations in the ATC
to get_U, set_U, get_C, set_C etc.
Links spec assertions to live DB state.</a:t>
            </a:r>
          </a:p>
        </p:txBody>
      </p:sp>
      <p:sp>
        <p:nvSpPr>
          <p:cNvPr id="23" name="Rectangle 22"/>
          <p:cNvSpPr/>
          <p:nvPr/>
        </p:nvSpPr>
        <p:spPr>
          <a:xfrm>
            <a:off x="7772400" y="2926080"/>
            <a:ext cx="3017520" cy="1645920"/>
          </a:xfrm>
          <a:prstGeom prst="rect">
            <a:avLst/>
          </a:prstGeom>
          <a:solidFill>
            <a:srgbClr val="E8EAF6"/>
          </a:solidFill>
          <a:ln w="1270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2971800"/>
            <a:ext cx="2834639" cy="502920"/>
          </a:xfrm>
          <a:prstGeom prst="rect">
            <a:avLst/>
          </a:prstGeom>
          <a:noFill/>
        </p:spPr>
        <p:txBody>
          <a:bodyPr wrap="square">
            <a:spAutoFit/>
          </a:bodyPr>
          <a:lstStyle/>
          <a:p>
            <a:pPr algn="l"/>
            <a:r>
              <a:rPr sz="1000" b="1" i="0">
                <a:solidFill>
                  <a:srgbClr val="1A237E"/>
                </a:solidFill>
              </a:rPr>
              <a:t>CTC — Concrete Test Case</a:t>
            </a:r>
          </a:p>
        </p:txBody>
      </p:sp>
      <p:sp>
        <p:nvSpPr>
          <p:cNvPr id="25" name="TextBox 24"/>
          <p:cNvSpPr txBox="1"/>
          <p:nvPr/>
        </p:nvSpPr>
        <p:spPr>
          <a:xfrm>
            <a:off x="7863840" y="3474720"/>
            <a:ext cx="2834639" cy="1051560"/>
          </a:xfrm>
          <a:prstGeom prst="rect">
            <a:avLst/>
          </a:prstGeom>
          <a:noFill/>
        </p:spPr>
        <p:txBody>
          <a:bodyPr wrap="square">
            <a:spAutoFit/>
          </a:bodyPr>
          <a:lstStyle/>
          <a:p>
            <a:pPr algn="l"/>
            <a:r>
              <a:rPr sz="850" b="0" i="0">
                <a:solidFill>
                  <a:srgbClr val="333333"/>
                </a:solidFill>
              </a:rPr>
              <a:t>Final test: Z3 values + real HTTP calls + assert().
ASSERT FAILED = bug detected.
Full output recorded for inspection.</a:t>
            </a:r>
          </a:p>
        </p:txBody>
      </p:sp>
      <p:sp>
        <p:nvSpPr>
          <p:cNvPr id="26" name="TextBox 25"/>
          <p:cNvSpPr txBox="1"/>
          <p:nvPr/>
        </p:nvSpPr>
        <p:spPr>
          <a:xfrm>
            <a:off x="457200" y="4709160"/>
            <a:ext cx="11247120" cy="365760"/>
          </a:xfrm>
          <a:prstGeom prst="rect">
            <a:avLst/>
          </a:prstGeom>
          <a:noFill/>
        </p:spPr>
        <p:txBody>
          <a:bodyPr wrap="square">
            <a:spAutoFit/>
          </a:bodyPr>
          <a:lstStyle/>
          <a:p>
            <a:pPr algn="ctr"/>
            <a:r>
              <a:rPr sz="1100" b="1" i="0">
                <a:solidFill>
                  <a:srgbClr val="303F9F"/>
                </a:solidFill>
              </a:rPr>
              <a:t>Spec + Test Strings → genATC → ATC → SEE (iterative) → Z3 → Concrete HTTP calls → assert() → CTC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ATC → CTC Pipeline</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737360"/>
            <a:ext cx="1645920" cy="1371600"/>
          </a:xfrm>
          <a:prstGeom prst="rect">
            <a:avLst/>
          </a:prstGeom>
          <a:solidFill>
            <a:srgbClr val="1A237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783080"/>
            <a:ext cx="1554480" cy="594360"/>
          </a:xfrm>
          <a:prstGeom prst="rect">
            <a:avLst/>
          </a:prstGeom>
          <a:noFill/>
        </p:spPr>
        <p:txBody>
          <a:bodyPr wrap="square">
            <a:spAutoFit/>
          </a:bodyPr>
          <a:lstStyle/>
          <a:p>
            <a:pPr algn="ctr"/>
            <a:r>
              <a:rPr sz="1000" b="1" i="0">
                <a:solidFill>
                  <a:srgbClr val="FFFFFF"/>
                </a:solidFill>
              </a:rPr>
              <a:t>SPEC +
TEST STRINGS</a:t>
            </a:r>
          </a:p>
        </p:txBody>
      </p:sp>
      <p:sp>
        <p:nvSpPr>
          <p:cNvPr id="7" name="TextBox 6"/>
          <p:cNvSpPr txBox="1"/>
          <p:nvPr/>
        </p:nvSpPr>
        <p:spPr>
          <a:xfrm>
            <a:off x="411480" y="2377440"/>
            <a:ext cx="1554480" cy="685800"/>
          </a:xfrm>
          <a:prstGeom prst="rect">
            <a:avLst/>
          </a:prstGeom>
          <a:noFill/>
        </p:spPr>
        <p:txBody>
          <a:bodyPr wrap="square">
            <a:spAutoFit/>
          </a:bodyPr>
          <a:lstStyle/>
          <a:p>
            <a:pPr algn="ctr"/>
            <a:r>
              <a:rPr sz="800" b="0" i="0">
                <a:solidFill>
                  <a:srgbClr val="FFFFFF"/>
                </a:solidFill>
              </a:rPr>
              <a:t>Both inputs feed
into genATC</a:t>
            </a:r>
          </a:p>
        </p:txBody>
      </p:sp>
      <p:sp>
        <p:nvSpPr>
          <p:cNvPr id="8" name="TextBox 7"/>
          <p:cNvSpPr txBox="1"/>
          <p:nvPr/>
        </p:nvSpPr>
        <p:spPr>
          <a:xfrm>
            <a:off x="2011680" y="2194560"/>
            <a:ext cx="329184" cy="457200"/>
          </a:xfrm>
          <a:prstGeom prst="rect">
            <a:avLst/>
          </a:prstGeom>
          <a:noFill/>
        </p:spPr>
        <p:txBody>
          <a:bodyPr wrap="square">
            <a:spAutoFit/>
          </a:bodyPr>
          <a:lstStyle/>
          <a:p>
            <a:pPr algn="ctr"/>
            <a:r>
              <a:rPr sz="1800" b="1" i="0">
                <a:solidFill>
                  <a:srgbClr val="42A5F5"/>
                </a:solidFill>
              </a:rPr>
              <a:t>→</a:t>
            </a:r>
          </a:p>
        </p:txBody>
      </p:sp>
      <p:sp>
        <p:nvSpPr>
          <p:cNvPr id="9" name="Rectangle 8"/>
          <p:cNvSpPr/>
          <p:nvPr/>
        </p:nvSpPr>
        <p:spPr>
          <a:xfrm>
            <a:off x="2340864"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6584" y="1783080"/>
            <a:ext cx="1554480" cy="594360"/>
          </a:xfrm>
          <a:prstGeom prst="rect">
            <a:avLst/>
          </a:prstGeom>
          <a:noFill/>
        </p:spPr>
        <p:txBody>
          <a:bodyPr wrap="square">
            <a:spAutoFit/>
          </a:bodyPr>
          <a:lstStyle/>
          <a:p>
            <a:pPr algn="ctr"/>
            <a:r>
              <a:rPr sz="1000" b="1" i="0">
                <a:solidFill>
                  <a:srgbClr val="FFFFFF"/>
                </a:solidFill>
              </a:rPr>
              <a:t>genATC</a:t>
            </a:r>
          </a:p>
        </p:txBody>
      </p:sp>
      <p:sp>
        <p:nvSpPr>
          <p:cNvPr id="11" name="TextBox 10"/>
          <p:cNvSpPr txBox="1"/>
          <p:nvPr/>
        </p:nvSpPr>
        <p:spPr>
          <a:xfrm>
            <a:off x="2386584" y="2377440"/>
            <a:ext cx="1554480" cy="685800"/>
          </a:xfrm>
          <a:prstGeom prst="rect">
            <a:avLst/>
          </a:prstGeom>
          <a:noFill/>
        </p:spPr>
        <p:txBody>
          <a:bodyPr wrap="square">
            <a:spAutoFit/>
          </a:bodyPr>
          <a:lstStyle/>
          <a:p>
            <a:pPr algn="ctr"/>
            <a:r>
              <a:rPr sz="800" b="0" i="0">
                <a:solidFill>
                  <a:srgbClr val="FFFFFF"/>
                </a:solidFill>
              </a:rPr>
              <a:t>Compiles into ATC
with assume()/assert()</a:t>
            </a:r>
          </a:p>
        </p:txBody>
      </p:sp>
      <p:sp>
        <p:nvSpPr>
          <p:cNvPr id="12" name="TextBox 11"/>
          <p:cNvSpPr txBox="1"/>
          <p:nvPr/>
        </p:nvSpPr>
        <p:spPr>
          <a:xfrm>
            <a:off x="3986784" y="2194560"/>
            <a:ext cx="329184" cy="457200"/>
          </a:xfrm>
          <a:prstGeom prst="rect">
            <a:avLst/>
          </a:prstGeom>
          <a:noFill/>
        </p:spPr>
        <p:txBody>
          <a:bodyPr wrap="square">
            <a:spAutoFit/>
          </a:bodyPr>
          <a:lstStyle/>
          <a:p>
            <a:pPr algn="ctr"/>
            <a:r>
              <a:rPr sz="1800" b="1" i="0">
                <a:solidFill>
                  <a:srgbClr val="42A5F5"/>
                </a:solidFill>
              </a:rPr>
              <a:t>→</a:t>
            </a:r>
          </a:p>
        </p:txBody>
      </p:sp>
      <p:sp>
        <p:nvSpPr>
          <p:cNvPr id="13" name="Rectangle 12"/>
          <p:cNvSpPr/>
          <p:nvPr/>
        </p:nvSpPr>
        <p:spPr>
          <a:xfrm>
            <a:off x="4315968"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783080"/>
            <a:ext cx="1554480" cy="594360"/>
          </a:xfrm>
          <a:prstGeom prst="rect">
            <a:avLst/>
          </a:prstGeom>
          <a:noFill/>
        </p:spPr>
        <p:txBody>
          <a:bodyPr wrap="square">
            <a:spAutoFit/>
          </a:bodyPr>
          <a:lstStyle/>
          <a:p>
            <a:pPr algn="ctr"/>
            <a:r>
              <a:rPr sz="1000" b="1" i="0">
                <a:solidFill>
                  <a:srgbClr val="FFFFFF"/>
                </a:solidFill>
              </a:rPr>
              <a:t>REWRITE
GLOBALS</a:t>
            </a:r>
          </a:p>
        </p:txBody>
      </p:sp>
      <p:sp>
        <p:nvSpPr>
          <p:cNvPr id="15" name="TextBox 14"/>
          <p:cNvSpPr txBox="1"/>
          <p:nvPr/>
        </p:nvSpPr>
        <p:spPr>
          <a:xfrm>
            <a:off x="4361688" y="2377440"/>
            <a:ext cx="1554480" cy="685800"/>
          </a:xfrm>
          <a:prstGeom prst="rect">
            <a:avLst/>
          </a:prstGeom>
          <a:noFill/>
        </p:spPr>
        <p:txBody>
          <a:bodyPr wrap="square">
            <a:spAutoFit/>
          </a:bodyPr>
          <a:lstStyle/>
          <a:p>
            <a:pPr algn="ctr"/>
            <a:r>
              <a:rPr sz="800" b="0" i="0">
                <a:solidFill>
                  <a:srgbClr val="FFFFFF"/>
                </a:solidFill>
              </a:rPr>
              <a:t>Rewrites map ops
to get_U, set_U etc.</a:t>
            </a:r>
          </a:p>
        </p:txBody>
      </p:sp>
      <p:sp>
        <p:nvSpPr>
          <p:cNvPr id="16" name="TextBox 15"/>
          <p:cNvSpPr txBox="1"/>
          <p:nvPr/>
        </p:nvSpPr>
        <p:spPr>
          <a:xfrm>
            <a:off x="5961888" y="2194560"/>
            <a:ext cx="329184" cy="457200"/>
          </a:xfrm>
          <a:prstGeom prst="rect">
            <a:avLst/>
          </a:prstGeom>
          <a:noFill/>
        </p:spPr>
        <p:txBody>
          <a:bodyPr wrap="square">
            <a:spAutoFit/>
          </a:bodyPr>
          <a:lstStyle/>
          <a:p>
            <a:pPr algn="ctr"/>
            <a:r>
              <a:rPr sz="1800" b="1" i="0">
                <a:solidFill>
                  <a:srgbClr val="42A5F5"/>
                </a:solidFill>
              </a:rPr>
              <a:t>→</a:t>
            </a:r>
          </a:p>
        </p:txBody>
      </p:sp>
      <p:sp>
        <p:nvSpPr>
          <p:cNvPr id="17" name="Rectangle 16"/>
          <p:cNvSpPr/>
          <p:nvPr/>
        </p:nvSpPr>
        <p:spPr>
          <a:xfrm>
            <a:off x="6291072"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1783080"/>
            <a:ext cx="1554480" cy="594360"/>
          </a:xfrm>
          <a:prstGeom prst="rect">
            <a:avLst/>
          </a:prstGeom>
          <a:noFill/>
        </p:spPr>
        <p:txBody>
          <a:bodyPr wrap="square">
            <a:spAutoFit/>
          </a:bodyPr>
          <a:lstStyle/>
          <a:p>
            <a:pPr algn="ctr"/>
            <a:r>
              <a:rPr sz="1000" b="1" i="0">
                <a:solidFill>
                  <a:srgbClr val="FFFFFF"/>
                </a:solidFill>
              </a:rPr>
              <a:t>SEE
(iterative)</a:t>
            </a:r>
          </a:p>
        </p:txBody>
      </p:sp>
      <p:sp>
        <p:nvSpPr>
          <p:cNvPr id="19" name="TextBox 18"/>
          <p:cNvSpPr txBox="1"/>
          <p:nvPr/>
        </p:nvSpPr>
        <p:spPr>
          <a:xfrm>
            <a:off x="6336792" y="2377440"/>
            <a:ext cx="1554480" cy="685800"/>
          </a:xfrm>
          <a:prstGeom prst="rect">
            <a:avLst/>
          </a:prstGeom>
          <a:noFill/>
        </p:spPr>
        <p:txBody>
          <a:bodyPr wrap="square">
            <a:spAutoFit/>
          </a:bodyPr>
          <a:lstStyle/>
          <a:p>
            <a:pPr algn="ctr"/>
            <a:r>
              <a:rPr sz="800" b="0" i="0">
                <a:solidFill>
                  <a:srgbClr val="FFFFFF"/>
                </a:solidFill>
              </a:rPr>
              <a:t>Accumulates path
constraints from assume()</a:t>
            </a:r>
          </a:p>
        </p:txBody>
      </p:sp>
      <p:sp>
        <p:nvSpPr>
          <p:cNvPr id="20" name="TextBox 19"/>
          <p:cNvSpPr txBox="1"/>
          <p:nvPr/>
        </p:nvSpPr>
        <p:spPr>
          <a:xfrm>
            <a:off x="7936992" y="2194560"/>
            <a:ext cx="329184" cy="457200"/>
          </a:xfrm>
          <a:prstGeom prst="rect">
            <a:avLst/>
          </a:prstGeom>
          <a:noFill/>
        </p:spPr>
        <p:txBody>
          <a:bodyPr wrap="square">
            <a:spAutoFit/>
          </a:bodyPr>
          <a:lstStyle/>
          <a:p>
            <a:pPr algn="ctr"/>
            <a:r>
              <a:rPr sz="1800" b="1" i="0">
                <a:solidFill>
                  <a:srgbClr val="42A5F5"/>
                </a:solidFill>
              </a:rPr>
              <a:t>→</a:t>
            </a:r>
          </a:p>
        </p:txBody>
      </p:sp>
      <p:sp>
        <p:nvSpPr>
          <p:cNvPr id="21" name="Rectangle 20"/>
          <p:cNvSpPr/>
          <p:nvPr/>
        </p:nvSpPr>
        <p:spPr>
          <a:xfrm>
            <a:off x="8266176" y="1737360"/>
            <a:ext cx="1645920" cy="1371600"/>
          </a:xfrm>
          <a:prstGeom prst="rect">
            <a:avLst/>
          </a:prstGeom>
          <a:solidFill>
            <a:srgbClr val="303F9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1783080"/>
            <a:ext cx="1554480" cy="594360"/>
          </a:xfrm>
          <a:prstGeom prst="rect">
            <a:avLst/>
          </a:prstGeom>
          <a:noFill/>
        </p:spPr>
        <p:txBody>
          <a:bodyPr wrap="square">
            <a:spAutoFit/>
          </a:bodyPr>
          <a:lstStyle/>
          <a:p>
            <a:pPr algn="ctr"/>
            <a:r>
              <a:rPr sz="1000" b="1" i="0">
                <a:solidFill>
                  <a:srgbClr val="FFFFFF"/>
                </a:solidFill>
              </a:rPr>
              <a:t>Z3
SOLVER</a:t>
            </a:r>
          </a:p>
        </p:txBody>
      </p:sp>
      <p:sp>
        <p:nvSpPr>
          <p:cNvPr id="23" name="TextBox 22"/>
          <p:cNvSpPr txBox="1"/>
          <p:nvPr/>
        </p:nvSpPr>
        <p:spPr>
          <a:xfrm>
            <a:off x="8311896" y="2377440"/>
            <a:ext cx="1554480" cy="685800"/>
          </a:xfrm>
          <a:prstGeom prst="rect">
            <a:avLst/>
          </a:prstGeom>
          <a:noFill/>
        </p:spPr>
        <p:txBody>
          <a:bodyPr wrap="square">
            <a:spAutoFit/>
          </a:bodyPr>
          <a:lstStyle/>
          <a:p>
            <a:pPr algn="ctr"/>
            <a:r>
              <a:rPr sz="800" b="0" i="0">
                <a:solidFill>
                  <a:srgbClr val="FFFFFF"/>
                </a:solidFill>
              </a:rPr>
              <a:t>Solves constraints
via real HTTP calls</a:t>
            </a:r>
          </a:p>
        </p:txBody>
      </p:sp>
      <p:sp>
        <p:nvSpPr>
          <p:cNvPr id="24" name="TextBox 23"/>
          <p:cNvSpPr txBox="1"/>
          <p:nvPr/>
        </p:nvSpPr>
        <p:spPr>
          <a:xfrm>
            <a:off x="9912096" y="2194560"/>
            <a:ext cx="329184" cy="457200"/>
          </a:xfrm>
          <a:prstGeom prst="rect">
            <a:avLst/>
          </a:prstGeom>
          <a:noFill/>
        </p:spPr>
        <p:txBody>
          <a:bodyPr wrap="square">
            <a:spAutoFit/>
          </a:bodyPr>
          <a:lstStyle/>
          <a:p>
            <a:pPr algn="ctr"/>
            <a:r>
              <a:rPr sz="1800" b="1" i="0">
                <a:solidFill>
                  <a:srgbClr val="42A5F5"/>
                </a:solidFill>
              </a:rPr>
              <a:t>→</a:t>
            </a:r>
          </a:p>
        </p:txBody>
      </p:sp>
      <p:sp>
        <p:nvSpPr>
          <p:cNvPr id="25" name="Rectangle 24"/>
          <p:cNvSpPr/>
          <p:nvPr/>
        </p:nvSpPr>
        <p:spPr>
          <a:xfrm>
            <a:off x="10241280" y="1737360"/>
            <a:ext cx="1645920" cy="1371600"/>
          </a:xfrm>
          <a:prstGeom prst="rect">
            <a:avLst/>
          </a:prstGeom>
          <a:solidFill>
            <a:srgbClr val="2E7D3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87000" y="1783080"/>
            <a:ext cx="1554480" cy="594360"/>
          </a:xfrm>
          <a:prstGeom prst="rect">
            <a:avLst/>
          </a:prstGeom>
          <a:noFill/>
        </p:spPr>
        <p:txBody>
          <a:bodyPr wrap="square">
            <a:spAutoFit/>
          </a:bodyPr>
          <a:lstStyle/>
          <a:p>
            <a:pPr algn="ctr"/>
            <a:r>
              <a:rPr sz="1000" b="1" i="0">
                <a:solidFill>
                  <a:srgbClr val="FFFFFF"/>
                </a:solidFill>
              </a:rPr>
              <a:t>CTC
OUTPUT</a:t>
            </a:r>
          </a:p>
        </p:txBody>
      </p:sp>
      <p:sp>
        <p:nvSpPr>
          <p:cNvPr id="27" name="TextBox 26"/>
          <p:cNvSpPr txBox="1"/>
          <p:nvPr/>
        </p:nvSpPr>
        <p:spPr>
          <a:xfrm>
            <a:off x="10287000" y="2377440"/>
            <a:ext cx="1554480" cy="685800"/>
          </a:xfrm>
          <a:prstGeom prst="rect">
            <a:avLst/>
          </a:prstGeom>
          <a:noFill/>
        </p:spPr>
        <p:txBody>
          <a:bodyPr wrap="square">
            <a:spAutoFit/>
          </a:bodyPr>
          <a:lstStyle/>
          <a:p>
            <a:pPr algn="ctr"/>
            <a:r>
              <a:rPr sz="800" b="0" i="0">
                <a:solidFill>
                  <a:srgbClr val="FFFFFF"/>
                </a:solidFill>
              </a:rPr>
              <a:t>assert() evaluated
FAIL = bug detected</a:t>
            </a:r>
          </a:p>
        </p:txBody>
      </p:sp>
      <p:sp>
        <p:nvSpPr>
          <p:cNvPr id="28" name="Rectangle 27"/>
          <p:cNvSpPr/>
          <p:nvPr/>
        </p:nvSpPr>
        <p:spPr>
          <a:xfrm>
            <a:off x="365760" y="3337560"/>
            <a:ext cx="11430000" cy="1051560"/>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383280"/>
            <a:ext cx="2743200" cy="320040"/>
          </a:xfrm>
          <a:prstGeom prst="rect">
            <a:avLst/>
          </a:prstGeom>
          <a:noFill/>
        </p:spPr>
        <p:txBody>
          <a:bodyPr wrap="square">
            <a:spAutoFit/>
          </a:bodyPr>
          <a:lstStyle/>
          <a:p>
            <a:pPr algn="l"/>
            <a:r>
              <a:rPr sz="1100" b="1" i="0">
                <a:solidFill>
                  <a:srgbClr val="1A237E"/>
                </a:solidFill>
              </a:rPr>
              <a:t>How SEE works:</a:t>
            </a:r>
          </a:p>
        </p:txBody>
      </p:sp>
      <p:sp>
        <p:nvSpPr>
          <p:cNvPr id="30" name="TextBox 29"/>
          <p:cNvSpPr txBox="1"/>
          <p:nvPr/>
        </p:nvSpPr>
        <p:spPr>
          <a:xfrm>
            <a:off x="548640" y="3703320"/>
            <a:ext cx="11064240" cy="640080"/>
          </a:xfrm>
          <a:prstGeom prst="rect">
            <a:avLst/>
          </a:prstGeom>
          <a:noFill/>
        </p:spPr>
        <p:txBody>
          <a:bodyPr wrap="square">
            <a:spAutoFit/>
          </a:bodyPr>
          <a:lstStyle/>
          <a:p>
            <a:pPr algn="l"/>
            <a:r>
              <a:rPr sz="1000" b="0" i="0">
                <a:solidFill>
                  <a:srgbClr val="333333"/>
                </a:solidFill>
              </a:rPr>
              <a:t>The SEE runs over the ATC program iteratively. On each iteration it accumulates path constraints from the assume() statements it encounters. These constraints are then handed to Z3, which solves them using real HTTP calls to the backend to get actual response values.</a:t>
            </a:r>
          </a:p>
        </p:txBody>
      </p:sp>
      <p:sp>
        <p:nvSpPr>
          <p:cNvPr id="31" name="Rectangle 30"/>
          <p:cNvSpPr/>
          <p:nvPr/>
        </p:nvSpPr>
        <p:spPr>
          <a:xfrm>
            <a:off x="365760" y="4480560"/>
            <a:ext cx="11430000" cy="59436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526280"/>
            <a:ext cx="11064240" cy="502920"/>
          </a:xfrm>
          <a:prstGeom prst="rect">
            <a:avLst/>
          </a:prstGeom>
          <a:noFill/>
        </p:spPr>
        <p:txBody>
          <a:bodyPr wrap="square">
            <a:spAutoFit/>
          </a:bodyPr>
          <a:lstStyle/>
          <a:p>
            <a:pPr algn="ctr"/>
            <a:r>
              <a:rPr sz="1000" b="1" i="0">
                <a:solidFill>
                  <a:srgbClr val="2E7D32"/>
                </a:solidFill>
              </a:rPr>
              <a:t>Example: placeOrder spec → assume(in(userId, dom(U))) → placeOrder(userId) → assert(not_in(userId, dom(Cart')))  →  get_C() fetches live DB  →  cart still there → ASSERT FAILED → BUG DETECTED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Restaurant Backend — Results &amp; Bug Descriptions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77" cy="4160520"/>
        </p:xfrm>
        <a:graphic>
          <a:graphicData uri="http://schemas.openxmlformats.org/drawingml/2006/table">
            <a:tbl>
              <a:tblPr firstRow="1" bandRow="1">
                <a:tableStyleId>{5C22544A-7EE6-4342-B048-85BDC9FD1C3A}</a:tableStyleId>
              </a:tblPr>
              <a:tblGrid>
                <a:gridCol w="800888"/>
                <a:gridCol w="2803108"/>
                <a:gridCol w="3603997"/>
                <a:gridCol w="2402664"/>
                <a:gridCol w="1201332"/>
                <a:gridCol w="800888"/>
              </a:tblGrid>
              <a:tr h="462280">
                <a:tc>
                  <a:txBody>
                    <a:bodyPr/>
                    <a:lstStyle/>
                    <a:p>
                      <a:pPr algn="ctr"/>
                      <a:r>
                        <a:rPr b="1" sz="1000">
                          <a:solidFill>
                            <a:srgbClr val="FFFFFF"/>
                          </a:solidFill>
                        </a:rPr>
                        <a:t>Bug</a:t>
                      </a:r>
                    </a:p>
                  </a:txBody>
                  <a:tcPr>
                    <a:solidFill>
                      <a:srgbClr val="1A237E"/>
                    </a:solidFill>
                  </a:tcPr>
                </a:tc>
                <a:tc>
                  <a:txBody>
                    <a:bodyPr/>
                    <a:lstStyle/>
                    <a:p>
                      <a:pPr algn="ctr"/>
                      <a:r>
                        <a:rPr b="1" sz="1000">
                          <a:solidFill>
                            <a:srgbClr val="FFFFFF"/>
                          </a:solidFill>
                        </a:rPr>
                        <a:t>Location</a:t>
                      </a:r>
                    </a:p>
                  </a:txBody>
                  <a:tcPr>
                    <a:solidFill>
                      <a:srgbClr val="1A237E"/>
                    </a:solidFill>
                  </a:tcPr>
                </a:tc>
                <a:tc>
                  <a:txBody>
                    <a:bodyPr/>
                    <a:lstStyle/>
                    <a:p>
                      <a:pPr algn="ctr"/>
                      <a:r>
                        <a:rPr b="1" sz="1000">
                          <a:solidFill>
                            <a:srgbClr val="FFFFFF"/>
                          </a:solidFill>
                        </a:rPr>
                        <a:t>Description</a:t>
                      </a:r>
                    </a:p>
                  </a:txBody>
                  <a:tcPr>
                    <a:solidFill>
                      <a:srgbClr val="1A237E"/>
                    </a:solidFill>
                  </a:tcPr>
                </a:tc>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Depth</a:t>
                      </a:r>
                    </a:p>
                  </a:txBody>
                  <a:tcPr>
                    <a:solidFill>
                      <a:srgbClr val="1A237E"/>
                    </a:solidFill>
                  </a:tcPr>
                </a:tc>
              </a:tr>
              <a:tr h="462280">
                <a:tc>
                  <a:txBody>
                    <a:bodyPr/>
                    <a:lstStyle/>
                    <a:p>
                      <a:pPr algn="ctr"/>
                      <a:r>
                        <a:rPr sz="900"/>
                        <a:t>RB1</a:t>
                      </a:r>
                    </a:p>
                  </a:txBody>
                  <a:tcPr>
                    <a:solidFill>
                      <a:srgbClr val="E8EAF6"/>
                    </a:solidFill>
                  </a:tcPr>
                </a:tc>
                <a:tc>
                  <a:txBody>
                    <a:bodyPr/>
                    <a:lstStyle/>
                    <a:p>
                      <a:pPr algn="l"/>
                      <a:r>
                        <a:rPr sz="900"/>
                        <a:t>routes/auth.js</a:t>
                      </a:r>
                    </a:p>
                  </a:txBody>
                  <a:tcPr>
                    <a:solidFill>
                      <a:srgbClr val="E8EAF6"/>
                    </a:solidFill>
                  </a:tcPr>
                </a:tc>
                <a:tc>
                  <a:txBody>
                    <a:bodyPr/>
                    <a:lstStyle/>
                    <a:p>
                      <a:pPr algn="l"/>
                      <a:r>
                        <a:rPr sz="900"/>
                        <a:t>Registration returns HTTP 200 instead of 201</a:t>
                      </a:r>
                    </a:p>
                  </a:txBody>
                  <a:tcPr>
                    <a:solidFill>
                      <a:srgbClr val="E8EAF6"/>
                    </a:solidFill>
                  </a:tcPr>
                </a:tc>
                <a:tc>
                  <a:txBody>
                    <a:bodyPr/>
                    <a:lstStyle/>
                    <a:p>
                      <a:pPr algn="l"/>
                      <a:r>
                        <a:rPr sz="900"/>
                        <a:t>Wrong status code</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RB2</a:t>
                      </a:r>
                    </a:p>
                  </a:txBody>
                  <a:tcPr>
                    <a:solidFill>
                      <a:srgbClr val="FFFFFF"/>
                    </a:solidFill>
                  </a:tcPr>
                </a:tc>
                <a:tc>
                  <a:txBody>
                    <a:bodyPr/>
                    <a:lstStyle/>
                    <a:p>
                      <a:pPr algn="l"/>
                      <a:r>
                        <a:rPr sz="900"/>
                        <a:t>routes/restaurants.js</a:t>
                      </a:r>
                    </a:p>
                  </a:txBody>
                  <a:tcPr>
                    <a:solidFill>
                      <a:srgbClr val="FFFFFF"/>
                    </a:solidFill>
                  </a:tcPr>
                </a:tc>
                <a:tc>
                  <a:txBody>
                    <a:bodyPr/>
                    <a:lstStyle/>
                    <a:p>
                      <a:pPr algn="l"/>
                      <a:r>
                        <a:rPr sz="900"/>
                        <a:t>Restaurant record not removed after delete call</a:t>
                      </a:r>
                    </a:p>
                  </a:txBody>
                  <a:tcPr>
                    <a:solidFill>
                      <a:srgbClr val="FFFFFF"/>
                    </a:solidFill>
                  </a:tcPr>
                </a:tc>
                <a:tc>
                  <a:txBody>
                    <a:bodyPr/>
                    <a:lstStyle/>
                    <a:p>
                      <a:pPr algn="l"/>
                      <a:r>
                        <a:rPr sz="900"/>
                        <a:t>Missing side-effect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RB3</a:t>
                      </a:r>
                    </a:p>
                  </a:txBody>
                  <a:tcPr>
                    <a:solidFill>
                      <a:srgbClr val="E8EAF6"/>
                    </a:solidFill>
                  </a:tcPr>
                </a:tc>
                <a:tc>
                  <a:txBody>
                    <a:bodyPr/>
                    <a:lstStyle/>
                    <a:p>
                      <a:pPr algn="l"/>
                      <a:r>
                        <a:rPr sz="900"/>
                        <a:t>routes/menu.js</a:t>
                      </a:r>
                    </a:p>
                  </a:txBody>
                  <a:tcPr>
                    <a:solidFill>
                      <a:srgbClr val="E8EAF6"/>
                    </a:solidFill>
                  </a:tcPr>
                </a:tc>
                <a:tc>
                  <a:txBody>
                    <a:bodyPr/>
                    <a:lstStyle/>
                    <a:p>
                      <a:pPr algn="l"/>
                      <a:r>
                        <a:rPr sz="900"/>
                        <a:t>Menu item creation returns HTTP 200 instead of 201</a:t>
                      </a:r>
                    </a:p>
                  </a:txBody>
                  <a:tcPr>
                    <a:solidFill>
                      <a:srgbClr val="E8EAF6"/>
                    </a:solidFill>
                  </a:tcPr>
                </a:tc>
                <a:tc>
                  <a:txBody>
                    <a:bodyPr/>
                    <a:lstStyle/>
                    <a:p>
                      <a:pPr algn="l"/>
                      <a:r>
                        <a:rPr sz="900"/>
                        <a:t>Wrong status code</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RB4</a:t>
                      </a:r>
                    </a:p>
                  </a:txBody>
                  <a:tcPr>
                    <a:solidFill>
                      <a:srgbClr val="FFFFFF"/>
                    </a:solidFill>
                  </a:tcPr>
                </a:tc>
                <a:tc>
                  <a:txBody>
                    <a:bodyPr/>
                    <a:lstStyle/>
                    <a:p>
                      <a:pPr algn="l"/>
                      <a:r>
                        <a:rPr sz="900"/>
                        <a:t>routes/orders.js</a:t>
                      </a:r>
                    </a:p>
                  </a:txBody>
                  <a:tcPr>
                    <a:solidFill>
                      <a:srgbClr val="FFFFFF"/>
                    </a:solidFill>
                  </a:tcPr>
                </a:tc>
                <a:tc>
                  <a:txBody>
                    <a:bodyPr/>
                    <a:lstStyle/>
                    <a:p>
                      <a:pPr algn="l"/>
                      <a:r>
                        <a:rPr sz="900"/>
                        <a:t>Order total missing delivery fee (price+tax only)</a:t>
                      </a:r>
                    </a:p>
                  </a:txBody>
                  <a:tcPr>
                    <a:solidFill>
                      <a:srgbClr val="FFFFFF"/>
                    </a:solidFill>
                  </a:tcPr>
                </a:tc>
                <a:tc>
                  <a:txBody>
                    <a:bodyPr/>
                    <a:lstStyle/>
                    <a:p>
                      <a:pPr algn="l"/>
                      <a:r>
                        <a:rPr sz="900"/>
                        <a:t>Wrong calculation</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3</a:t>
                      </a:r>
                    </a:p>
                  </a:txBody>
                  <a:tcPr>
                    <a:solidFill>
                      <a:srgbClr val="FFFFFF"/>
                    </a:solidFill>
                  </a:tcPr>
                </a:tc>
              </a:tr>
              <a:tr h="462280">
                <a:tc>
                  <a:txBody>
                    <a:bodyPr/>
                    <a:lstStyle/>
                    <a:p>
                      <a:pPr algn="ctr"/>
                      <a:r>
                        <a:rPr sz="900"/>
                        <a:t>RB5</a:t>
                      </a:r>
                    </a:p>
                  </a:txBody>
                  <a:tcPr>
                    <a:solidFill>
                      <a:srgbClr val="E8EAF6"/>
                    </a:solidFill>
                  </a:tcPr>
                </a:tc>
                <a:tc>
                  <a:txBody>
                    <a:bodyPr/>
                    <a:lstStyle/>
                    <a:p>
                      <a:pPr algn="l"/>
                      <a:r>
                        <a:rPr sz="900"/>
                        <a:t>routes/orders.js</a:t>
                      </a:r>
                    </a:p>
                  </a:txBody>
                  <a:tcPr>
                    <a:solidFill>
                      <a:srgbClr val="E8EAF6"/>
                    </a:solidFill>
                  </a:tcPr>
                </a:tc>
                <a:tc>
                  <a:txBody>
                    <a:bodyPr/>
                    <a:lstStyle/>
                    <a:p>
                      <a:pPr algn="l"/>
                      <a:r>
                        <a:rPr sz="900"/>
                        <a:t>Cart not cleared after order placed</a:t>
                      </a:r>
                    </a:p>
                  </a:txBody>
                  <a:tcPr>
                    <a:solidFill>
                      <a:srgbClr val="E8EAF6"/>
                    </a:solidFill>
                  </a:tcPr>
                </a:tc>
                <a:tc>
                  <a:txBody>
                    <a:bodyPr/>
                    <a:lstStyle/>
                    <a:p>
                      <a:pPr algn="l"/>
                      <a:r>
                        <a:rPr sz="900"/>
                        <a:t>Missing side-effect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RB6</a:t>
                      </a:r>
                    </a:p>
                  </a:txBody>
                  <a:tcPr>
                    <a:solidFill>
                      <a:srgbClr val="FFFFFF"/>
                    </a:solidFill>
                  </a:tcPr>
                </a:tc>
                <a:tc>
                  <a:txBody>
                    <a:bodyPr/>
                    <a:lstStyle/>
                    <a:p>
                      <a:pPr algn="l"/>
                      <a:r>
                        <a:rPr sz="900"/>
                        <a:t>routes/reviews.js</a:t>
                      </a:r>
                    </a:p>
                  </a:txBody>
                  <a:tcPr>
                    <a:solidFill>
                      <a:srgbClr val="FFFFFF"/>
                    </a:solidFill>
                  </a:tcPr>
                </a:tc>
                <a:tc>
                  <a:txBody>
                    <a:bodyPr/>
                    <a:lstStyle/>
                    <a:p>
                      <a:pPr algn="l"/>
                      <a:r>
                        <a:rPr sz="900"/>
                        <a:t>Review guard checks 'cancelled' instead of 'delivered'</a:t>
                      </a:r>
                    </a:p>
                  </a:txBody>
                  <a:tcPr>
                    <a:solidFill>
                      <a:srgbClr val="FFFFFF"/>
                    </a:solidFill>
                  </a:tcPr>
                </a:tc>
                <a:tc>
                  <a:txBody>
                    <a:bodyPr/>
                    <a:lstStyle/>
                    <a:p>
                      <a:pPr algn="l"/>
                      <a:r>
                        <a:rPr sz="900"/>
                        <a:t>Wrong conditional</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RB7</a:t>
                      </a:r>
                    </a:p>
                  </a:txBody>
                  <a:tcPr>
                    <a:solidFill>
                      <a:srgbClr val="E8EAF6"/>
                    </a:solidFill>
                  </a:tcPr>
                </a:tc>
                <a:tc>
                  <a:txBody>
                    <a:bodyPr/>
                    <a:lstStyle/>
                    <a:p>
                      <a:pPr algn="l"/>
                      <a:r>
                        <a:rPr sz="900"/>
                        <a:t>models/Cart.js</a:t>
                      </a:r>
                    </a:p>
                  </a:txBody>
                  <a:tcPr>
                    <a:solidFill>
                      <a:srgbClr val="E8EAF6"/>
                    </a:solidFill>
                  </a:tcPr>
                </a:tc>
                <a:tc>
                  <a:txBody>
                    <a:bodyPr/>
                    <a:lstStyle/>
                    <a:p>
                      <a:pPr algn="l"/>
                      <a:r>
                        <a:rPr sz="900"/>
                        <a:t>Cart total ignores quantity (price only, not price×qty)</a:t>
                      </a:r>
                    </a:p>
                  </a:txBody>
                  <a:tcPr>
                    <a:solidFill>
                      <a:srgbClr val="E8EAF6"/>
                    </a:solidFill>
                  </a:tcPr>
                </a:tc>
                <a:tc>
                  <a:txBody>
                    <a:bodyPr/>
                    <a:lstStyle/>
                    <a:p>
                      <a:pPr algn="l"/>
                      <a:r>
                        <a:rPr sz="900"/>
                        <a:t>Wrong calculation</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RB8</a:t>
                      </a:r>
                    </a:p>
                  </a:txBody>
                  <a:tcPr>
                    <a:solidFill>
                      <a:srgbClr val="FFFFFF"/>
                    </a:solidFill>
                  </a:tcPr>
                </a:tc>
                <a:tc>
                  <a:txBody>
                    <a:bodyPr/>
                    <a:lstStyle/>
                    <a:p>
                      <a:pPr algn="l"/>
                      <a:r>
                        <a:rPr sz="900"/>
                        <a:t>routes/cart.js</a:t>
                      </a:r>
                    </a:p>
                  </a:txBody>
                  <a:tcPr>
                    <a:solidFill>
                      <a:srgbClr val="FFFFFF"/>
                    </a:solidFill>
                  </a:tcPr>
                </a:tc>
                <a:tc>
                  <a:txBody>
                    <a:bodyPr/>
                    <a:lstStyle/>
                    <a:p>
                      <a:pPr algn="l"/>
                      <a:r>
                        <a:rPr sz="900"/>
                        <a:t>Cart quantity allows 0 (should reject quantity ≤ 0)</a:t>
                      </a:r>
                    </a:p>
                  </a:txBody>
                  <a:tcPr>
                    <a:solidFill>
                      <a:srgbClr val="FFFFFF"/>
                    </a:solidFill>
                  </a:tcPr>
                </a:tc>
                <a:tc>
                  <a:txBody>
                    <a:bodyPr/>
                    <a:lstStyle/>
                    <a:p>
                      <a:pPr algn="l"/>
                      <a:r>
                        <a:rPr sz="900"/>
                        <a:t>Wrong guard</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FFFFFF"/>
                    </a:solidFill>
                  </a:tcPr>
                </a:tc>
              </a:tr>
            </a:tbl>
          </a:graphicData>
        </a:graphic>
      </p:graphicFrame>
      <p:sp>
        <p:nvSpPr>
          <p:cNvPr id="6" name="Rectangle 5"/>
          <p:cNvSpPr/>
          <p:nvPr/>
        </p:nvSpPr>
        <p:spPr>
          <a:xfrm>
            <a:off x="274320" y="5330952"/>
            <a:ext cx="11612880" cy="45720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376672"/>
            <a:ext cx="11247120" cy="384048"/>
          </a:xfrm>
          <a:prstGeom prst="rect">
            <a:avLst/>
          </a:prstGeom>
          <a:noFill/>
        </p:spPr>
        <p:txBody>
          <a:bodyPr wrap="square">
            <a:spAutoFit/>
          </a:bodyPr>
          <a:lstStyle/>
          <a:p>
            <a:pPr algn="ctr"/>
            <a:r>
              <a:rPr sz="1000" b="1" i="0">
                <a:solidFill>
                  <a:srgbClr val="2E7D32"/>
                </a:solidFill>
              </a:rPr>
              <a:t>Mutation Score: 8 / 8 (100%)   |   One-bug-at-a-time isolation testing. All bugs detected via postcondition assertions.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E-Commerce Backend — Results &amp; Bug Descriptions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77" cy="4160520"/>
        </p:xfrm>
        <a:graphic>
          <a:graphicData uri="http://schemas.openxmlformats.org/drawingml/2006/table">
            <a:tbl>
              <a:tblPr firstRow="1" bandRow="1">
                <a:tableStyleId>{5C22544A-7EE6-4342-B048-85BDC9FD1C3A}</a:tableStyleId>
              </a:tblPr>
              <a:tblGrid>
                <a:gridCol w="800888"/>
                <a:gridCol w="2803108"/>
                <a:gridCol w="3603997"/>
                <a:gridCol w="2402664"/>
                <a:gridCol w="1201332"/>
                <a:gridCol w="800888"/>
              </a:tblGrid>
              <a:tr h="462280">
                <a:tc>
                  <a:txBody>
                    <a:bodyPr/>
                    <a:lstStyle/>
                    <a:p>
                      <a:pPr algn="ctr"/>
                      <a:r>
                        <a:rPr b="1" sz="1000">
                          <a:solidFill>
                            <a:srgbClr val="FFFFFF"/>
                          </a:solidFill>
                        </a:rPr>
                        <a:t>Bug</a:t>
                      </a:r>
                    </a:p>
                  </a:txBody>
                  <a:tcPr>
                    <a:solidFill>
                      <a:srgbClr val="1A237E"/>
                    </a:solidFill>
                  </a:tcPr>
                </a:tc>
                <a:tc>
                  <a:txBody>
                    <a:bodyPr/>
                    <a:lstStyle/>
                    <a:p>
                      <a:pPr algn="ctr"/>
                      <a:r>
                        <a:rPr b="1" sz="1000">
                          <a:solidFill>
                            <a:srgbClr val="FFFFFF"/>
                          </a:solidFill>
                        </a:rPr>
                        <a:t>Location</a:t>
                      </a:r>
                    </a:p>
                  </a:txBody>
                  <a:tcPr>
                    <a:solidFill>
                      <a:srgbClr val="1A237E"/>
                    </a:solidFill>
                  </a:tcPr>
                </a:tc>
                <a:tc>
                  <a:txBody>
                    <a:bodyPr/>
                    <a:lstStyle/>
                    <a:p>
                      <a:pPr algn="ctr"/>
                      <a:r>
                        <a:rPr b="1" sz="1000">
                          <a:solidFill>
                            <a:srgbClr val="FFFFFF"/>
                          </a:solidFill>
                        </a:rPr>
                        <a:t>Description</a:t>
                      </a:r>
                    </a:p>
                  </a:txBody>
                  <a:tcPr>
                    <a:solidFill>
                      <a:srgbClr val="1A237E"/>
                    </a:solidFill>
                  </a:tcPr>
                </a:tc>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Depth</a:t>
                      </a:r>
                    </a:p>
                  </a:txBody>
                  <a:tcPr>
                    <a:solidFill>
                      <a:srgbClr val="1A237E"/>
                    </a:solidFill>
                  </a:tcPr>
                </a:tc>
              </a:tr>
              <a:tr h="462280">
                <a:tc>
                  <a:txBody>
                    <a:bodyPr/>
                    <a:lstStyle/>
                    <a:p>
                      <a:pPr algn="ctr"/>
                      <a:r>
                        <a:rPr sz="900"/>
                        <a:t>EB1</a:t>
                      </a:r>
                    </a:p>
                  </a:txBody>
                  <a:tcPr>
                    <a:solidFill>
                      <a:srgbClr val="E8EAF6"/>
                    </a:solidFill>
                  </a:tcPr>
                </a:tc>
                <a:tc>
                  <a:txBody>
                    <a:bodyPr/>
                    <a:lstStyle/>
                    <a:p>
                      <a:pPr algn="l"/>
                      <a:r>
                        <a:rPr sz="900"/>
                        <a:t>authController.js</a:t>
                      </a:r>
                    </a:p>
                  </a:txBody>
                  <a:tcPr>
                    <a:solidFill>
                      <a:srgbClr val="E8EAF6"/>
                    </a:solidFill>
                  </a:tcPr>
                </a:tc>
                <a:tc>
                  <a:txBody>
                    <a:bodyPr/>
                    <a:lstStyle/>
                    <a:p>
                      <a:pPr algn="l"/>
                      <a:r>
                        <a:rPr sz="900"/>
                        <a:t>User registered but not saved to DB (id=null returned)</a:t>
                      </a:r>
                    </a:p>
                  </a:txBody>
                  <a:tcPr>
                    <a:solidFill>
                      <a:srgbClr val="E8EAF6"/>
                    </a:solidFill>
                  </a:tcPr>
                </a:tc>
                <a:tc>
                  <a:txBody>
                    <a:bodyPr/>
                    <a:lstStyle/>
                    <a:p>
                      <a:pPr algn="l"/>
                      <a:r>
                        <a:rPr sz="900"/>
                        <a:t>Save without persist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E8EAF6"/>
                    </a:solidFill>
                  </a:tcPr>
                </a:tc>
              </a:tr>
              <a:tr h="462280">
                <a:tc>
                  <a:txBody>
                    <a:bodyPr/>
                    <a:lstStyle/>
                    <a:p>
                      <a:pPr algn="ctr"/>
                      <a:r>
                        <a:rPr sz="900"/>
                        <a:t>EB2</a:t>
                      </a:r>
                    </a:p>
                  </a:txBody>
                  <a:tcPr>
                    <a:solidFill>
                      <a:srgbClr val="FFFFFF"/>
                    </a:solidFill>
                  </a:tcPr>
                </a:tc>
                <a:tc>
                  <a:txBody>
                    <a:bodyPr/>
                    <a:lstStyle/>
                    <a:p>
                      <a:pPr algn="l"/>
                      <a:r>
                        <a:rPr sz="900"/>
                        <a:t>productController.js</a:t>
                      </a:r>
                    </a:p>
                  </a:txBody>
                  <a:tcPr>
                    <a:solidFill>
                      <a:srgbClr val="FFFFFF"/>
                    </a:solidFill>
                  </a:tcPr>
                </a:tc>
                <a:tc>
                  <a:txBody>
                    <a:bodyPr/>
                    <a:lstStyle/>
                    <a:p>
                      <a:pPr algn="l"/>
                      <a:r>
                        <a:rPr sz="900"/>
                        <a:t>Product created but not saved to DB (id=null returned)</a:t>
                      </a:r>
                    </a:p>
                  </a:txBody>
                  <a:tcPr>
                    <a:solidFill>
                      <a:srgbClr val="FFFFFF"/>
                    </a:solidFill>
                  </a:tcPr>
                </a:tc>
                <a:tc>
                  <a:txBody>
                    <a:bodyPr/>
                    <a:lstStyle/>
                    <a:p>
                      <a:pPr algn="l"/>
                      <a:r>
                        <a:rPr sz="900"/>
                        <a:t>Save without persist</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1</a:t>
                      </a:r>
                    </a:p>
                  </a:txBody>
                  <a:tcPr>
                    <a:solidFill>
                      <a:srgbClr val="FFFFFF"/>
                    </a:solidFill>
                  </a:tcPr>
                </a:tc>
              </a:tr>
              <a:tr h="462280">
                <a:tc>
                  <a:txBody>
                    <a:bodyPr/>
                    <a:lstStyle/>
                    <a:p>
                      <a:pPr algn="ctr"/>
                      <a:r>
                        <a:rPr sz="900"/>
                        <a:t>EB3</a:t>
                      </a:r>
                    </a:p>
                  </a:txBody>
                  <a:tcPr>
                    <a:solidFill>
                      <a:srgbClr val="E8EAF6"/>
                    </a:solidFill>
                  </a:tcPr>
                </a:tc>
                <a:tc>
                  <a:txBody>
                    <a:bodyPr/>
                    <a:lstStyle/>
                    <a:p>
                      <a:pPr algn="l"/>
                      <a:r>
                        <a:rPr sz="900"/>
                        <a:t>orderController.js</a:t>
                      </a:r>
                    </a:p>
                  </a:txBody>
                  <a:tcPr>
                    <a:solidFill>
                      <a:srgbClr val="E8EAF6"/>
                    </a:solidFill>
                  </a:tcPr>
                </a:tc>
                <a:tc>
                  <a:txBody>
                    <a:bodyPr/>
                    <a:lstStyle/>
                    <a:p>
                      <a:pPr algn="l"/>
                      <a:r>
                        <a:rPr sz="900"/>
                        <a:t>Order status field set to wrong value after creation</a:t>
                      </a:r>
                    </a:p>
                  </a:txBody>
                  <a:tcPr>
                    <a:solidFill>
                      <a:srgbClr val="E8EAF6"/>
                    </a:solidFill>
                  </a:tcPr>
                </a:tc>
                <a:tc>
                  <a:txBody>
                    <a:bodyPr/>
                    <a:lstStyle/>
                    <a:p>
                      <a:pPr algn="l"/>
                      <a:r>
                        <a:rPr sz="900"/>
                        <a:t>Wrong field value</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EB4</a:t>
                      </a:r>
                    </a:p>
                  </a:txBody>
                  <a:tcPr>
                    <a:solidFill>
                      <a:srgbClr val="FFFFFF"/>
                    </a:solidFill>
                  </a:tcPr>
                </a:tc>
                <a:tc>
                  <a:txBody>
                    <a:bodyPr/>
                    <a:lstStyle/>
                    <a:p>
                      <a:pPr algn="l"/>
                      <a:r>
                        <a:rPr sz="900"/>
                        <a:t>cartController.js</a:t>
                      </a:r>
                    </a:p>
                  </a:txBody>
                  <a:tcPr>
                    <a:solidFill>
                      <a:srgbClr val="FFFFFF"/>
                    </a:solidFill>
                  </a:tcPr>
                </a:tc>
                <a:tc>
                  <a:txBody>
                    <a:bodyPr/>
                    <a:lstStyle/>
                    <a:p>
                      <a:pPr algn="l"/>
                      <a:r>
                        <a:rPr sz="900"/>
                        <a:t>Cart quantity doubled — added with qty×2 instead of qty</a:t>
                      </a:r>
                    </a:p>
                  </a:txBody>
                  <a:tcPr>
                    <a:solidFill>
                      <a:srgbClr val="FFFFFF"/>
                    </a:solidFill>
                  </a:tcPr>
                </a:tc>
                <a:tc>
                  <a:txBody>
                    <a:bodyPr/>
                    <a:lstStyle/>
                    <a:p>
                      <a:pPr algn="l"/>
                      <a:r>
                        <a:rPr sz="900"/>
                        <a:t>Wrong field value</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EB5</a:t>
                      </a:r>
                    </a:p>
                  </a:txBody>
                  <a:tcPr>
                    <a:solidFill>
                      <a:srgbClr val="E8EAF6"/>
                    </a:solidFill>
                  </a:tcPr>
                </a:tc>
                <a:tc>
                  <a:txBody>
                    <a:bodyPr/>
                    <a:lstStyle/>
                    <a:p>
                      <a:pPr algn="l"/>
                      <a:r>
                        <a:rPr sz="900"/>
                        <a:t>reviewController.js</a:t>
                      </a:r>
                    </a:p>
                  </a:txBody>
                  <a:tcPr>
                    <a:solidFill>
                      <a:srgbClr val="E8EAF6"/>
                    </a:solidFill>
                  </a:tcPr>
                </a:tc>
                <a:tc>
                  <a:txBody>
                    <a:bodyPr/>
                    <a:lstStyle/>
                    <a:p>
                      <a:pPr algn="l"/>
                      <a:r>
                        <a:rPr sz="900"/>
                        <a:t>Review submitted but not saved to DB</a:t>
                      </a:r>
                    </a:p>
                  </a:txBody>
                  <a:tcPr>
                    <a:solidFill>
                      <a:srgbClr val="E8EAF6"/>
                    </a:solidFill>
                  </a:tcPr>
                </a:tc>
                <a:tc>
                  <a:txBody>
                    <a:bodyPr/>
                    <a:lstStyle/>
                    <a:p>
                      <a:pPr algn="l"/>
                      <a:r>
                        <a:rPr sz="900"/>
                        <a:t>Missing side-effect</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EB6</a:t>
                      </a:r>
                    </a:p>
                  </a:txBody>
                  <a:tcPr>
                    <a:solidFill>
                      <a:srgbClr val="FFFFFF"/>
                    </a:solidFill>
                  </a:tcPr>
                </a:tc>
                <a:tc>
                  <a:txBody>
                    <a:bodyPr/>
                    <a:lstStyle/>
                    <a:p>
                      <a:pPr algn="l"/>
                      <a:r>
                        <a:rPr sz="900"/>
                        <a:t>orderController.js</a:t>
                      </a:r>
                    </a:p>
                  </a:txBody>
                  <a:tcPr>
                    <a:solidFill>
                      <a:srgbClr val="FFFFFF"/>
                    </a:solidFill>
                  </a:tcPr>
                </a:tc>
                <a:tc>
                  <a:txBody>
                    <a:bodyPr/>
                    <a:lstStyle/>
                    <a:p>
                      <a:pPr algn="l"/>
                      <a:r>
                        <a:rPr sz="900"/>
                        <a:t>Total = sum of prices only, ignores quantity multiplier</a:t>
                      </a:r>
                    </a:p>
                  </a:txBody>
                  <a:tcPr>
                    <a:solidFill>
                      <a:srgbClr val="FFFFFF"/>
                    </a:solidFill>
                  </a:tcPr>
                </a:tc>
                <a:tc>
                  <a:txBody>
                    <a:bodyPr/>
                    <a:lstStyle/>
                    <a:p>
                      <a:pPr algn="l"/>
                      <a:r>
                        <a:rPr sz="900"/>
                        <a:t>Wrong calculation</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r h="462280">
                <a:tc>
                  <a:txBody>
                    <a:bodyPr/>
                    <a:lstStyle/>
                    <a:p>
                      <a:pPr algn="ctr"/>
                      <a:r>
                        <a:rPr sz="900"/>
                        <a:t>EB7</a:t>
                      </a:r>
                    </a:p>
                  </a:txBody>
                  <a:tcPr>
                    <a:solidFill>
                      <a:srgbClr val="E8EAF6"/>
                    </a:solidFill>
                  </a:tcPr>
                </a:tc>
                <a:tc>
                  <a:txBody>
                    <a:bodyPr/>
                    <a:lstStyle/>
                    <a:p>
                      <a:pPr algn="l"/>
                      <a:r>
                        <a:rPr sz="900"/>
                        <a:t>productController.js</a:t>
                      </a:r>
                    </a:p>
                  </a:txBody>
                  <a:tcPr>
                    <a:solidFill>
                      <a:srgbClr val="E8EAF6"/>
                    </a:solidFill>
                  </a:tcPr>
                </a:tc>
                <a:tc>
                  <a:txBody>
                    <a:bodyPr/>
                    <a:lstStyle/>
                    <a:p>
                      <a:pPr algn="l"/>
                      <a:r>
                        <a:rPr sz="900"/>
                        <a:t>Buyer role can delete products (seller-only operation)</a:t>
                      </a:r>
                    </a:p>
                  </a:txBody>
                  <a:tcPr>
                    <a:solidFill>
                      <a:srgbClr val="E8EAF6"/>
                    </a:solidFill>
                  </a:tcPr>
                </a:tc>
                <a:tc>
                  <a:txBody>
                    <a:bodyPr/>
                    <a:lstStyle/>
                    <a:p>
                      <a:pPr algn="l"/>
                      <a:r>
                        <a:rPr sz="900"/>
                        <a:t>Auth bypass</a:t>
                      </a:r>
                    </a:p>
                  </a:txBody>
                  <a:tcPr>
                    <a:solidFill>
                      <a:srgbClr val="E8EAF6"/>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E8EAF6"/>
                    </a:solidFill>
                  </a:tcPr>
                </a:tc>
              </a:tr>
              <a:tr h="462280">
                <a:tc>
                  <a:txBody>
                    <a:bodyPr/>
                    <a:lstStyle/>
                    <a:p>
                      <a:pPr algn="ctr"/>
                      <a:r>
                        <a:rPr sz="900"/>
                        <a:t>EB8</a:t>
                      </a:r>
                    </a:p>
                  </a:txBody>
                  <a:tcPr>
                    <a:solidFill>
                      <a:srgbClr val="FFFFFF"/>
                    </a:solidFill>
                  </a:tcPr>
                </a:tc>
                <a:tc>
                  <a:txBody>
                    <a:bodyPr/>
                    <a:lstStyle/>
                    <a:p>
                      <a:pPr algn="l"/>
                      <a:r>
                        <a:rPr sz="900"/>
                        <a:t>cartController.js</a:t>
                      </a:r>
                    </a:p>
                  </a:txBody>
                  <a:tcPr>
                    <a:solidFill>
                      <a:srgbClr val="FFFFFF"/>
                    </a:solidFill>
                  </a:tcPr>
                </a:tc>
                <a:tc>
                  <a:txBody>
                    <a:bodyPr/>
                    <a:lstStyle/>
                    <a:p>
                      <a:pPr algn="l"/>
                      <a:r>
                        <a:rPr sz="900"/>
                        <a:t>Add to cart succeeds even when quantity exceeds stock</a:t>
                      </a:r>
                    </a:p>
                  </a:txBody>
                  <a:tcPr>
                    <a:solidFill>
                      <a:srgbClr val="FFFFFF"/>
                    </a:solidFill>
                  </a:tcPr>
                </a:tc>
                <a:tc>
                  <a:txBody>
                    <a:bodyPr/>
                    <a:lstStyle/>
                    <a:p>
                      <a:pPr algn="l"/>
                      <a:r>
                        <a:rPr sz="900"/>
                        <a:t>Wrong guard</a:t>
                      </a:r>
                    </a:p>
                  </a:txBody>
                  <a:tcPr>
                    <a:solidFill>
                      <a:srgbClr val="FFFFFF"/>
                    </a:solidFill>
                  </a:tcPr>
                </a:tc>
                <a:tc>
                  <a:txBody>
                    <a:bodyPr/>
                    <a:lstStyle/>
                    <a:p>
                      <a:pPr algn="ctr"/>
                      <a:r>
                        <a:rPr sz="900" b="1">
                          <a:solidFill>
                            <a:srgbClr val="2E7D32"/>
                          </a:solidFill>
                        </a:rPr>
                        <a:t>YES ✓</a:t>
                      </a:r>
                    </a:p>
                  </a:txBody>
                  <a:tcPr>
                    <a:solidFill>
                      <a:srgbClr val="E8F5E9"/>
                    </a:solidFill>
                  </a:tcPr>
                </a:tc>
                <a:tc>
                  <a:txBody>
                    <a:bodyPr/>
                    <a:lstStyle/>
                    <a:p>
                      <a:pPr algn="ctr"/>
                      <a:r>
                        <a:rPr sz="900"/>
                        <a:t>2</a:t>
                      </a:r>
                    </a:p>
                  </a:txBody>
                  <a:tcPr>
                    <a:solidFill>
                      <a:srgbClr val="FFFFFF"/>
                    </a:solidFill>
                  </a:tcPr>
                </a:tc>
              </a:tr>
            </a:tbl>
          </a:graphicData>
        </a:graphic>
      </p:graphicFrame>
      <p:sp>
        <p:nvSpPr>
          <p:cNvPr id="6" name="Rectangle 5"/>
          <p:cNvSpPr/>
          <p:nvPr/>
        </p:nvSpPr>
        <p:spPr>
          <a:xfrm>
            <a:off x="274320" y="5330952"/>
            <a:ext cx="11612880" cy="457200"/>
          </a:xfrm>
          <a:prstGeom prst="rect">
            <a:avLst/>
          </a:prstGeom>
          <a:solidFill>
            <a:srgbClr val="E8F5E9"/>
          </a:solidFill>
          <a:ln w="63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376672"/>
            <a:ext cx="11247120" cy="384048"/>
          </a:xfrm>
          <a:prstGeom prst="rect">
            <a:avLst/>
          </a:prstGeom>
          <a:noFill/>
        </p:spPr>
        <p:txBody>
          <a:bodyPr wrap="square">
            <a:spAutoFit/>
          </a:bodyPr>
          <a:lstStyle/>
          <a:p>
            <a:pPr algn="ctr"/>
            <a:r>
              <a:rPr sz="1000" b="1" i="0">
                <a:solidFill>
                  <a:srgbClr val="2E7D32"/>
                </a:solidFill>
              </a:rPr>
              <a:t>Mutation Score: 8 / 8 (100%)   |   All bugs designed as state-change mutations → detectable via postcondition assertions.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Bug Test Walkthrough — RB5: Cart Not Cleared After Order (depth=2)</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97280"/>
            <a:ext cx="5486400" cy="4617720"/>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5303520" cy="365760"/>
          </a:xfrm>
          <a:prstGeom prst="rect">
            <a:avLst/>
          </a:prstGeom>
          <a:noFill/>
        </p:spPr>
        <p:txBody>
          <a:bodyPr wrap="square">
            <a:spAutoFit/>
          </a:bodyPr>
          <a:lstStyle/>
          <a:p>
            <a:pPr algn="l"/>
            <a:r>
              <a:rPr sz="1100" b="1" i="0">
                <a:solidFill>
                  <a:srgbClr val="1A237E"/>
                </a:solidFill>
              </a:rPr>
              <a:t>WHAT WAS TESTED</a:t>
            </a:r>
          </a:p>
        </p:txBody>
      </p:sp>
      <p:sp>
        <p:nvSpPr>
          <p:cNvPr id="7" name="TextBox 6"/>
          <p:cNvSpPr txBox="1"/>
          <p:nvPr/>
        </p:nvSpPr>
        <p:spPr>
          <a:xfrm>
            <a:off x="365760" y="1554480"/>
            <a:ext cx="5303520" cy="4114800"/>
          </a:xfrm>
          <a:prstGeom prst="rect">
            <a:avLst/>
          </a:prstGeom>
          <a:noFill/>
        </p:spPr>
        <p:txBody>
          <a:bodyPr wrap="square">
            <a:spAutoFit/>
          </a:bodyPr>
          <a:lstStyle/>
          <a:p>
            <a:pPr algn="l"/>
            <a:r>
              <a:rPr sz="950" b="0" i="0">
                <a:solidFill>
                  <a:srgbClr val="333333"/>
                </a:solidFill>
              </a:rPr>
              <a:t>Bug injected: routes/orders.js
  await Cart.findOneAndDelete({ user: req.user._id })
  → line commented out  ← cart never cleared
Test string: ['registerUserOk', 'placeOrderOk']  (depth=2)
Spec postcondition for placeOrderOk:
  not_in(userId, dom(Cart'))
  (cart must be empty after order placed)
HOW IT DETECTED:
Order placed successfully → HTTP 201 returned.
get_C() fetches live Cart DB — userId still in Cart.
not_in(userId, dom(Cart')) → false → ASSERT FAILED.</a:t>
            </a:r>
          </a:p>
        </p:txBody>
      </p:sp>
      <p:sp>
        <p:nvSpPr>
          <p:cNvPr id="8" name="Rectangle 7"/>
          <p:cNvSpPr/>
          <p:nvPr/>
        </p:nvSpPr>
        <p:spPr>
          <a:xfrm>
            <a:off x="6035040" y="1097280"/>
            <a:ext cx="5852160" cy="4617720"/>
          </a:xfrm>
          <a:prstGeom prst="rect">
            <a:avLst/>
          </a:prstGeom>
          <a:solidFill>
            <a:srgbClr val="1A1A2E"/>
          </a:solidFill>
          <a:ln w="63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43000"/>
            <a:ext cx="5669280" cy="365760"/>
          </a:xfrm>
          <a:prstGeom prst="rect">
            <a:avLst/>
          </a:prstGeom>
          <a:noFill/>
        </p:spPr>
        <p:txBody>
          <a:bodyPr wrap="square">
            <a:spAutoFit/>
          </a:bodyPr>
          <a:lstStyle/>
          <a:p>
            <a:pPr algn="l"/>
            <a:r>
              <a:rPr sz="1100" b="1" i="0">
                <a:solidFill>
                  <a:srgbClr val="42A5F5"/>
                </a:solidFill>
              </a:rPr>
              <a:t>PIPELINE OF EXECUTION &amp; OUTPUT</a:t>
            </a:r>
          </a:p>
        </p:txBody>
      </p:sp>
      <p:sp>
        <p:nvSpPr>
          <p:cNvPr id="10" name="TextBox 9"/>
          <p:cNvSpPr txBox="1"/>
          <p:nvPr/>
        </p:nvSpPr>
        <p:spPr>
          <a:xfrm>
            <a:off x="6126480" y="1554480"/>
            <a:ext cx="5669280" cy="246888"/>
          </a:xfrm>
          <a:prstGeom prst="rect">
            <a:avLst/>
          </a:prstGeom>
          <a:noFill/>
        </p:spPr>
        <p:txBody>
          <a:bodyPr wrap="square">
            <a:spAutoFit/>
          </a:bodyPr>
          <a:lstStyle/>
          <a:p>
            <a:pPr algn="l"/>
            <a:r>
              <a:rPr sz="850" b="0" i="0">
                <a:solidFill>
                  <a:srgbClr val="42A5F5"/>
                </a:solidFill>
              </a:rPr>
              <a:t>[SEE iter 1] Symbolic vars: username, email, pwd</a:t>
            </a:r>
          </a:p>
        </p:txBody>
      </p:sp>
      <p:sp>
        <p:nvSpPr>
          <p:cNvPr id="11" name="TextBox 10"/>
          <p:cNvSpPr txBox="1"/>
          <p:nvPr/>
        </p:nvSpPr>
        <p:spPr>
          <a:xfrm>
            <a:off x="6126480" y="1801368"/>
            <a:ext cx="5669280" cy="246888"/>
          </a:xfrm>
          <a:prstGeom prst="rect">
            <a:avLst/>
          </a:prstGeom>
          <a:noFill/>
        </p:spPr>
        <p:txBody>
          <a:bodyPr wrap="square">
            <a:spAutoFit/>
          </a:bodyPr>
          <a:lstStyle/>
          <a:p>
            <a:pPr algn="l"/>
            <a:r>
              <a:rPr sz="850" b="0" i="0">
                <a:solidFill>
                  <a:srgbClr val="FFFFFF"/>
                </a:solidFill>
              </a:rPr>
              <a:t>[Z3]  Solve → username='user42', email='u@t.com'</a:t>
            </a:r>
          </a:p>
        </p:txBody>
      </p:sp>
      <p:sp>
        <p:nvSpPr>
          <p:cNvPr id="12" name="TextBox 11"/>
          <p:cNvSpPr txBox="1"/>
          <p:nvPr/>
        </p:nvSpPr>
        <p:spPr>
          <a:xfrm>
            <a:off x="6126480" y="2048256"/>
            <a:ext cx="5669280" cy="246888"/>
          </a:xfrm>
          <a:prstGeom prst="rect">
            <a:avLst/>
          </a:prstGeom>
          <a:noFill/>
        </p:spPr>
        <p:txBody>
          <a:bodyPr wrap="square">
            <a:spAutoFit/>
          </a:bodyPr>
          <a:lstStyle/>
          <a:p>
            <a:pPr algn="l"/>
            <a:r>
              <a:rPr sz="850" b="0" i="0">
                <a:solidFill>
                  <a:srgbClr val="FFFFFF"/>
                </a:solidFill>
              </a:rPr>
              <a:t/>
            </a:r>
          </a:p>
        </p:txBody>
      </p:sp>
      <p:sp>
        <p:nvSpPr>
          <p:cNvPr id="13" name="TextBox 12"/>
          <p:cNvSpPr txBox="1"/>
          <p:nvPr/>
        </p:nvSpPr>
        <p:spPr>
          <a:xfrm>
            <a:off x="6126480" y="2295144"/>
            <a:ext cx="5669280" cy="246888"/>
          </a:xfrm>
          <a:prstGeom prst="rect">
            <a:avLst/>
          </a:prstGeom>
          <a:noFill/>
        </p:spPr>
        <p:txBody>
          <a:bodyPr wrap="square">
            <a:spAutoFit/>
          </a:bodyPr>
          <a:lstStyle/>
          <a:p>
            <a:pPr algn="l"/>
            <a:r>
              <a:rPr sz="850" b="0" i="0">
                <a:solidFill>
                  <a:srgbClr val="42A5F5"/>
                </a:solidFill>
              </a:rPr>
              <a:t>[SEE iter 2] Run with concrete values</a:t>
            </a:r>
          </a:p>
        </p:txBody>
      </p:sp>
      <p:sp>
        <p:nvSpPr>
          <p:cNvPr id="14" name="TextBox 13"/>
          <p:cNvSpPr txBox="1"/>
          <p:nvPr/>
        </p:nvSpPr>
        <p:spPr>
          <a:xfrm>
            <a:off x="6126480" y="2542032"/>
            <a:ext cx="5669280" cy="246888"/>
          </a:xfrm>
          <a:prstGeom prst="rect">
            <a:avLst/>
          </a:prstGeom>
          <a:noFill/>
        </p:spPr>
        <p:txBody>
          <a:bodyPr wrap="square">
            <a:spAutoFit/>
          </a:bodyPr>
          <a:lstStyle/>
          <a:p>
            <a:pPr algn="l"/>
            <a:r>
              <a:rPr sz="850" b="0" i="0">
                <a:solidFill>
                  <a:srgbClr val="FFFFFF"/>
                </a:solidFill>
              </a:rPr>
              <a:t>[Step 1] RegisterUserFunc</a:t>
            </a:r>
          </a:p>
        </p:txBody>
      </p:sp>
      <p:sp>
        <p:nvSpPr>
          <p:cNvPr id="15" name="TextBox 14"/>
          <p:cNvSpPr txBox="1"/>
          <p:nvPr/>
        </p:nvSpPr>
        <p:spPr>
          <a:xfrm>
            <a:off x="6126480" y="2788920"/>
            <a:ext cx="5669280" cy="246888"/>
          </a:xfrm>
          <a:prstGeom prst="rect">
            <a:avLst/>
          </a:prstGeom>
          <a:noFill/>
        </p:spPr>
        <p:txBody>
          <a:bodyPr wrap="square">
            <a:spAutoFit/>
          </a:bodyPr>
          <a:lstStyle/>
          <a:p>
            <a:pPr algn="l"/>
            <a:r>
              <a:rPr sz="850" b="0" i="0">
                <a:solidFill>
                  <a:srgbClr val="88FF88"/>
                </a:solidFill>
              </a:rPr>
              <a:t>[HttpClient] POST /api/auth/register → HTTP 201 ✓</a:t>
            </a:r>
          </a:p>
        </p:txBody>
      </p:sp>
      <p:sp>
        <p:nvSpPr>
          <p:cNvPr id="16" name="TextBox 15"/>
          <p:cNvSpPr txBox="1"/>
          <p:nvPr/>
        </p:nvSpPr>
        <p:spPr>
          <a:xfrm>
            <a:off x="6126480" y="3035808"/>
            <a:ext cx="5669280" cy="246888"/>
          </a:xfrm>
          <a:prstGeom prst="rect">
            <a:avLst/>
          </a:prstGeom>
          <a:noFill/>
        </p:spPr>
        <p:txBody>
          <a:bodyPr wrap="square">
            <a:spAutoFit/>
          </a:bodyPr>
          <a:lstStyle/>
          <a:p>
            <a:pPr algn="l"/>
            <a:r>
              <a:rPr sz="850" b="0" i="0">
                <a:solidFill>
                  <a:srgbClr val="FFFFFF"/>
                </a:solidFill>
              </a:rPr>
              <a:t>[ASSIGN] _result0 := userId</a:t>
            </a:r>
          </a:p>
        </p:txBody>
      </p:sp>
      <p:sp>
        <p:nvSpPr>
          <p:cNvPr id="17" name="TextBox 16"/>
          <p:cNvSpPr txBox="1"/>
          <p:nvPr/>
        </p:nvSpPr>
        <p:spPr>
          <a:xfrm>
            <a:off x="6126480" y="3282696"/>
            <a:ext cx="5669280" cy="246888"/>
          </a:xfrm>
          <a:prstGeom prst="rect">
            <a:avLst/>
          </a:prstGeom>
          <a:noFill/>
        </p:spPr>
        <p:txBody>
          <a:bodyPr wrap="square">
            <a:spAutoFit/>
          </a:bodyPr>
          <a:lstStyle/>
          <a:p>
            <a:pPr algn="l"/>
            <a:r>
              <a:rPr sz="850" b="0" i="0">
                <a:solidFill>
                  <a:srgbClr val="FFFFFF"/>
                </a:solidFill>
              </a:rPr>
              <a:t/>
            </a:r>
          </a:p>
        </p:txBody>
      </p:sp>
      <p:sp>
        <p:nvSpPr>
          <p:cNvPr id="18" name="TextBox 17"/>
          <p:cNvSpPr txBox="1"/>
          <p:nvPr/>
        </p:nvSpPr>
        <p:spPr>
          <a:xfrm>
            <a:off x="6126480" y="3529584"/>
            <a:ext cx="5669280" cy="246888"/>
          </a:xfrm>
          <a:prstGeom prst="rect">
            <a:avLst/>
          </a:prstGeom>
          <a:noFill/>
        </p:spPr>
        <p:txBody>
          <a:bodyPr wrap="square">
            <a:spAutoFit/>
          </a:bodyPr>
          <a:lstStyle/>
          <a:p>
            <a:pPr algn="l"/>
            <a:r>
              <a:rPr sz="850" b="0" i="0">
                <a:solidFill>
                  <a:srgbClr val="FFFFFF"/>
                </a:solidFill>
              </a:rPr>
              <a:t>[Step 2] PlaceOrderFunc</a:t>
            </a:r>
          </a:p>
        </p:txBody>
      </p:sp>
      <p:sp>
        <p:nvSpPr>
          <p:cNvPr id="19" name="TextBox 18"/>
          <p:cNvSpPr txBox="1"/>
          <p:nvPr/>
        </p:nvSpPr>
        <p:spPr>
          <a:xfrm>
            <a:off x="6126480" y="3776472"/>
            <a:ext cx="5669280" cy="246888"/>
          </a:xfrm>
          <a:prstGeom prst="rect">
            <a:avLst/>
          </a:prstGeom>
          <a:noFill/>
        </p:spPr>
        <p:txBody>
          <a:bodyPr wrap="square">
            <a:spAutoFit/>
          </a:bodyPr>
          <a:lstStyle/>
          <a:p>
            <a:pPr algn="l"/>
            <a:r>
              <a:rPr sz="850" b="0" i="0">
                <a:solidFill>
                  <a:srgbClr val="88FF88"/>
                </a:solidFill>
              </a:rPr>
              <a:t>[HttpClient] POST /api/orders → HTTP 201 ✓</a:t>
            </a:r>
          </a:p>
        </p:txBody>
      </p:sp>
      <p:sp>
        <p:nvSpPr>
          <p:cNvPr id="20" name="TextBox 19"/>
          <p:cNvSpPr txBox="1"/>
          <p:nvPr/>
        </p:nvSpPr>
        <p:spPr>
          <a:xfrm>
            <a:off x="6126480" y="4023360"/>
            <a:ext cx="5669280" cy="246888"/>
          </a:xfrm>
          <a:prstGeom prst="rect">
            <a:avLst/>
          </a:prstGeom>
          <a:noFill/>
        </p:spPr>
        <p:txBody>
          <a:bodyPr wrap="square">
            <a:spAutoFit/>
          </a:bodyPr>
          <a:lstStyle/>
          <a:p>
            <a:pPr algn="l"/>
            <a:r>
              <a:rPr sz="850" b="0" i="0">
                <a:solidFill>
                  <a:srgbClr val="FFFFFF"/>
                </a:solidFill>
              </a:rPr>
              <a:t>[ASSIGN] _result1 := orderId    ← order created</a:t>
            </a:r>
          </a:p>
        </p:txBody>
      </p:sp>
      <p:sp>
        <p:nvSpPr>
          <p:cNvPr id="21" name="TextBox 20"/>
          <p:cNvSpPr txBox="1"/>
          <p:nvPr/>
        </p:nvSpPr>
        <p:spPr>
          <a:xfrm>
            <a:off x="6126480" y="4270248"/>
            <a:ext cx="5669280" cy="246888"/>
          </a:xfrm>
          <a:prstGeom prst="rect">
            <a:avLst/>
          </a:prstGeom>
          <a:noFill/>
        </p:spPr>
        <p:txBody>
          <a:bodyPr wrap="square">
            <a:spAutoFit/>
          </a:bodyPr>
          <a:lstStyle/>
          <a:p>
            <a:pPr algn="l"/>
            <a:r>
              <a:rPr sz="850" b="0" i="0">
                <a:solidFill>
                  <a:srgbClr val="FFFFFF"/>
                </a:solidFill>
              </a:rPr>
              <a:t/>
            </a:r>
          </a:p>
        </p:txBody>
      </p:sp>
      <p:sp>
        <p:nvSpPr>
          <p:cNvPr id="22" name="TextBox 21"/>
          <p:cNvSpPr txBox="1"/>
          <p:nvPr/>
        </p:nvSpPr>
        <p:spPr>
          <a:xfrm>
            <a:off x="6126480" y="4517136"/>
            <a:ext cx="5669280" cy="246888"/>
          </a:xfrm>
          <a:prstGeom prst="rect">
            <a:avLst/>
          </a:prstGeom>
          <a:noFill/>
        </p:spPr>
        <p:txBody>
          <a:bodyPr wrap="square">
            <a:spAutoFit/>
          </a:bodyPr>
          <a:lstStyle/>
          <a:p>
            <a:pPr algn="l"/>
            <a:r>
              <a:rPr sz="850" b="0" i="0">
                <a:solidFill>
                  <a:srgbClr val="FFFFFF"/>
                </a:solidFill>
              </a:rPr>
              <a:t>[Rewrite] get_C() → fetch live Cart DB</a:t>
            </a:r>
          </a:p>
        </p:txBody>
      </p:sp>
      <p:sp>
        <p:nvSpPr>
          <p:cNvPr id="23" name="TextBox 22"/>
          <p:cNvSpPr txBox="1"/>
          <p:nvPr/>
        </p:nvSpPr>
        <p:spPr>
          <a:xfrm>
            <a:off x="6126480" y="4764024"/>
            <a:ext cx="5669280" cy="246888"/>
          </a:xfrm>
          <a:prstGeom prst="rect">
            <a:avLst/>
          </a:prstGeom>
          <a:noFill/>
        </p:spPr>
        <p:txBody>
          <a:bodyPr wrap="square">
            <a:spAutoFit/>
          </a:bodyPr>
          <a:lstStyle/>
          <a:p>
            <a:pPr algn="l"/>
            <a:r>
              <a:rPr sz="850" b="0" i="0">
                <a:solidFill>
                  <a:srgbClr val="FF8888"/>
                </a:solidFill>
              </a:rPr>
              <a:t>[GetCartFunc] userId STILL in Cart  ← !</a:t>
            </a:r>
          </a:p>
        </p:txBody>
      </p:sp>
      <p:sp>
        <p:nvSpPr>
          <p:cNvPr id="24" name="TextBox 23"/>
          <p:cNvSpPr txBox="1"/>
          <p:nvPr/>
        </p:nvSpPr>
        <p:spPr>
          <a:xfrm>
            <a:off x="6126480" y="5010912"/>
            <a:ext cx="5669280" cy="246888"/>
          </a:xfrm>
          <a:prstGeom prst="rect">
            <a:avLst/>
          </a:prstGeom>
          <a:noFill/>
        </p:spPr>
        <p:txBody>
          <a:bodyPr wrap="square">
            <a:spAutoFit/>
          </a:bodyPr>
          <a:lstStyle/>
          <a:p>
            <a:pPr algn="l"/>
            <a:r>
              <a:rPr sz="850" b="0" i="0">
                <a:solidFill>
                  <a:srgbClr val="FFFFFF"/>
                </a:solidFill>
              </a:rPr>
              <a:t/>
            </a:r>
          </a:p>
        </p:txBody>
      </p:sp>
      <p:sp>
        <p:nvSpPr>
          <p:cNvPr id="25" name="TextBox 24"/>
          <p:cNvSpPr txBox="1"/>
          <p:nvPr/>
        </p:nvSpPr>
        <p:spPr>
          <a:xfrm>
            <a:off x="6126480" y="5257800"/>
            <a:ext cx="5669280" cy="246888"/>
          </a:xfrm>
          <a:prstGeom prst="rect">
            <a:avLst/>
          </a:prstGeom>
          <a:noFill/>
        </p:spPr>
        <p:txBody>
          <a:bodyPr wrap="square">
            <a:spAutoFit/>
          </a:bodyPr>
          <a:lstStyle/>
          <a:p>
            <a:pPr algn="l"/>
            <a:r>
              <a:rPr sz="850" b="0" i="0">
                <a:solidFill>
                  <a:srgbClr val="FFFFFF"/>
                </a:solidFill>
              </a:rPr>
              <a:t>[ASSERT] not_in(userId, dom(tmp_C_1))</a:t>
            </a:r>
          </a:p>
        </p:txBody>
      </p:sp>
      <p:sp>
        <p:nvSpPr>
          <p:cNvPr id="26" name="TextBox 25"/>
          <p:cNvSpPr txBox="1"/>
          <p:nvPr/>
        </p:nvSpPr>
        <p:spPr>
          <a:xfrm>
            <a:off x="6126480" y="5504688"/>
            <a:ext cx="5669280" cy="246888"/>
          </a:xfrm>
          <a:prstGeom prst="rect">
            <a:avLst/>
          </a:prstGeom>
          <a:noFill/>
        </p:spPr>
        <p:txBody>
          <a:bodyPr wrap="square">
            <a:spAutoFit/>
          </a:bodyPr>
          <a:lstStyle/>
          <a:p>
            <a:pPr algn="l"/>
            <a:r>
              <a:rPr sz="850" b="0" i="0">
                <a:solidFill>
                  <a:srgbClr val="FF4444"/>
                </a:solidFill>
              </a:rPr>
              <a:t>[ASSERT] Result: false</a:t>
            </a:r>
          </a:p>
        </p:txBody>
      </p:sp>
      <p:sp>
        <p:nvSpPr>
          <p:cNvPr id="27" name="TextBox 26"/>
          <p:cNvSpPr txBox="1"/>
          <p:nvPr/>
        </p:nvSpPr>
        <p:spPr>
          <a:xfrm>
            <a:off x="6126480" y="5751576"/>
            <a:ext cx="5669280" cy="246888"/>
          </a:xfrm>
          <a:prstGeom prst="rect">
            <a:avLst/>
          </a:prstGeom>
          <a:noFill/>
        </p:spPr>
        <p:txBody>
          <a:bodyPr wrap="square">
            <a:spAutoFit/>
          </a:bodyPr>
          <a:lstStyle/>
          <a:p>
            <a:pPr algn="l"/>
            <a:r>
              <a:rPr sz="850" b="0" i="0">
                <a:solidFill>
                  <a:srgbClr val="FF4444"/>
                </a:solidFill>
              </a:rPr>
              <a:t>[ASSERT] ✗ FAILED → BUG DETECTED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Bug Test Walkthrough — EB2: Product Not Saved to DB (depth=1)</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97280"/>
            <a:ext cx="5486400" cy="4617720"/>
          </a:xfrm>
          <a:prstGeom prst="rect">
            <a:avLst/>
          </a:prstGeom>
          <a:solidFill>
            <a:srgbClr val="E8EAF6"/>
          </a:solidFill>
          <a:ln w="635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43000"/>
            <a:ext cx="5303520" cy="365760"/>
          </a:xfrm>
          <a:prstGeom prst="rect">
            <a:avLst/>
          </a:prstGeom>
          <a:noFill/>
        </p:spPr>
        <p:txBody>
          <a:bodyPr wrap="square">
            <a:spAutoFit/>
          </a:bodyPr>
          <a:lstStyle/>
          <a:p>
            <a:pPr algn="l"/>
            <a:r>
              <a:rPr sz="1100" b="1" i="0">
                <a:solidFill>
                  <a:srgbClr val="1A237E"/>
                </a:solidFill>
              </a:rPr>
              <a:t>WHAT WAS TESTED</a:t>
            </a:r>
          </a:p>
        </p:txBody>
      </p:sp>
      <p:sp>
        <p:nvSpPr>
          <p:cNvPr id="7" name="TextBox 6"/>
          <p:cNvSpPr txBox="1"/>
          <p:nvPr/>
        </p:nvSpPr>
        <p:spPr>
          <a:xfrm>
            <a:off x="365760" y="1554480"/>
            <a:ext cx="5303520" cy="4114800"/>
          </a:xfrm>
          <a:prstGeom prst="rect">
            <a:avLst/>
          </a:prstGeom>
          <a:noFill/>
        </p:spPr>
        <p:txBody>
          <a:bodyPr wrap="square">
            <a:spAutoFit/>
          </a:bodyPr>
          <a:lstStyle/>
          <a:p>
            <a:pPr algn="l"/>
            <a:r>
              <a:rPr sz="950" b="0" i="0">
                <a:solidFill>
                  <a:srgbClr val="333333"/>
                </a:solidFill>
              </a:rPr>
              <a:t>Bug injected: controllers/productController.js
  res.status(201).json(product)
  → res.status(200).json(product)  ← wrong status
Test string: ['createProductOk']  (depth=1)
Spec postcondition for createProductOk:
  in(_result, dom(P'))
  (product ID must exist in Products collection)
HOW IT DETECTED:
Product saved in DB, but HTTP 200 returned instead of 201.
CreateProductFunc checks status: 200 → returns null id.
get_P() fetches DB — null not in Products.
in(null, dom(P')) → false → ASSERT FAILED.</a:t>
            </a:r>
          </a:p>
        </p:txBody>
      </p:sp>
      <p:sp>
        <p:nvSpPr>
          <p:cNvPr id="8" name="Rectangle 7"/>
          <p:cNvSpPr/>
          <p:nvPr/>
        </p:nvSpPr>
        <p:spPr>
          <a:xfrm>
            <a:off x="6035040" y="1097280"/>
            <a:ext cx="5852160" cy="4617720"/>
          </a:xfrm>
          <a:prstGeom prst="rect">
            <a:avLst/>
          </a:prstGeom>
          <a:solidFill>
            <a:srgbClr val="1A1A2E"/>
          </a:solidFill>
          <a:ln w="63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43000"/>
            <a:ext cx="5669280" cy="365760"/>
          </a:xfrm>
          <a:prstGeom prst="rect">
            <a:avLst/>
          </a:prstGeom>
          <a:noFill/>
        </p:spPr>
        <p:txBody>
          <a:bodyPr wrap="square">
            <a:spAutoFit/>
          </a:bodyPr>
          <a:lstStyle/>
          <a:p>
            <a:pPr algn="l"/>
            <a:r>
              <a:rPr sz="1100" b="1" i="0">
                <a:solidFill>
                  <a:srgbClr val="42A5F5"/>
                </a:solidFill>
              </a:rPr>
              <a:t>PIPELINE OF EXECUTION &amp; OUTPUT</a:t>
            </a:r>
          </a:p>
        </p:txBody>
      </p:sp>
      <p:sp>
        <p:nvSpPr>
          <p:cNvPr id="10" name="TextBox 9"/>
          <p:cNvSpPr txBox="1"/>
          <p:nvPr/>
        </p:nvSpPr>
        <p:spPr>
          <a:xfrm>
            <a:off x="6126480" y="1554480"/>
            <a:ext cx="5669280" cy="246888"/>
          </a:xfrm>
          <a:prstGeom prst="rect">
            <a:avLst/>
          </a:prstGeom>
          <a:noFill/>
        </p:spPr>
        <p:txBody>
          <a:bodyPr wrap="square">
            <a:spAutoFit/>
          </a:bodyPr>
          <a:lstStyle/>
          <a:p>
            <a:pPr algn="l"/>
            <a:r>
              <a:rPr sz="850" b="0" i="0">
                <a:solidFill>
                  <a:srgbClr val="42A5F5"/>
                </a:solidFill>
              </a:rPr>
              <a:t>[SEE iter 1] Symbolic vars: name, price, stock</a:t>
            </a:r>
          </a:p>
        </p:txBody>
      </p:sp>
      <p:sp>
        <p:nvSpPr>
          <p:cNvPr id="11" name="TextBox 10"/>
          <p:cNvSpPr txBox="1"/>
          <p:nvPr/>
        </p:nvSpPr>
        <p:spPr>
          <a:xfrm>
            <a:off x="6126480" y="1801368"/>
            <a:ext cx="5669280" cy="246888"/>
          </a:xfrm>
          <a:prstGeom prst="rect">
            <a:avLst/>
          </a:prstGeom>
          <a:noFill/>
        </p:spPr>
        <p:txBody>
          <a:bodyPr wrap="square">
            <a:spAutoFit/>
          </a:bodyPr>
          <a:lstStyle/>
          <a:p>
            <a:pPr algn="l"/>
            <a:r>
              <a:rPr sz="850" b="0" i="0">
                <a:solidFill>
                  <a:srgbClr val="FFFFFF"/>
                </a:solidFill>
              </a:rPr>
              <a:t>[Z3]  Solve → name='Widget', price=29.99</a:t>
            </a:r>
          </a:p>
        </p:txBody>
      </p:sp>
      <p:sp>
        <p:nvSpPr>
          <p:cNvPr id="12" name="TextBox 11"/>
          <p:cNvSpPr txBox="1"/>
          <p:nvPr/>
        </p:nvSpPr>
        <p:spPr>
          <a:xfrm>
            <a:off x="6126480" y="2048256"/>
            <a:ext cx="5669280" cy="246888"/>
          </a:xfrm>
          <a:prstGeom prst="rect">
            <a:avLst/>
          </a:prstGeom>
          <a:noFill/>
        </p:spPr>
        <p:txBody>
          <a:bodyPr wrap="square">
            <a:spAutoFit/>
          </a:bodyPr>
          <a:lstStyle/>
          <a:p>
            <a:pPr algn="l"/>
            <a:r>
              <a:rPr sz="850" b="0" i="0">
                <a:solidFill>
                  <a:srgbClr val="FFFFFF"/>
                </a:solidFill>
              </a:rPr>
              <a:t/>
            </a:r>
          </a:p>
        </p:txBody>
      </p:sp>
      <p:sp>
        <p:nvSpPr>
          <p:cNvPr id="13" name="TextBox 12"/>
          <p:cNvSpPr txBox="1"/>
          <p:nvPr/>
        </p:nvSpPr>
        <p:spPr>
          <a:xfrm>
            <a:off x="6126480" y="2295144"/>
            <a:ext cx="5669280" cy="246888"/>
          </a:xfrm>
          <a:prstGeom prst="rect">
            <a:avLst/>
          </a:prstGeom>
          <a:noFill/>
        </p:spPr>
        <p:txBody>
          <a:bodyPr wrap="square">
            <a:spAutoFit/>
          </a:bodyPr>
          <a:lstStyle/>
          <a:p>
            <a:pPr algn="l"/>
            <a:r>
              <a:rPr sz="850" b="0" i="0">
                <a:solidFill>
                  <a:srgbClr val="42A5F5"/>
                </a:solidFill>
              </a:rPr>
              <a:t>[SEE iter 2] Run with concrete values</a:t>
            </a:r>
          </a:p>
        </p:txBody>
      </p:sp>
      <p:sp>
        <p:nvSpPr>
          <p:cNvPr id="14" name="TextBox 13"/>
          <p:cNvSpPr txBox="1"/>
          <p:nvPr/>
        </p:nvSpPr>
        <p:spPr>
          <a:xfrm>
            <a:off x="6126480" y="2542032"/>
            <a:ext cx="5669280" cy="246888"/>
          </a:xfrm>
          <a:prstGeom prst="rect">
            <a:avLst/>
          </a:prstGeom>
          <a:noFill/>
        </p:spPr>
        <p:txBody>
          <a:bodyPr wrap="square">
            <a:spAutoFit/>
          </a:bodyPr>
          <a:lstStyle/>
          <a:p>
            <a:pPr algn="l"/>
            <a:r>
              <a:rPr sz="850" b="0" i="0">
                <a:solidFill>
                  <a:srgbClr val="FFFFFF"/>
                </a:solidFill>
              </a:rPr>
              <a:t>[CreateProductFunc]</a:t>
            </a:r>
          </a:p>
        </p:txBody>
      </p:sp>
      <p:sp>
        <p:nvSpPr>
          <p:cNvPr id="15" name="TextBox 14"/>
          <p:cNvSpPr txBox="1"/>
          <p:nvPr/>
        </p:nvSpPr>
        <p:spPr>
          <a:xfrm>
            <a:off x="6126480" y="2788920"/>
            <a:ext cx="5669280" cy="246888"/>
          </a:xfrm>
          <a:prstGeom prst="rect">
            <a:avLst/>
          </a:prstGeom>
          <a:noFill/>
        </p:spPr>
        <p:txBody>
          <a:bodyPr wrap="square">
            <a:spAutoFit/>
          </a:bodyPr>
          <a:lstStyle/>
          <a:p>
            <a:pPr algn="l"/>
            <a:r>
              <a:rPr sz="850" b="0" i="0">
                <a:solidFill>
                  <a:srgbClr val="FFCC00"/>
                </a:solidFill>
              </a:rPr>
              <a:t>[HttpClient] POST /api/products → HTTP 200  !</a:t>
            </a:r>
          </a:p>
        </p:txBody>
      </p:sp>
      <p:sp>
        <p:nvSpPr>
          <p:cNvPr id="16" name="TextBox 15"/>
          <p:cNvSpPr txBox="1"/>
          <p:nvPr/>
        </p:nvSpPr>
        <p:spPr>
          <a:xfrm>
            <a:off x="6126480" y="3035808"/>
            <a:ext cx="5669280" cy="246888"/>
          </a:xfrm>
          <a:prstGeom prst="rect">
            <a:avLst/>
          </a:prstGeom>
          <a:noFill/>
        </p:spPr>
        <p:txBody>
          <a:bodyPr wrap="square">
            <a:spAutoFit/>
          </a:bodyPr>
          <a:lstStyle/>
          <a:p>
            <a:pPr algn="l"/>
            <a:r>
              <a:rPr sz="850" b="0" i="0">
                <a:solidFill>
                  <a:srgbClr val="FF8888"/>
                </a:solidFill>
              </a:rPr>
              <a:t>[Parse] Expected 201, got 200 → id := null</a:t>
            </a:r>
          </a:p>
        </p:txBody>
      </p:sp>
      <p:sp>
        <p:nvSpPr>
          <p:cNvPr id="17" name="TextBox 16"/>
          <p:cNvSpPr txBox="1"/>
          <p:nvPr/>
        </p:nvSpPr>
        <p:spPr>
          <a:xfrm>
            <a:off x="6126480" y="3282696"/>
            <a:ext cx="5669280" cy="246888"/>
          </a:xfrm>
          <a:prstGeom prst="rect">
            <a:avLst/>
          </a:prstGeom>
          <a:noFill/>
        </p:spPr>
        <p:txBody>
          <a:bodyPr wrap="square">
            <a:spAutoFit/>
          </a:bodyPr>
          <a:lstStyle/>
          <a:p>
            <a:pPr algn="l"/>
            <a:r>
              <a:rPr sz="850" b="0" i="0">
                <a:solidFill>
                  <a:srgbClr val="FFFFFF"/>
                </a:solidFill>
              </a:rPr>
              <a:t>[ASSIGN] _result0 := null</a:t>
            </a:r>
          </a:p>
        </p:txBody>
      </p:sp>
      <p:sp>
        <p:nvSpPr>
          <p:cNvPr id="18" name="TextBox 17"/>
          <p:cNvSpPr txBox="1"/>
          <p:nvPr/>
        </p:nvSpPr>
        <p:spPr>
          <a:xfrm>
            <a:off x="6126480" y="3529584"/>
            <a:ext cx="5669280" cy="246888"/>
          </a:xfrm>
          <a:prstGeom prst="rect">
            <a:avLst/>
          </a:prstGeom>
          <a:noFill/>
        </p:spPr>
        <p:txBody>
          <a:bodyPr wrap="square">
            <a:spAutoFit/>
          </a:bodyPr>
          <a:lstStyle/>
          <a:p>
            <a:pPr algn="l"/>
            <a:r>
              <a:rPr sz="850" b="0" i="0">
                <a:solidFill>
                  <a:srgbClr val="FFFFFF"/>
                </a:solidFill>
              </a:rPr>
              <a:t/>
            </a:r>
          </a:p>
        </p:txBody>
      </p:sp>
      <p:sp>
        <p:nvSpPr>
          <p:cNvPr id="19" name="TextBox 18"/>
          <p:cNvSpPr txBox="1"/>
          <p:nvPr/>
        </p:nvSpPr>
        <p:spPr>
          <a:xfrm>
            <a:off x="6126480" y="3776472"/>
            <a:ext cx="5669280" cy="246888"/>
          </a:xfrm>
          <a:prstGeom prst="rect">
            <a:avLst/>
          </a:prstGeom>
          <a:noFill/>
        </p:spPr>
        <p:txBody>
          <a:bodyPr wrap="square">
            <a:spAutoFit/>
          </a:bodyPr>
          <a:lstStyle/>
          <a:p>
            <a:pPr algn="l"/>
            <a:r>
              <a:rPr sz="850" b="0" i="0">
                <a:solidFill>
                  <a:srgbClr val="FFFFFF"/>
                </a:solidFill>
              </a:rPr>
              <a:t>[Rewrite] get_P() → fetch live Products DB</a:t>
            </a:r>
          </a:p>
        </p:txBody>
      </p:sp>
      <p:sp>
        <p:nvSpPr>
          <p:cNvPr id="20" name="TextBox 19"/>
          <p:cNvSpPr txBox="1"/>
          <p:nvPr/>
        </p:nvSpPr>
        <p:spPr>
          <a:xfrm>
            <a:off x="6126480" y="4023360"/>
            <a:ext cx="5669280" cy="246888"/>
          </a:xfrm>
          <a:prstGeom prst="rect">
            <a:avLst/>
          </a:prstGeom>
          <a:noFill/>
        </p:spPr>
        <p:txBody>
          <a:bodyPr wrap="square">
            <a:spAutoFit/>
          </a:bodyPr>
          <a:lstStyle/>
          <a:p>
            <a:pPr algn="l"/>
            <a:r>
              <a:rPr sz="850" b="0" i="0">
                <a:solidFill>
                  <a:srgbClr val="FF8888"/>
                </a:solidFill>
              </a:rPr>
              <a:t>[GetProductsFunc] null not in collection</a:t>
            </a:r>
          </a:p>
        </p:txBody>
      </p:sp>
      <p:sp>
        <p:nvSpPr>
          <p:cNvPr id="21" name="TextBox 20"/>
          <p:cNvSpPr txBox="1"/>
          <p:nvPr/>
        </p:nvSpPr>
        <p:spPr>
          <a:xfrm>
            <a:off x="6126480" y="4270248"/>
            <a:ext cx="5669280" cy="246888"/>
          </a:xfrm>
          <a:prstGeom prst="rect">
            <a:avLst/>
          </a:prstGeom>
          <a:noFill/>
        </p:spPr>
        <p:txBody>
          <a:bodyPr wrap="square">
            <a:spAutoFit/>
          </a:bodyPr>
          <a:lstStyle/>
          <a:p>
            <a:pPr algn="l"/>
            <a:r>
              <a:rPr sz="850" b="0" i="0">
                <a:solidFill>
                  <a:srgbClr val="FFFFFF"/>
                </a:solidFill>
              </a:rPr>
              <a:t/>
            </a:r>
          </a:p>
        </p:txBody>
      </p:sp>
      <p:sp>
        <p:nvSpPr>
          <p:cNvPr id="22" name="TextBox 21"/>
          <p:cNvSpPr txBox="1"/>
          <p:nvPr/>
        </p:nvSpPr>
        <p:spPr>
          <a:xfrm>
            <a:off x="6126480" y="4517136"/>
            <a:ext cx="5669280" cy="246888"/>
          </a:xfrm>
          <a:prstGeom prst="rect">
            <a:avLst/>
          </a:prstGeom>
          <a:noFill/>
        </p:spPr>
        <p:txBody>
          <a:bodyPr wrap="square">
            <a:spAutoFit/>
          </a:bodyPr>
          <a:lstStyle/>
          <a:p>
            <a:pPr algn="l"/>
            <a:r>
              <a:rPr sz="850" b="0" i="0">
                <a:solidFill>
                  <a:srgbClr val="FFFFFF"/>
                </a:solidFill>
              </a:rPr>
              <a:t>[ASSERT] in(null, dom(tmp_P_1))</a:t>
            </a:r>
          </a:p>
        </p:txBody>
      </p:sp>
      <p:sp>
        <p:nvSpPr>
          <p:cNvPr id="23" name="TextBox 22"/>
          <p:cNvSpPr txBox="1"/>
          <p:nvPr/>
        </p:nvSpPr>
        <p:spPr>
          <a:xfrm>
            <a:off x="6126480" y="4764024"/>
            <a:ext cx="5669280" cy="246888"/>
          </a:xfrm>
          <a:prstGeom prst="rect">
            <a:avLst/>
          </a:prstGeom>
          <a:noFill/>
        </p:spPr>
        <p:txBody>
          <a:bodyPr wrap="square">
            <a:spAutoFit/>
          </a:bodyPr>
          <a:lstStyle/>
          <a:p>
            <a:pPr algn="l"/>
            <a:r>
              <a:rPr sz="850" b="0" i="0">
                <a:solidFill>
                  <a:srgbClr val="FF4444"/>
                </a:solidFill>
              </a:rPr>
              <a:t>[ASSERT] Result: false</a:t>
            </a:r>
          </a:p>
        </p:txBody>
      </p:sp>
      <p:sp>
        <p:nvSpPr>
          <p:cNvPr id="24" name="TextBox 23"/>
          <p:cNvSpPr txBox="1"/>
          <p:nvPr/>
        </p:nvSpPr>
        <p:spPr>
          <a:xfrm>
            <a:off x="6126480" y="5010912"/>
            <a:ext cx="5669280" cy="246888"/>
          </a:xfrm>
          <a:prstGeom prst="rect">
            <a:avLst/>
          </a:prstGeom>
          <a:noFill/>
        </p:spPr>
        <p:txBody>
          <a:bodyPr wrap="square">
            <a:spAutoFit/>
          </a:bodyPr>
          <a:lstStyle/>
          <a:p>
            <a:pPr algn="l"/>
            <a:r>
              <a:rPr sz="850" b="0" i="0">
                <a:solidFill>
                  <a:srgbClr val="FF4444"/>
                </a:solidFill>
              </a:rPr>
              <a:t>[ASSERT] ✗ FAILED → BUG DETECTED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Comparative Results — Both Backends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097280"/>
          <a:ext cx="11612877" cy="1463040"/>
        </p:xfrm>
        <a:graphic>
          <a:graphicData uri="http://schemas.openxmlformats.org/drawingml/2006/table">
            <a:tbl>
              <a:tblPr firstRow="1" bandRow="1">
                <a:tableStyleId>{5C22544A-7EE6-4342-B048-85BDC9FD1C3A}</a:tableStyleId>
              </a:tblPr>
              <a:tblGrid>
                <a:gridCol w="1858060"/>
                <a:gridCol w="3716121"/>
                <a:gridCol w="2322576"/>
                <a:gridCol w="1858060"/>
                <a:gridCol w="1858060"/>
              </a:tblGrid>
              <a:tr h="365760">
                <a:tc>
                  <a:txBody>
                    <a:bodyPr/>
                    <a:lstStyle/>
                    <a:p>
                      <a:pPr algn="ctr"/>
                      <a:r>
                        <a:rPr b="1" sz="1000">
                          <a:solidFill>
                            <a:srgbClr val="FFFFFF"/>
                          </a:solidFill>
                        </a:rPr>
                        <a:t>Backend</a:t>
                      </a:r>
                    </a:p>
                  </a:txBody>
                  <a:tcPr>
                    <a:solidFill>
                      <a:srgbClr val="1A237E"/>
                    </a:solidFill>
                  </a:tcPr>
                </a:tc>
                <a:tc>
                  <a:txBody>
                    <a:bodyPr/>
                    <a:lstStyle/>
                    <a:p>
                      <a:pPr algn="ctr"/>
                      <a:r>
                        <a:rPr b="1" sz="1000">
                          <a:solidFill>
                            <a:srgbClr val="FFFFFF"/>
                          </a:solidFill>
                        </a:rPr>
                        <a:t>Technology</a:t>
                      </a:r>
                    </a:p>
                  </a:txBody>
                  <a:tcPr>
                    <a:solidFill>
                      <a:srgbClr val="1A237E"/>
                    </a:solidFill>
                  </a:tcPr>
                </a:tc>
                <a:tc>
                  <a:txBody>
                    <a:bodyPr/>
                    <a:lstStyle/>
                    <a:p>
                      <a:pPr algn="ctr"/>
                      <a:r>
                        <a:rPr b="1" sz="1000">
                          <a:solidFill>
                            <a:srgbClr val="FFFFFF"/>
                          </a:solidFill>
                        </a:rPr>
                        <a:t>Bugs Injected</a:t>
                      </a:r>
                    </a:p>
                  </a:txBody>
                  <a:tcPr>
                    <a:solidFill>
                      <a:srgbClr val="1A237E"/>
                    </a:solidFill>
                  </a:tcPr>
                </a:tc>
                <a:tc>
                  <a:txBody>
                    <a:bodyPr/>
                    <a:lstStyle/>
                    <a:p>
                      <a:pPr algn="ctr"/>
                      <a:r>
                        <a:rPr b="1" sz="1000">
                          <a:solidFill>
                            <a:srgbClr val="FFFFFF"/>
                          </a:solidFill>
                        </a:rPr>
                        <a:t>Detected</a:t>
                      </a:r>
                    </a:p>
                  </a:txBody>
                  <a:tcPr>
                    <a:solidFill>
                      <a:srgbClr val="1A237E"/>
                    </a:solidFill>
                  </a:tcPr>
                </a:tc>
                <a:tc>
                  <a:txBody>
                    <a:bodyPr/>
                    <a:lstStyle/>
                    <a:p>
                      <a:pPr algn="ctr"/>
                      <a:r>
                        <a:rPr b="1" sz="1000">
                          <a:solidFill>
                            <a:srgbClr val="FFFFFF"/>
                          </a:solidFill>
                        </a:rPr>
                        <a:t>Score</a:t>
                      </a:r>
                    </a:p>
                  </a:txBody>
                  <a:tcPr>
                    <a:solidFill>
                      <a:srgbClr val="1A237E"/>
                    </a:solidFill>
                  </a:tcPr>
                </a:tc>
              </a:tr>
              <a:tr h="365760">
                <a:tc>
                  <a:txBody>
                    <a:bodyPr/>
                    <a:lstStyle/>
                    <a:p>
                      <a:pPr algn="ctr"/>
                      <a:r>
                        <a:rPr sz="900"/>
                        <a:t>Restaurant</a:t>
                      </a:r>
                    </a:p>
                  </a:txBody>
                  <a:tcPr>
                    <a:solidFill>
                      <a:srgbClr val="E8EAF6"/>
                    </a:solidFill>
                  </a:tcPr>
                </a:tc>
                <a:tc>
                  <a:txBody>
                    <a:bodyPr/>
                    <a:lstStyle/>
                    <a:p>
                      <a:pPr algn="l"/>
                      <a:r>
                        <a:rPr sz="900"/>
                        <a:t>Node.js / Express + MongoDB</a:t>
                      </a:r>
                    </a:p>
                  </a:txBody>
                  <a:tcPr>
                    <a:solidFill>
                      <a:srgbClr val="E8EAF6"/>
                    </a:solidFill>
                  </a:tcPr>
                </a:tc>
                <a:tc>
                  <a:txBody>
                    <a:bodyPr/>
                    <a:lstStyle/>
                    <a:p>
                      <a:pPr algn="l"/>
                      <a:r>
                        <a:rPr sz="900"/>
                        <a:t>8</a:t>
                      </a:r>
                    </a:p>
                  </a:txBody>
                  <a:tcPr>
                    <a:solidFill>
                      <a:srgbClr val="E8EAF6"/>
                    </a:solidFill>
                  </a:tcPr>
                </a:tc>
                <a:tc>
                  <a:txBody>
                    <a:bodyPr/>
                    <a:lstStyle/>
                    <a:p>
                      <a:pPr algn="l"/>
                      <a:r>
                        <a:rPr sz="900"/>
                        <a:t>8</a:t>
                      </a:r>
                    </a:p>
                  </a:txBody>
                  <a:tcPr>
                    <a:solidFill>
                      <a:srgbClr val="E8EAF6"/>
                    </a:solidFill>
                  </a:tcPr>
                </a:tc>
                <a:tc>
                  <a:txBody>
                    <a:bodyPr/>
                    <a:lstStyle/>
                    <a:p>
                      <a:pPr algn="ctr"/>
                      <a:r>
                        <a:rPr sz="900"/>
                        <a:t>100%</a:t>
                      </a:r>
                    </a:p>
                  </a:txBody>
                  <a:tcPr>
                    <a:solidFill>
                      <a:srgbClr val="E8EAF6"/>
                    </a:solidFill>
                  </a:tcPr>
                </a:tc>
              </a:tr>
              <a:tr h="365760">
                <a:tc>
                  <a:txBody>
                    <a:bodyPr/>
                    <a:lstStyle/>
                    <a:p>
                      <a:pPr algn="ctr"/>
                      <a:r>
                        <a:rPr sz="900"/>
                        <a:t>E-Commerce</a:t>
                      </a:r>
                    </a:p>
                  </a:txBody>
                  <a:tcPr>
                    <a:solidFill>
                      <a:srgbClr val="FFFFFF"/>
                    </a:solidFill>
                  </a:tcPr>
                </a:tc>
                <a:tc>
                  <a:txBody>
                    <a:bodyPr/>
                    <a:lstStyle/>
                    <a:p>
                      <a:pPr algn="l"/>
                      <a:r>
                        <a:rPr sz="900"/>
                        <a:t>Node.js / Express + MongoDB</a:t>
                      </a:r>
                    </a:p>
                  </a:txBody>
                  <a:tcPr>
                    <a:solidFill>
                      <a:srgbClr val="FFFFFF"/>
                    </a:solidFill>
                  </a:tcPr>
                </a:tc>
                <a:tc>
                  <a:txBody>
                    <a:bodyPr/>
                    <a:lstStyle/>
                    <a:p>
                      <a:pPr algn="l"/>
                      <a:r>
                        <a:rPr sz="900"/>
                        <a:t>8</a:t>
                      </a:r>
                    </a:p>
                  </a:txBody>
                  <a:tcPr>
                    <a:solidFill>
                      <a:srgbClr val="FFFFFF"/>
                    </a:solidFill>
                  </a:tcPr>
                </a:tc>
                <a:tc>
                  <a:txBody>
                    <a:bodyPr/>
                    <a:lstStyle/>
                    <a:p>
                      <a:pPr algn="l"/>
                      <a:r>
                        <a:rPr sz="900"/>
                        <a:t>8</a:t>
                      </a:r>
                    </a:p>
                  </a:txBody>
                  <a:tcPr>
                    <a:solidFill>
                      <a:srgbClr val="FFFFFF"/>
                    </a:solidFill>
                  </a:tcPr>
                </a:tc>
                <a:tc>
                  <a:txBody>
                    <a:bodyPr/>
                    <a:lstStyle/>
                    <a:p>
                      <a:pPr algn="ctr"/>
                      <a:r>
                        <a:rPr sz="900"/>
                        <a:t>100%</a:t>
                      </a:r>
                    </a:p>
                  </a:txBody>
                  <a:tcPr>
                    <a:solidFill>
                      <a:srgbClr val="FFFFFF"/>
                    </a:solidFill>
                  </a:tcPr>
                </a:tc>
              </a:tr>
              <a:tr h="365760">
                <a:tc>
                  <a:txBody>
                    <a:bodyPr/>
                    <a:lstStyle/>
                    <a:p>
                      <a:pPr algn="ctr"/>
                      <a:r>
                        <a:rPr sz="900"/>
                        <a:t>TOTAL</a:t>
                      </a:r>
                    </a:p>
                  </a:txBody>
                  <a:tcPr>
                    <a:solidFill>
                      <a:srgbClr val="E8EAF6"/>
                    </a:solidFill>
                  </a:tcPr>
                </a:tc>
                <a:tc>
                  <a:txBody>
                    <a:bodyPr/>
                    <a:lstStyle/>
                    <a:p>
                      <a:pPr algn="l"/>
                      <a:r>
                        <a:rPr sz="900"/>
                        <a:t>—</a:t>
                      </a:r>
                    </a:p>
                  </a:txBody>
                  <a:tcPr>
                    <a:solidFill>
                      <a:srgbClr val="E8EAF6"/>
                    </a:solidFill>
                  </a:tcPr>
                </a:tc>
                <a:tc>
                  <a:txBody>
                    <a:bodyPr/>
                    <a:lstStyle/>
                    <a:p>
                      <a:pPr algn="l"/>
                      <a:r>
                        <a:rPr sz="900"/>
                        <a:t>16</a:t>
                      </a:r>
                    </a:p>
                  </a:txBody>
                  <a:tcPr>
                    <a:solidFill>
                      <a:srgbClr val="E8EAF6"/>
                    </a:solidFill>
                  </a:tcPr>
                </a:tc>
                <a:tc>
                  <a:txBody>
                    <a:bodyPr/>
                    <a:lstStyle/>
                    <a:p>
                      <a:pPr algn="l"/>
                      <a:r>
                        <a:rPr sz="900"/>
                        <a:t>16</a:t>
                      </a:r>
                    </a:p>
                  </a:txBody>
                  <a:tcPr>
                    <a:solidFill>
                      <a:srgbClr val="E8EAF6"/>
                    </a:solidFill>
                  </a:tcPr>
                </a:tc>
                <a:tc>
                  <a:txBody>
                    <a:bodyPr/>
                    <a:lstStyle/>
                    <a:p>
                      <a:pPr algn="ctr"/>
                      <a:r>
                        <a:rPr sz="900"/>
                        <a:t>100%</a:t>
                      </a:r>
                    </a:p>
                  </a:txBody>
                  <a:tcPr>
                    <a:solidFill>
                      <a:srgbClr val="E8EAF6"/>
                    </a:solidFill>
                  </a:tcPr>
                </a:tc>
              </a:tr>
            </a:tbl>
          </a:graphicData>
        </a:graphic>
      </p:graphicFrame>
      <p:sp>
        <p:nvSpPr>
          <p:cNvPr id="6" name="TextBox 5"/>
          <p:cNvSpPr txBox="1"/>
          <p:nvPr/>
        </p:nvSpPr>
        <p:spPr>
          <a:xfrm>
            <a:off x="274320" y="2743200"/>
            <a:ext cx="5943600" cy="320040"/>
          </a:xfrm>
          <a:prstGeom prst="rect">
            <a:avLst/>
          </a:prstGeom>
          <a:noFill/>
        </p:spPr>
        <p:txBody>
          <a:bodyPr wrap="square">
            <a:spAutoFit/>
          </a:bodyPr>
          <a:lstStyle/>
          <a:p>
            <a:pPr algn="l"/>
            <a:r>
              <a:rPr sz="1200" b="1" i="0">
                <a:solidFill>
                  <a:srgbClr val="1A237E"/>
                </a:solidFill>
              </a:rPr>
              <a:t>Detection by Bug Type:</a:t>
            </a:r>
          </a:p>
        </p:txBody>
      </p:sp>
      <p:graphicFrame>
        <p:nvGraphicFramePr>
          <p:cNvPr id="7" name="Table 6"/>
          <p:cNvGraphicFramePr>
            <a:graphicFrameLocks noGrp="1"/>
          </p:cNvGraphicFramePr>
          <p:nvPr/>
        </p:nvGraphicFramePr>
        <p:xfrm>
          <a:off x="274320" y="3063240"/>
          <a:ext cx="6857998" cy="2743200"/>
        </p:xfrm>
        <a:graphic>
          <a:graphicData uri="http://schemas.openxmlformats.org/drawingml/2006/table">
            <a:tbl>
              <a:tblPr firstRow="1" bandRow="1">
                <a:tableStyleId>{5C22544A-7EE6-4342-B048-85BDC9FD1C3A}</a:tableStyleId>
              </a:tblPr>
              <a:tblGrid>
                <a:gridCol w="2165684"/>
                <a:gridCol w="1804736"/>
                <a:gridCol w="2887578"/>
              </a:tblGrid>
              <a:tr h="304800">
                <a:tc>
                  <a:txBody>
                    <a:bodyPr/>
                    <a:lstStyle/>
                    <a:p>
                      <a:pPr algn="ctr"/>
                      <a:r>
                        <a:rPr b="1" sz="1000">
                          <a:solidFill>
                            <a:srgbClr val="FFFFFF"/>
                          </a:solidFill>
                        </a:rPr>
                        <a:t>Bug Type</a:t>
                      </a:r>
                    </a:p>
                  </a:txBody>
                  <a:tcPr>
                    <a:solidFill>
                      <a:srgbClr val="1A237E"/>
                    </a:solidFill>
                  </a:tcPr>
                </a:tc>
                <a:tc>
                  <a:txBody>
                    <a:bodyPr/>
                    <a:lstStyle/>
                    <a:p>
                      <a:pPr algn="ctr"/>
                      <a:r>
                        <a:rPr b="1" sz="1000">
                          <a:solidFill>
                            <a:srgbClr val="FFFFFF"/>
                          </a:solidFill>
                        </a:rPr>
                        <a:t>Det / Total</a:t>
                      </a:r>
                    </a:p>
                  </a:txBody>
                  <a:tcPr>
                    <a:solidFill>
                      <a:srgbClr val="1A237E"/>
                    </a:solidFill>
                  </a:tcPr>
                </a:tc>
                <a:tc>
                  <a:txBody>
                    <a:bodyPr/>
                    <a:lstStyle/>
                    <a:p>
                      <a:pPr algn="ctr"/>
                      <a:r>
                        <a:rPr b="1" sz="1000">
                          <a:solidFill>
                            <a:srgbClr val="FFFFFF"/>
                          </a:solidFill>
                        </a:rPr>
                        <a:t>Notes</a:t>
                      </a:r>
                    </a:p>
                  </a:txBody>
                  <a:tcPr>
                    <a:solidFill>
                      <a:srgbClr val="1A237E"/>
                    </a:solidFill>
                  </a:tcPr>
                </a:tc>
              </a:tr>
              <a:tr h="304800">
                <a:tc>
                  <a:txBody>
                    <a:bodyPr/>
                    <a:lstStyle/>
                    <a:p>
                      <a:pPr algn="ctr"/>
                      <a:r>
                        <a:rPr sz="900"/>
                        <a:t>Missing side-effect</a:t>
                      </a:r>
                    </a:p>
                  </a:txBody>
                  <a:tcPr>
                    <a:solidFill>
                      <a:srgbClr val="E8EAF6"/>
                    </a:solidFill>
                  </a:tcPr>
                </a:tc>
                <a:tc>
                  <a:txBody>
                    <a:bodyPr/>
                    <a:lstStyle/>
                    <a:p>
                      <a:pPr algn="l"/>
                      <a:r>
                        <a:rPr sz="900"/>
                        <a:t>3 / 3  (100%)</a:t>
                      </a:r>
                    </a:p>
                  </a:txBody>
                  <a:tcPr>
                    <a:solidFill>
                      <a:srgbClr val="E8EAF6"/>
                    </a:solidFill>
                  </a:tcPr>
                </a:tc>
                <a:tc>
                  <a:txBody>
                    <a:bodyPr/>
                    <a:lstStyle/>
                    <a:p>
                      <a:pPr algn="l"/>
                      <a:r>
                        <a:rPr sz="900"/>
                        <a:t>Cart clear, record delete — core TestGen strength</a:t>
                      </a:r>
                    </a:p>
                  </a:txBody>
                  <a:tcPr>
                    <a:solidFill>
                      <a:srgbClr val="E8EAF6"/>
                    </a:solidFill>
                  </a:tcPr>
                </a:tc>
              </a:tr>
              <a:tr h="304800">
                <a:tc>
                  <a:txBody>
                    <a:bodyPr/>
                    <a:lstStyle/>
                    <a:p>
                      <a:pPr algn="ctr"/>
                      <a:r>
                        <a:rPr sz="900"/>
                        <a:t>Save without persist</a:t>
                      </a:r>
                    </a:p>
                  </a:txBody>
                  <a:tcPr>
                    <a:solidFill>
                      <a:srgbClr val="FFFFFF"/>
                    </a:solidFill>
                  </a:tcPr>
                </a:tc>
                <a:tc>
                  <a:txBody>
                    <a:bodyPr/>
                    <a:lstStyle/>
                    <a:p>
                      <a:pPr algn="l"/>
                      <a:r>
                        <a:rPr sz="900"/>
                        <a:t>2 / 2  (100%)</a:t>
                      </a:r>
                    </a:p>
                  </a:txBody>
                  <a:tcPr>
                    <a:solidFill>
                      <a:srgbClr val="FFFFFF"/>
                    </a:solidFill>
                  </a:tcPr>
                </a:tc>
                <a:tc>
                  <a:txBody>
                    <a:bodyPr/>
                    <a:lstStyle/>
                    <a:p>
                      <a:pPr algn="l"/>
                      <a:r>
                        <a:rPr sz="900"/>
                        <a:t>Caught at depth=1 (null/0 id not in DB)</a:t>
                      </a:r>
                    </a:p>
                  </a:txBody>
                  <a:tcPr>
                    <a:solidFill>
                      <a:srgbClr val="FFFFFF"/>
                    </a:solidFill>
                  </a:tcPr>
                </a:tc>
              </a:tr>
              <a:tr h="304800">
                <a:tc>
                  <a:txBody>
                    <a:bodyPr/>
                    <a:lstStyle/>
                    <a:p>
                      <a:pPr algn="ctr"/>
                      <a:r>
                        <a:rPr sz="900"/>
                        <a:t>Wrong calculation</a:t>
                      </a:r>
                    </a:p>
                  </a:txBody>
                  <a:tcPr>
                    <a:solidFill>
                      <a:srgbClr val="E8EAF6"/>
                    </a:solidFill>
                  </a:tcPr>
                </a:tc>
                <a:tc>
                  <a:txBody>
                    <a:bodyPr/>
                    <a:lstStyle/>
                    <a:p>
                      <a:pPr algn="l"/>
                      <a:r>
                        <a:rPr sz="900"/>
                        <a:t>3 / 3  (100%)</a:t>
                      </a:r>
                    </a:p>
                  </a:txBody>
                  <a:tcPr>
                    <a:solidFill>
                      <a:srgbClr val="E8EAF6"/>
                    </a:solidFill>
                  </a:tcPr>
                </a:tc>
                <a:tc>
                  <a:txBody>
                    <a:bodyPr/>
                    <a:lstStyle/>
                    <a:p>
                      <a:pPr algn="l"/>
                      <a:r>
                        <a:rPr sz="900"/>
                        <a:t>Price/qty assertions catch numeric errors</a:t>
                      </a:r>
                    </a:p>
                  </a:txBody>
                  <a:tcPr>
                    <a:solidFill>
                      <a:srgbClr val="E8EAF6"/>
                    </a:solidFill>
                  </a:tcPr>
                </a:tc>
              </a:tr>
              <a:tr h="304800">
                <a:tc>
                  <a:txBody>
                    <a:bodyPr/>
                    <a:lstStyle/>
                    <a:p>
                      <a:pPr algn="ctr"/>
                      <a:r>
                        <a:rPr sz="900"/>
                        <a:t>Wrong status code</a:t>
                      </a:r>
                    </a:p>
                  </a:txBody>
                  <a:tcPr>
                    <a:solidFill>
                      <a:srgbClr val="FFFFFF"/>
                    </a:solidFill>
                  </a:tcPr>
                </a:tc>
                <a:tc>
                  <a:txBody>
                    <a:bodyPr/>
                    <a:lstStyle/>
                    <a:p>
                      <a:pPr algn="l"/>
                      <a:r>
                        <a:rPr sz="900"/>
                        <a:t>2 / 2  (100%)</a:t>
                      </a:r>
                    </a:p>
                  </a:txBody>
                  <a:tcPr>
                    <a:solidFill>
                      <a:srgbClr val="FFFFFF"/>
                    </a:solidFill>
                  </a:tcPr>
                </a:tc>
                <a:tc>
                  <a:txBody>
                    <a:bodyPr/>
                    <a:lstStyle/>
                    <a:p>
                      <a:pPr algn="l"/>
                      <a:r>
                        <a:rPr sz="900"/>
                        <a:t>Factory checks expected HTTP code per endpoint</a:t>
                      </a:r>
                    </a:p>
                  </a:txBody>
                  <a:tcPr>
                    <a:solidFill>
                      <a:srgbClr val="FFFFFF"/>
                    </a:solidFill>
                  </a:tcPr>
                </a:tc>
              </a:tr>
              <a:tr h="304800">
                <a:tc>
                  <a:txBody>
                    <a:bodyPr/>
                    <a:lstStyle/>
                    <a:p>
                      <a:pPr algn="ctr"/>
                      <a:r>
                        <a:rPr sz="900"/>
                        <a:t>Wrong field value</a:t>
                      </a:r>
                    </a:p>
                  </a:txBody>
                  <a:tcPr>
                    <a:solidFill>
                      <a:srgbClr val="E8EAF6"/>
                    </a:solidFill>
                  </a:tcPr>
                </a:tc>
                <a:tc>
                  <a:txBody>
                    <a:bodyPr/>
                    <a:lstStyle/>
                    <a:p>
                      <a:pPr algn="l"/>
                      <a:r>
                        <a:rPr sz="900"/>
                        <a:t>2 / 2  (100%)</a:t>
                      </a:r>
                    </a:p>
                  </a:txBody>
                  <a:tcPr>
                    <a:solidFill>
                      <a:srgbClr val="E8EAF6"/>
                    </a:solidFill>
                  </a:tcPr>
                </a:tc>
                <a:tc>
                  <a:txBody>
                    <a:bodyPr/>
                    <a:lstStyle/>
                    <a:p>
                      <a:pPr algn="l"/>
                      <a:r>
                        <a:rPr sz="900"/>
                        <a:t>Spec field assertions catch wrong values</a:t>
                      </a:r>
                    </a:p>
                  </a:txBody>
                  <a:tcPr>
                    <a:solidFill>
                      <a:srgbClr val="E8EAF6"/>
                    </a:solidFill>
                  </a:tcPr>
                </a:tc>
              </a:tr>
              <a:tr h="304800">
                <a:tc>
                  <a:txBody>
                    <a:bodyPr/>
                    <a:lstStyle/>
                    <a:p>
                      <a:pPr algn="ctr"/>
                      <a:r>
                        <a:rPr sz="900"/>
                        <a:t>Wrong conditional</a:t>
                      </a:r>
                    </a:p>
                  </a:txBody>
                  <a:tcPr>
                    <a:solidFill>
                      <a:srgbClr val="FFFFFF"/>
                    </a:solidFill>
                  </a:tcPr>
                </a:tc>
                <a:tc>
                  <a:txBody>
                    <a:bodyPr/>
                    <a:lstStyle/>
                    <a:p>
                      <a:pPr algn="l"/>
                      <a:r>
                        <a:rPr sz="900"/>
                        <a:t>1 / 1  (100%)</a:t>
                      </a:r>
                    </a:p>
                  </a:txBody>
                  <a:tcPr>
                    <a:solidFill>
                      <a:srgbClr val="FFFFFF"/>
                    </a:solidFill>
                  </a:tcPr>
                </a:tc>
                <a:tc>
                  <a:txBody>
                    <a:bodyPr/>
                    <a:lstStyle/>
                    <a:p>
                      <a:pPr algn="l"/>
                      <a:r>
                        <a:rPr sz="900"/>
                        <a:t>Guard inversion → wrong HTTP → fails assert</a:t>
                      </a:r>
                    </a:p>
                  </a:txBody>
                  <a:tcPr>
                    <a:solidFill>
                      <a:srgbClr val="FFFFFF"/>
                    </a:solidFill>
                  </a:tcPr>
                </a:tc>
              </a:tr>
              <a:tr h="304800">
                <a:tc>
                  <a:txBody>
                    <a:bodyPr/>
                    <a:lstStyle/>
                    <a:p>
                      <a:pPr algn="ctr"/>
                      <a:r>
                        <a:rPr sz="900"/>
                        <a:t>Wrong guard</a:t>
                      </a:r>
                    </a:p>
                  </a:txBody>
                  <a:tcPr>
                    <a:solidFill>
                      <a:srgbClr val="E8EAF6"/>
                    </a:solidFill>
                  </a:tcPr>
                </a:tc>
                <a:tc>
                  <a:txBody>
                    <a:bodyPr/>
                    <a:lstStyle/>
                    <a:p>
                      <a:pPr algn="l"/>
                      <a:r>
                        <a:rPr sz="900"/>
                        <a:t>2 / 2  (100%)</a:t>
                      </a:r>
                    </a:p>
                  </a:txBody>
                  <a:tcPr>
                    <a:solidFill>
                      <a:srgbClr val="E8EAF6"/>
                    </a:solidFill>
                  </a:tcPr>
                </a:tc>
                <a:tc>
                  <a:txBody>
                    <a:bodyPr/>
                    <a:lstStyle/>
                    <a:p>
                      <a:pPr algn="l"/>
                      <a:r>
                        <a:rPr sz="900"/>
                        <a:t>Boundary check bugs caught by value assertions</a:t>
                      </a:r>
                    </a:p>
                  </a:txBody>
                  <a:tcPr>
                    <a:solidFill>
                      <a:srgbClr val="E8EAF6"/>
                    </a:solidFill>
                  </a:tcPr>
                </a:tc>
              </a:tr>
              <a:tr h="304800">
                <a:tc>
                  <a:txBody>
                    <a:bodyPr/>
                    <a:lstStyle/>
                    <a:p>
                      <a:pPr algn="ctr"/>
                      <a:r>
                        <a:rPr sz="900"/>
                        <a:t>Auth bypass</a:t>
                      </a:r>
                    </a:p>
                  </a:txBody>
                  <a:tcPr>
                    <a:solidFill>
                      <a:srgbClr val="FFFFFF"/>
                    </a:solidFill>
                  </a:tcPr>
                </a:tc>
                <a:tc>
                  <a:txBody>
                    <a:bodyPr/>
                    <a:lstStyle/>
                    <a:p>
                      <a:pPr algn="l"/>
                      <a:r>
                        <a:rPr sz="900"/>
                        <a:t>1 / 1  (100%)</a:t>
                      </a:r>
                    </a:p>
                  </a:txBody>
                  <a:tcPr>
                    <a:solidFill>
                      <a:srgbClr val="FFFFFF"/>
                    </a:solidFill>
                  </a:tcPr>
                </a:tc>
                <a:tc>
                  <a:txBody>
                    <a:bodyPr/>
                    <a:lstStyle/>
                    <a:p>
                      <a:pPr algn="l"/>
                      <a:r>
                        <a:rPr sz="900"/>
                        <a:t>Role ownership postcondition catches bypass</a:t>
                      </a:r>
                    </a:p>
                  </a:txBody>
                  <a:tcPr>
                    <a:solidFill>
                      <a:srgbClr val="FFFFFF"/>
                    </a:solidFill>
                  </a:tcPr>
                </a:tc>
              </a:tr>
            </a:tbl>
          </a:graphicData>
        </a:graphic>
      </p:graphicFrame>
      <p:sp>
        <p:nvSpPr>
          <p:cNvPr id="8" name="TextBox 7"/>
          <p:cNvSpPr txBox="1"/>
          <p:nvPr/>
        </p:nvSpPr>
        <p:spPr>
          <a:xfrm>
            <a:off x="7498079" y="2743200"/>
            <a:ext cx="4114800" cy="320040"/>
          </a:xfrm>
          <a:prstGeom prst="rect">
            <a:avLst/>
          </a:prstGeom>
          <a:noFill/>
        </p:spPr>
        <p:txBody>
          <a:bodyPr wrap="square">
            <a:spAutoFit/>
          </a:bodyPr>
          <a:lstStyle/>
          <a:p>
            <a:pPr algn="l"/>
            <a:r>
              <a:rPr sz="1200" b="1" i="0">
                <a:solidFill>
                  <a:srgbClr val="1A237E"/>
                </a:solidFill>
              </a:rPr>
              <a:t>Depth Distribution:</a:t>
            </a:r>
          </a:p>
        </p:txBody>
      </p:sp>
      <p:graphicFrame>
        <p:nvGraphicFramePr>
          <p:cNvPr id="9" name="Table 8"/>
          <p:cNvGraphicFramePr>
            <a:graphicFrameLocks noGrp="1"/>
          </p:cNvGraphicFramePr>
          <p:nvPr/>
        </p:nvGraphicFramePr>
        <p:xfrm>
          <a:off x="7498079" y="3063240"/>
          <a:ext cx="4389120" cy="1645920"/>
        </p:xfrm>
        <a:graphic>
          <a:graphicData uri="http://schemas.openxmlformats.org/drawingml/2006/table">
            <a:tbl>
              <a:tblPr firstRow="1" bandRow="1">
                <a:tableStyleId>{5C22544A-7EE6-4342-B048-85BDC9FD1C3A}</a:tableStyleId>
              </a:tblPr>
              <a:tblGrid>
                <a:gridCol w="877824"/>
                <a:gridCol w="877824"/>
                <a:gridCol w="2633472"/>
              </a:tblGrid>
              <a:tr h="411480">
                <a:tc>
                  <a:txBody>
                    <a:bodyPr/>
                    <a:lstStyle/>
                    <a:p>
                      <a:pPr algn="ctr"/>
                      <a:r>
                        <a:rPr b="1" sz="1000">
                          <a:solidFill>
                            <a:srgbClr val="FFFFFF"/>
                          </a:solidFill>
                        </a:rPr>
                        <a:t>Depth</a:t>
                      </a:r>
                    </a:p>
                  </a:txBody>
                  <a:tcPr>
                    <a:solidFill>
                      <a:srgbClr val="1A237E"/>
                    </a:solidFill>
                  </a:tcPr>
                </a:tc>
                <a:tc>
                  <a:txBody>
                    <a:bodyPr/>
                    <a:lstStyle/>
                    <a:p>
                      <a:pPr algn="ctr"/>
                      <a:r>
                        <a:rPr b="1" sz="1000">
                          <a:solidFill>
                            <a:srgbClr val="FFFFFF"/>
                          </a:solidFill>
                        </a:rPr>
                        <a:t>Count</a:t>
                      </a:r>
                    </a:p>
                  </a:txBody>
                  <a:tcPr>
                    <a:solidFill>
                      <a:srgbClr val="1A237E"/>
                    </a:solidFill>
                  </a:tcPr>
                </a:tc>
                <a:tc>
                  <a:txBody>
                    <a:bodyPr/>
                    <a:lstStyle/>
                    <a:p>
                      <a:pPr algn="ctr"/>
                      <a:r>
                        <a:rPr b="1" sz="1000">
                          <a:solidFill>
                            <a:srgbClr val="FFFFFF"/>
                          </a:solidFill>
                        </a:rPr>
                        <a:t>Example Bugs</a:t>
                      </a:r>
                    </a:p>
                  </a:txBody>
                  <a:tcPr>
                    <a:solidFill>
                      <a:srgbClr val="1A237E"/>
                    </a:solidFill>
                  </a:tcPr>
                </a:tc>
              </a:tr>
              <a:tr h="411480">
                <a:tc>
                  <a:txBody>
                    <a:bodyPr/>
                    <a:lstStyle/>
                    <a:p>
                      <a:pPr algn="ctr"/>
                      <a:r>
                        <a:rPr sz="900"/>
                        <a:t>1</a:t>
                      </a:r>
                    </a:p>
                  </a:txBody>
                  <a:tcPr>
                    <a:solidFill>
                      <a:srgbClr val="E8EAF6"/>
                    </a:solidFill>
                  </a:tcPr>
                </a:tc>
                <a:tc>
                  <a:txBody>
                    <a:bodyPr/>
                    <a:lstStyle/>
                    <a:p>
                      <a:pPr algn="l"/>
                      <a:r>
                        <a:rPr sz="900"/>
                        <a:t>5</a:t>
                      </a:r>
                    </a:p>
                  </a:txBody>
                  <a:tcPr>
                    <a:solidFill>
                      <a:srgbClr val="E8EAF6"/>
                    </a:solidFill>
                  </a:tcPr>
                </a:tc>
                <a:tc>
                  <a:txBody>
                    <a:bodyPr/>
                    <a:lstStyle/>
                    <a:p>
                      <a:pPr algn="l"/>
                      <a:r>
                        <a:rPr sz="900"/>
                        <a:t>RB1, RB3, RB8, EB1, EB2</a:t>
                      </a:r>
                    </a:p>
                  </a:txBody>
                  <a:tcPr>
                    <a:solidFill>
                      <a:srgbClr val="E8EAF6"/>
                    </a:solidFill>
                  </a:tcPr>
                </a:tc>
              </a:tr>
              <a:tr h="411480">
                <a:tc>
                  <a:txBody>
                    <a:bodyPr/>
                    <a:lstStyle/>
                    <a:p>
                      <a:pPr algn="ctr"/>
                      <a:r>
                        <a:rPr sz="900"/>
                        <a:t>2</a:t>
                      </a:r>
                    </a:p>
                  </a:txBody>
                  <a:tcPr>
                    <a:solidFill>
                      <a:srgbClr val="FFFFFF"/>
                    </a:solidFill>
                  </a:tcPr>
                </a:tc>
                <a:tc>
                  <a:txBody>
                    <a:bodyPr/>
                    <a:lstStyle/>
                    <a:p>
                      <a:pPr algn="l"/>
                      <a:r>
                        <a:rPr sz="900"/>
                        <a:t>10</a:t>
                      </a:r>
                    </a:p>
                  </a:txBody>
                  <a:tcPr>
                    <a:solidFill>
                      <a:srgbClr val="FFFFFF"/>
                    </a:solidFill>
                  </a:tcPr>
                </a:tc>
                <a:tc>
                  <a:txBody>
                    <a:bodyPr/>
                    <a:lstStyle/>
                    <a:p>
                      <a:pPr algn="l"/>
                      <a:r>
                        <a:rPr sz="900"/>
                        <a:t>RB2, RB5–RB7, EB3–EB8</a:t>
                      </a:r>
                    </a:p>
                  </a:txBody>
                  <a:tcPr>
                    <a:solidFill>
                      <a:srgbClr val="FFFFFF"/>
                    </a:solidFill>
                  </a:tcPr>
                </a:tc>
              </a:tr>
              <a:tr h="411480">
                <a:tc>
                  <a:txBody>
                    <a:bodyPr/>
                    <a:lstStyle/>
                    <a:p>
                      <a:pPr algn="ctr"/>
                      <a:r>
                        <a:rPr sz="900"/>
                        <a:t>3</a:t>
                      </a:r>
                    </a:p>
                  </a:txBody>
                  <a:tcPr>
                    <a:solidFill>
                      <a:srgbClr val="E8EAF6"/>
                    </a:solidFill>
                  </a:tcPr>
                </a:tc>
                <a:tc>
                  <a:txBody>
                    <a:bodyPr/>
                    <a:lstStyle/>
                    <a:p>
                      <a:pPr algn="l"/>
                      <a:r>
                        <a:rPr sz="900"/>
                        <a:t>1</a:t>
                      </a:r>
                    </a:p>
                  </a:txBody>
                  <a:tcPr>
                    <a:solidFill>
                      <a:srgbClr val="E8EAF6"/>
                    </a:solidFill>
                  </a:tcPr>
                </a:tc>
                <a:tc>
                  <a:txBody>
                    <a:bodyPr/>
                    <a:lstStyle/>
                    <a:p>
                      <a:pPr algn="l"/>
                      <a:r>
                        <a:rPr sz="900"/>
                        <a:t>RB4 (order total)</a:t>
                      </a:r>
                    </a:p>
                  </a:txBody>
                  <a:tcPr>
                    <a:solidFill>
                      <a:srgbClr val="E8EAF6"/>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2200" b="1" i="0">
                <a:solidFill>
                  <a:srgbClr val="FFFFFF"/>
                </a:solidFill>
              </a:rPr>
              <a:t>Key Takeaways</a:t>
            </a:r>
          </a:p>
        </p:txBody>
      </p:sp>
      <p:sp>
        <p:nvSpPr>
          <p:cNvPr id="4" name="Rectangle 3"/>
          <p:cNvSpPr/>
          <p:nvPr/>
        </p:nvSpPr>
        <p:spPr>
          <a:xfrm>
            <a:off x="0" y="1005840"/>
            <a:ext cx="12188952" cy="5852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14300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14300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645920"/>
            <a:ext cx="182880" cy="548640"/>
          </a:xfrm>
          <a:prstGeom prst="rect">
            <a:avLst/>
          </a:prstGeom>
          <a:noFill/>
        </p:spPr>
        <p:txBody>
          <a:bodyPr wrap="square">
            <a:spAutoFit/>
          </a:bodyPr>
          <a:lstStyle/>
          <a:p>
            <a:pPr algn="ctr"/>
            <a:r>
              <a:rPr sz="1400" b="1" i="0">
                <a:solidFill>
                  <a:srgbClr val="FFFFFF"/>
                </a:solidFill>
              </a:rPr>
              <a:t>1</a:t>
            </a:r>
          </a:p>
        </p:txBody>
      </p:sp>
      <p:sp>
        <p:nvSpPr>
          <p:cNvPr id="8" name="TextBox 7"/>
          <p:cNvSpPr txBox="1"/>
          <p:nvPr/>
        </p:nvSpPr>
        <p:spPr>
          <a:xfrm>
            <a:off x="640080" y="1188720"/>
            <a:ext cx="5212080" cy="457200"/>
          </a:xfrm>
          <a:prstGeom prst="rect">
            <a:avLst/>
          </a:prstGeom>
          <a:noFill/>
        </p:spPr>
        <p:txBody>
          <a:bodyPr wrap="square">
            <a:spAutoFit/>
          </a:bodyPr>
          <a:lstStyle/>
          <a:p>
            <a:pPr algn="l"/>
            <a:r>
              <a:rPr sz="1000" b="1" i="0">
                <a:solidFill>
                  <a:srgbClr val="1A237E"/>
                </a:solidFill>
              </a:rPr>
              <a:t>Postconditions check live DB state</a:t>
            </a:r>
          </a:p>
        </p:txBody>
      </p:sp>
      <p:sp>
        <p:nvSpPr>
          <p:cNvPr id="9" name="TextBox 8"/>
          <p:cNvSpPr txBox="1"/>
          <p:nvPr/>
        </p:nvSpPr>
        <p:spPr>
          <a:xfrm>
            <a:off x="640080" y="1645920"/>
            <a:ext cx="5212080" cy="1051560"/>
          </a:xfrm>
          <a:prstGeom prst="rect">
            <a:avLst/>
          </a:prstGeom>
          <a:noFill/>
        </p:spPr>
        <p:txBody>
          <a:bodyPr wrap="square">
            <a:spAutoFit/>
          </a:bodyPr>
          <a:lstStyle/>
          <a:p>
            <a:pPr algn="l"/>
            <a:r>
              <a:rPr sz="850" b="0" i="0">
                <a:solidFill>
                  <a:srgbClr val="333333"/>
                </a:solidFill>
              </a:rPr>
              <a:t>After each API call, get_U/get_C/get_P fetch real DB state via Rewrite Globals. If the expected change didn't happen → postcondition fails → bug detected. Works identically across both Node.js + MongoDB backends.</a:t>
            </a:r>
          </a:p>
        </p:txBody>
      </p:sp>
      <p:sp>
        <p:nvSpPr>
          <p:cNvPr id="10" name="Rectangle 9"/>
          <p:cNvSpPr/>
          <p:nvPr/>
        </p:nvSpPr>
        <p:spPr>
          <a:xfrm>
            <a:off x="6217920" y="114300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14300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45920"/>
            <a:ext cx="182880" cy="548640"/>
          </a:xfrm>
          <a:prstGeom prst="rect">
            <a:avLst/>
          </a:prstGeom>
          <a:noFill/>
        </p:spPr>
        <p:txBody>
          <a:bodyPr wrap="square">
            <a:spAutoFit/>
          </a:bodyPr>
          <a:lstStyle/>
          <a:p>
            <a:pPr algn="ctr"/>
            <a:r>
              <a:rPr sz="1400" b="1" i="0">
                <a:solidFill>
                  <a:srgbClr val="FFFFFF"/>
                </a:solidFill>
              </a:rPr>
              <a:t>2</a:t>
            </a:r>
          </a:p>
        </p:txBody>
      </p:sp>
      <p:sp>
        <p:nvSpPr>
          <p:cNvPr id="13" name="TextBox 12"/>
          <p:cNvSpPr txBox="1"/>
          <p:nvPr/>
        </p:nvSpPr>
        <p:spPr>
          <a:xfrm>
            <a:off x="6583680" y="1188720"/>
            <a:ext cx="5212080" cy="457200"/>
          </a:xfrm>
          <a:prstGeom prst="rect">
            <a:avLst/>
          </a:prstGeom>
          <a:noFill/>
        </p:spPr>
        <p:txBody>
          <a:bodyPr wrap="square">
            <a:spAutoFit/>
          </a:bodyPr>
          <a:lstStyle/>
          <a:p>
            <a:pPr algn="l"/>
            <a:r>
              <a:rPr sz="1000" b="1" i="0">
                <a:solidFill>
                  <a:srgbClr val="1A237E"/>
                </a:solidFill>
              </a:rPr>
              <a:t>One-bug-at-a-time isolation is critical</a:t>
            </a:r>
          </a:p>
        </p:txBody>
      </p:sp>
      <p:sp>
        <p:nvSpPr>
          <p:cNvPr id="14" name="TextBox 13"/>
          <p:cNvSpPr txBox="1"/>
          <p:nvPr/>
        </p:nvSpPr>
        <p:spPr>
          <a:xfrm>
            <a:off x="6583680" y="1645920"/>
            <a:ext cx="5212080" cy="1051560"/>
          </a:xfrm>
          <a:prstGeom prst="rect">
            <a:avLst/>
          </a:prstGeom>
          <a:noFill/>
        </p:spPr>
        <p:txBody>
          <a:bodyPr wrap="square">
            <a:spAutoFit/>
          </a:bodyPr>
          <a:lstStyle/>
          <a:p>
            <a:pPr algn="l"/>
            <a:r>
              <a:rPr sz="850" b="0" i="0">
                <a:solidFill>
                  <a:srgbClr val="333333"/>
                </a:solidFill>
              </a:rPr>
              <a:t>When multiple bugs are active simultaneously, interactions mask detection. Proper isolation (inject one bug → test → restore → repeat) gives accurate 16/16 score.</a:t>
            </a:r>
          </a:p>
        </p:txBody>
      </p:sp>
      <p:sp>
        <p:nvSpPr>
          <p:cNvPr id="15" name="Rectangle 14"/>
          <p:cNvSpPr/>
          <p:nvPr/>
        </p:nvSpPr>
        <p:spPr>
          <a:xfrm>
            <a:off x="274320" y="288036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88036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383280"/>
            <a:ext cx="182880" cy="548640"/>
          </a:xfrm>
          <a:prstGeom prst="rect">
            <a:avLst/>
          </a:prstGeom>
          <a:noFill/>
        </p:spPr>
        <p:txBody>
          <a:bodyPr wrap="square">
            <a:spAutoFit/>
          </a:bodyPr>
          <a:lstStyle/>
          <a:p>
            <a:pPr algn="ctr"/>
            <a:r>
              <a:rPr sz="1400" b="1" i="0">
                <a:solidFill>
                  <a:srgbClr val="FFFFFF"/>
                </a:solidFill>
              </a:rPr>
              <a:t>3</a:t>
            </a:r>
          </a:p>
        </p:txBody>
      </p:sp>
      <p:sp>
        <p:nvSpPr>
          <p:cNvPr id="18" name="TextBox 17"/>
          <p:cNvSpPr txBox="1"/>
          <p:nvPr/>
        </p:nvSpPr>
        <p:spPr>
          <a:xfrm>
            <a:off x="640080" y="2926079"/>
            <a:ext cx="5212080" cy="457200"/>
          </a:xfrm>
          <a:prstGeom prst="rect">
            <a:avLst/>
          </a:prstGeom>
          <a:noFill/>
        </p:spPr>
        <p:txBody>
          <a:bodyPr wrap="square">
            <a:spAutoFit/>
          </a:bodyPr>
          <a:lstStyle/>
          <a:p>
            <a:pPr algn="l"/>
            <a:r>
              <a:rPr sz="1000" b="1" i="0">
                <a:solidFill>
                  <a:srgbClr val="1A237E"/>
                </a:solidFill>
              </a:rPr>
              <a:t>Save-without-persist caught at depth=1</a:t>
            </a:r>
          </a:p>
        </p:txBody>
      </p:sp>
      <p:sp>
        <p:nvSpPr>
          <p:cNvPr id="19" name="TextBox 18"/>
          <p:cNvSpPr txBox="1"/>
          <p:nvPr/>
        </p:nvSpPr>
        <p:spPr>
          <a:xfrm>
            <a:off x="640080" y="3383280"/>
            <a:ext cx="5212080" cy="1051560"/>
          </a:xfrm>
          <a:prstGeom prst="rect">
            <a:avLst/>
          </a:prstGeom>
          <a:noFill/>
        </p:spPr>
        <p:txBody>
          <a:bodyPr wrap="square">
            <a:spAutoFit/>
          </a:bodyPr>
          <a:lstStyle/>
          <a:p>
            <a:pPr algn="l"/>
            <a:r>
              <a:rPr sz="850" b="0" i="0">
                <a:solidFill>
                  <a:srgbClr val="333333"/>
                </a:solidFill>
              </a:rPr>
              <a:t>id=null or wrong status → not in DB collection. in-domain assertion in(_result, dom(P')) fails instantly. Minimal test sequence — just one API call needed.</a:t>
            </a:r>
          </a:p>
        </p:txBody>
      </p:sp>
      <p:sp>
        <p:nvSpPr>
          <p:cNvPr id="20" name="Rectangle 19"/>
          <p:cNvSpPr/>
          <p:nvPr/>
        </p:nvSpPr>
        <p:spPr>
          <a:xfrm>
            <a:off x="6217920" y="288036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88036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3383280"/>
            <a:ext cx="182880" cy="548640"/>
          </a:xfrm>
          <a:prstGeom prst="rect">
            <a:avLst/>
          </a:prstGeom>
          <a:noFill/>
        </p:spPr>
        <p:txBody>
          <a:bodyPr wrap="square">
            <a:spAutoFit/>
          </a:bodyPr>
          <a:lstStyle/>
          <a:p>
            <a:pPr algn="ctr"/>
            <a:r>
              <a:rPr sz="1400" b="1" i="0">
                <a:solidFill>
                  <a:srgbClr val="FFFFFF"/>
                </a:solidFill>
              </a:rPr>
              <a:t>4</a:t>
            </a:r>
          </a:p>
        </p:txBody>
      </p:sp>
      <p:sp>
        <p:nvSpPr>
          <p:cNvPr id="23" name="TextBox 22"/>
          <p:cNvSpPr txBox="1"/>
          <p:nvPr/>
        </p:nvSpPr>
        <p:spPr>
          <a:xfrm>
            <a:off x="6583680" y="2926079"/>
            <a:ext cx="5212080" cy="457200"/>
          </a:xfrm>
          <a:prstGeom prst="rect">
            <a:avLst/>
          </a:prstGeom>
          <a:noFill/>
        </p:spPr>
        <p:txBody>
          <a:bodyPr wrap="square">
            <a:spAutoFit/>
          </a:bodyPr>
          <a:lstStyle/>
          <a:p>
            <a:pPr algn="l"/>
            <a:r>
              <a:rPr sz="1000" b="1" i="0">
                <a:solidFill>
                  <a:srgbClr val="1A237E"/>
                </a:solidFill>
              </a:rPr>
              <a:t>Missing side-effects always detected</a:t>
            </a:r>
          </a:p>
        </p:txBody>
      </p:sp>
      <p:sp>
        <p:nvSpPr>
          <p:cNvPr id="24" name="TextBox 23"/>
          <p:cNvSpPr txBox="1"/>
          <p:nvPr/>
        </p:nvSpPr>
        <p:spPr>
          <a:xfrm>
            <a:off x="6583680" y="3383280"/>
            <a:ext cx="5212080" cy="1051560"/>
          </a:xfrm>
          <a:prstGeom prst="rect">
            <a:avLst/>
          </a:prstGeom>
          <a:noFill/>
        </p:spPr>
        <p:txBody>
          <a:bodyPr wrap="square">
            <a:spAutoFit/>
          </a:bodyPr>
          <a:lstStyle/>
          <a:p>
            <a:pPr algn="l"/>
            <a:r>
              <a:rPr sz="850" b="0" i="0">
                <a:solidFill>
                  <a:srgbClr val="333333"/>
                </a:solidFill>
              </a:rPr>
              <a:t>Cart not cleared, record not deleted — all caught by not_in() postconditions. State-change assertions are the most reliable detection mechanism in TestGen.</a:t>
            </a:r>
          </a:p>
        </p:txBody>
      </p:sp>
      <p:sp>
        <p:nvSpPr>
          <p:cNvPr id="25" name="Rectangle 24"/>
          <p:cNvSpPr/>
          <p:nvPr/>
        </p:nvSpPr>
        <p:spPr>
          <a:xfrm>
            <a:off x="274320" y="461772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61772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5120640"/>
            <a:ext cx="182880" cy="548640"/>
          </a:xfrm>
          <a:prstGeom prst="rect">
            <a:avLst/>
          </a:prstGeom>
          <a:noFill/>
        </p:spPr>
        <p:txBody>
          <a:bodyPr wrap="square">
            <a:spAutoFit/>
          </a:bodyPr>
          <a:lstStyle/>
          <a:p>
            <a:pPr algn="ctr"/>
            <a:r>
              <a:rPr sz="1400" b="1" i="0">
                <a:solidFill>
                  <a:srgbClr val="FFFFFF"/>
                </a:solidFill>
              </a:rPr>
              <a:t>5</a:t>
            </a:r>
          </a:p>
        </p:txBody>
      </p:sp>
      <p:sp>
        <p:nvSpPr>
          <p:cNvPr id="28" name="TextBox 27"/>
          <p:cNvSpPr txBox="1"/>
          <p:nvPr/>
        </p:nvSpPr>
        <p:spPr>
          <a:xfrm>
            <a:off x="640080" y="4663440"/>
            <a:ext cx="5212080" cy="457200"/>
          </a:xfrm>
          <a:prstGeom prst="rect">
            <a:avLst/>
          </a:prstGeom>
          <a:noFill/>
        </p:spPr>
        <p:txBody>
          <a:bodyPr wrap="square">
            <a:spAutoFit/>
          </a:bodyPr>
          <a:lstStyle/>
          <a:p>
            <a:pPr algn="l"/>
            <a:r>
              <a:rPr sz="1000" b="1" i="0">
                <a:solidFill>
                  <a:srgbClr val="1A237E"/>
                </a:solidFill>
              </a:rPr>
              <a:t>Cascade detection amplifies signal</a:t>
            </a:r>
          </a:p>
        </p:txBody>
      </p:sp>
      <p:sp>
        <p:nvSpPr>
          <p:cNvPr id="29" name="TextBox 28"/>
          <p:cNvSpPr txBox="1"/>
          <p:nvPr/>
        </p:nvSpPr>
        <p:spPr>
          <a:xfrm>
            <a:off x="640080" y="5120640"/>
            <a:ext cx="5212080" cy="1051560"/>
          </a:xfrm>
          <a:prstGeom prst="rect">
            <a:avLst/>
          </a:prstGeom>
          <a:noFill/>
        </p:spPr>
        <p:txBody>
          <a:bodyPr wrap="square">
            <a:spAutoFit/>
          </a:bodyPr>
          <a:lstStyle/>
          <a:p>
            <a:pPr algn="l"/>
            <a:r>
              <a:rPr sz="850" b="0" i="0">
                <a:solidFill>
                  <a:srgbClr val="333333"/>
                </a:solidFill>
              </a:rPr>
              <a:t>EB2 (product not saved) cascades into all downstream tests requiring a valid product. One save-without-persist bug → evidence across many test paths.</a:t>
            </a:r>
          </a:p>
        </p:txBody>
      </p:sp>
      <p:sp>
        <p:nvSpPr>
          <p:cNvPr id="30" name="Rectangle 29"/>
          <p:cNvSpPr/>
          <p:nvPr/>
        </p:nvSpPr>
        <p:spPr>
          <a:xfrm>
            <a:off x="6217920" y="4617720"/>
            <a:ext cx="5669280" cy="1600200"/>
          </a:xfrm>
          <a:prstGeom prst="rect">
            <a:avLst/>
          </a:prstGeom>
          <a:solidFill>
            <a:srgbClr val="E8EAF6"/>
          </a:solidFill>
          <a:ln w="10160">
            <a:solidFill>
              <a:srgbClr val="303F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617720"/>
            <a:ext cx="274320" cy="16002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5120640"/>
            <a:ext cx="182880" cy="548640"/>
          </a:xfrm>
          <a:prstGeom prst="rect">
            <a:avLst/>
          </a:prstGeom>
          <a:noFill/>
        </p:spPr>
        <p:txBody>
          <a:bodyPr wrap="square">
            <a:spAutoFit/>
          </a:bodyPr>
          <a:lstStyle/>
          <a:p>
            <a:pPr algn="ctr"/>
            <a:r>
              <a:rPr sz="1400" b="1" i="0">
                <a:solidFill>
                  <a:srgbClr val="FFFFFF"/>
                </a:solidFill>
              </a:rPr>
              <a:t>6</a:t>
            </a:r>
          </a:p>
        </p:txBody>
      </p:sp>
      <p:sp>
        <p:nvSpPr>
          <p:cNvPr id="33" name="TextBox 32"/>
          <p:cNvSpPr txBox="1"/>
          <p:nvPr/>
        </p:nvSpPr>
        <p:spPr>
          <a:xfrm>
            <a:off x="6583680" y="4663440"/>
            <a:ext cx="5212080" cy="457200"/>
          </a:xfrm>
          <a:prstGeom prst="rect">
            <a:avLst/>
          </a:prstGeom>
          <a:noFill/>
        </p:spPr>
        <p:txBody>
          <a:bodyPr wrap="square">
            <a:spAutoFit/>
          </a:bodyPr>
          <a:lstStyle/>
          <a:p>
            <a:pPr algn="l"/>
            <a:r>
              <a:rPr sz="1000" b="1" i="0">
                <a:solidFill>
                  <a:srgbClr val="1A237E"/>
                </a:solidFill>
              </a:rPr>
              <a:t>SEE + Z3 scales across tech stacks</a:t>
            </a:r>
          </a:p>
        </p:txBody>
      </p:sp>
      <p:sp>
        <p:nvSpPr>
          <p:cNvPr id="34" name="TextBox 33"/>
          <p:cNvSpPr txBox="1"/>
          <p:nvPr/>
        </p:nvSpPr>
        <p:spPr>
          <a:xfrm>
            <a:off x="6583680" y="5120640"/>
            <a:ext cx="5212080" cy="1051560"/>
          </a:xfrm>
          <a:prstGeom prst="rect">
            <a:avLst/>
          </a:prstGeom>
          <a:noFill/>
        </p:spPr>
        <p:txBody>
          <a:bodyPr wrap="square">
            <a:spAutoFit/>
          </a:bodyPr>
          <a:lstStyle/>
          <a:p>
            <a:pPr algn="l"/>
            <a:r>
              <a:rPr sz="850" b="0" i="0">
                <a:solidFill>
                  <a:srgbClr val="333333"/>
                </a:solidFill>
              </a:rPr>
              <a:t>Only FunctionFactory and HTTP layer adapt per backend. SEE, Z3, and assertion evaluation are fully backend-agnostic. Same engine tested both Restaurant and E-Commerce with no core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